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embeddedFontLst>
    <p:embeddedFont>
      <p:font typeface="EB Garamond"/>
      <p:regular r:id="rId19"/>
      <p:bold r:id="rId20"/>
      <p:italic r:id="rId21"/>
      <p:boldItalic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3747D0-622A-4718-8442-099AD0AB49D7}">
  <a:tblStyle styleId="{F13747D0-622A-4718-8442-099AD0AB49D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EBGaramond-bold.fntdata"/><Relationship Id="rId22" Type="http://schemas.openxmlformats.org/officeDocument/2006/relationships/font" Target="fonts/EBGaramond-boldItalic.fntdata"/><Relationship Id="rId21" Type="http://schemas.openxmlformats.org/officeDocument/2006/relationships/font" Target="fonts/EBGaramond-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EBGaramon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3c94df0045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 name="Google Shape;31;g3c94df00450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g3c94df00450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94df00450_0_23: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94df00450_0_23: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c94df00450_0_12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c94df00450_0_12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c94df00450_1_24: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c94df00450_1_24: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c94df00450_1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c94df00450_1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g3c94df00450_1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hyperlink" Target="https://dev.drugbank.com/guides/drugbank/cit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9" name="Shape 19"/>
        <p:cNvGrpSpPr/>
        <p:nvPr/>
      </p:nvGrpSpPr>
      <p:grpSpPr>
        <a:xfrm>
          <a:off x="0" y="0"/>
          <a:ext cx="0" cy="0"/>
          <a:chOff x="0" y="0"/>
          <a:chExt cx="0" cy="0"/>
        </a:xfrm>
      </p:grpSpPr>
      <p:sp>
        <p:nvSpPr>
          <p:cNvPr id="20" name="Google Shape;20;p4"/>
          <p:cNvSpPr/>
          <p:nvPr/>
        </p:nvSpPr>
        <p:spPr>
          <a:xfrm>
            <a:off x="0" y="0"/>
            <a:ext cx="164592"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p:nvPr/>
        </p:nvSpPr>
        <p:spPr>
          <a:xfrm>
            <a:off x="6858000" y="-731520"/>
            <a:ext cx="4114800" cy="4114800"/>
          </a:xfrm>
          <a:prstGeom prst="ellipse">
            <a:avLst/>
          </a:prstGeom>
          <a:solidFill>
            <a:srgbClr val="122B3E"/>
          </a:solidFill>
          <a:ln cap="flat" cmpd="sng" w="12700">
            <a:solidFill>
              <a:srgbClr val="122B3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p:nvPr/>
        </p:nvSpPr>
        <p:spPr>
          <a:xfrm>
            <a:off x="7680960" y="2560320"/>
            <a:ext cx="2560320" cy="2560320"/>
          </a:xfrm>
          <a:prstGeom prst="ellipse">
            <a:avLst/>
          </a:prstGeom>
          <a:solidFill>
            <a:srgbClr val="0A3550"/>
          </a:solidFill>
          <a:ln cap="flat" cmpd="sng" w="12700">
            <a:solidFill>
              <a:srgbClr val="0A3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a:off x="411480" y="1234440"/>
            <a:ext cx="1371600" cy="27432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a:off x="411480" y="1234440"/>
            <a:ext cx="13716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700"/>
              <a:buFont typeface="Calibri"/>
              <a:buNone/>
            </a:pPr>
            <a:r>
              <a:rPr b="1" i="0" lang="en-US" sz="700" u="none" cap="none" strike="noStrike">
                <a:solidFill>
                  <a:srgbClr val="FFFFFF"/>
                </a:solidFill>
                <a:latin typeface="Calibri"/>
                <a:ea typeface="Calibri"/>
                <a:cs typeface="Calibri"/>
                <a:sym typeface="Calibri"/>
              </a:rPr>
              <a:t>ITAI 2277 · SPRING 2026</a:t>
            </a:r>
            <a:endParaRPr b="0" i="0" sz="700" u="none" cap="none" strike="noStrike">
              <a:solidFill>
                <a:schemeClr val="dk1"/>
              </a:solidFill>
              <a:latin typeface="Calibri"/>
              <a:ea typeface="Calibri"/>
              <a:cs typeface="Calibri"/>
              <a:sym typeface="Calibri"/>
            </a:endParaRPr>
          </a:p>
        </p:txBody>
      </p:sp>
      <p:sp>
        <p:nvSpPr>
          <p:cNvPr id="25" name="Google Shape;25;p4"/>
          <p:cNvSpPr/>
          <p:nvPr/>
        </p:nvSpPr>
        <p:spPr>
          <a:xfrm>
            <a:off x="411480" y="1645920"/>
            <a:ext cx="6858000" cy="9144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CompoundIQ</a:t>
            </a:r>
            <a:endParaRPr b="0" i="0" sz="4800" u="none" cap="none" strike="noStrike">
              <a:solidFill>
                <a:schemeClr val="dk1"/>
              </a:solidFill>
              <a:latin typeface="Calibri"/>
              <a:ea typeface="Calibri"/>
              <a:cs typeface="Calibri"/>
              <a:sym typeface="Calibri"/>
            </a:endParaRPr>
          </a:p>
        </p:txBody>
      </p:sp>
      <p:sp>
        <p:nvSpPr>
          <p:cNvPr id="26" name="Google Shape;26;p4"/>
          <p:cNvSpPr/>
          <p:nvPr/>
        </p:nvSpPr>
        <p:spPr>
          <a:xfrm>
            <a:off x="411480" y="2560320"/>
            <a:ext cx="685800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2000"/>
              <a:buFont typeface="Calibri"/>
              <a:buNone/>
            </a:pPr>
            <a:r>
              <a:rPr b="0" i="0" lang="en-US" sz="2000" u="none" cap="none" strike="noStrike">
                <a:solidFill>
                  <a:srgbClr val="C8EFF7"/>
                </a:solidFill>
                <a:latin typeface="Calibri"/>
                <a:ea typeface="Calibri"/>
                <a:cs typeface="Calibri"/>
                <a:sym typeface="Calibri"/>
              </a:rPr>
              <a:t>Phase 2: Data Pipeline &amp; Exploratory Analysis</a:t>
            </a:r>
            <a:endParaRPr b="0" i="0" sz="2000" u="none" cap="none" strike="noStrike">
              <a:solidFill>
                <a:schemeClr val="dk1"/>
              </a:solidFill>
              <a:latin typeface="Calibri"/>
              <a:ea typeface="Calibri"/>
              <a:cs typeface="Calibri"/>
              <a:sym typeface="Calibri"/>
            </a:endParaRPr>
          </a:p>
        </p:txBody>
      </p:sp>
      <p:sp>
        <p:nvSpPr>
          <p:cNvPr id="27" name="Google Shape;27;p4"/>
          <p:cNvSpPr/>
          <p:nvPr/>
        </p:nvSpPr>
        <p:spPr>
          <a:xfrm>
            <a:off x="411480" y="3200400"/>
            <a:ext cx="64008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7AAFC4"/>
              </a:buClr>
              <a:buSzPts val="1200"/>
              <a:buFont typeface="Calibri"/>
              <a:buNone/>
            </a:pPr>
            <a:r>
              <a:rPr b="0" i="1" lang="en-US" sz="1200" u="none" cap="none" strike="noStrike">
                <a:solidFill>
                  <a:srgbClr val="7AAFC4"/>
                </a:solidFill>
                <a:latin typeface="Calibri"/>
                <a:ea typeface="Calibri"/>
                <a:cs typeface="Calibri"/>
                <a:sym typeface="Calibri"/>
              </a:rPr>
              <a:t>Weeks 4 – 6  |  Drug Combination Safety Analysis</a:t>
            </a:r>
            <a:endParaRPr b="0" i="0" sz="1200" u="none" cap="none" strike="noStrike">
              <a:solidFill>
                <a:schemeClr val="dk1"/>
              </a:solidFill>
              <a:latin typeface="Calibri"/>
              <a:ea typeface="Calibri"/>
              <a:cs typeface="Calibri"/>
              <a:sym typeface="Calibri"/>
            </a:endParaRPr>
          </a:p>
        </p:txBody>
      </p:sp>
      <p:sp>
        <p:nvSpPr>
          <p:cNvPr id="28" name="Google Shape;28;p4"/>
          <p:cNvSpPr/>
          <p:nvPr/>
        </p:nvSpPr>
        <p:spPr>
          <a:xfrm>
            <a:off x="411480" y="4480560"/>
            <a:ext cx="82296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8FA8"/>
              </a:buClr>
              <a:buSzPts val="1000"/>
              <a:buFont typeface="Calibri"/>
              <a:buNone/>
            </a:pPr>
            <a:r>
              <a:rPr b="0" i="0" lang="en-US" sz="1000" u="none" cap="none" strike="noStrike">
                <a:solidFill>
                  <a:srgbClr val="5A8FA8"/>
                </a:solidFill>
                <a:latin typeface="Calibri"/>
                <a:ea typeface="Calibri"/>
                <a:cs typeface="Calibri"/>
                <a:sym typeface="Calibri"/>
              </a:rPr>
              <a:t>Nicole Marcial  ·  Oluchi Obinna  ·  Oyinade Balogun  ·  Sharise Griggs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33" name="Shape 33"/>
        <p:cNvGrpSpPr/>
        <p:nvPr/>
      </p:nvGrpSpPr>
      <p:grpSpPr>
        <a:xfrm>
          <a:off x="0" y="0"/>
          <a:ext cx="0" cy="0"/>
          <a:chOff x="0" y="0"/>
          <a:chExt cx="0" cy="0"/>
        </a:xfrm>
      </p:grpSpPr>
      <p:sp>
        <p:nvSpPr>
          <p:cNvPr id="34" name="Google Shape;34;p5"/>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Phase 2 Overview</a:t>
            </a:r>
            <a:endParaRPr b="0" i="0" sz="2200" u="none" cap="none" strike="noStrike">
              <a:solidFill>
                <a:schemeClr val="dk1"/>
              </a:solidFill>
              <a:latin typeface="Calibri"/>
              <a:ea typeface="Calibri"/>
              <a:cs typeface="Calibri"/>
              <a:sym typeface="Calibri"/>
            </a:endParaRPr>
          </a:p>
        </p:txBody>
      </p:sp>
      <p:sp>
        <p:nvSpPr>
          <p:cNvPr id="36" name="Google Shape;36;p5"/>
          <p:cNvSpPr/>
          <p:nvPr/>
        </p:nvSpPr>
        <p:spPr>
          <a:xfrm>
            <a:off x="2286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2286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286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4</a:t>
            </a:r>
            <a:endParaRPr b="0" i="0" sz="1100" u="none" cap="none" strike="noStrike">
              <a:solidFill>
                <a:schemeClr val="dk1"/>
              </a:solidFill>
              <a:latin typeface="Calibri"/>
              <a:ea typeface="Calibri"/>
              <a:cs typeface="Calibri"/>
              <a:sym typeface="Calibri"/>
            </a:endParaRPr>
          </a:p>
        </p:txBody>
      </p:sp>
      <p:sp>
        <p:nvSpPr>
          <p:cNvPr id="39" name="Google Shape;39;p5"/>
          <p:cNvSpPr/>
          <p:nvPr/>
        </p:nvSpPr>
        <p:spPr>
          <a:xfrm>
            <a:off x="3383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Data Acquisition &amp; Collection</a:t>
            </a:r>
            <a:endParaRPr b="0" i="0" sz="1100" u="none" cap="none" strike="noStrike">
              <a:solidFill>
                <a:schemeClr val="dk1"/>
              </a:solidFill>
              <a:latin typeface="Calibri"/>
              <a:ea typeface="Calibri"/>
              <a:cs typeface="Calibri"/>
              <a:sym typeface="Calibri"/>
            </a:endParaRPr>
          </a:p>
        </p:txBody>
      </p:sp>
      <p:sp>
        <p:nvSpPr>
          <p:cNvPr id="40" name="Google Shape;40;p5"/>
          <p:cNvSpPr/>
          <p:nvPr/>
        </p:nvSpPr>
        <p:spPr>
          <a:xfrm>
            <a:off x="3383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Identify &amp; access data sources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Implement data collection methods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storage &amp; organization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Privacy &amp; ethical considerations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Begin data documentation</a:t>
            </a:r>
            <a:endParaRPr b="0" i="0" sz="950" u="none" cap="none" strike="noStrike">
              <a:solidFill>
                <a:schemeClr val="dk1"/>
              </a:solidFill>
              <a:latin typeface="Calibri"/>
              <a:ea typeface="Calibri"/>
              <a:cs typeface="Calibri"/>
              <a:sym typeface="Calibri"/>
            </a:endParaRPr>
          </a:p>
        </p:txBody>
      </p:sp>
      <p:sp>
        <p:nvSpPr>
          <p:cNvPr id="41" name="Google Shape;41;p5"/>
          <p:cNvSpPr/>
          <p:nvPr/>
        </p:nvSpPr>
        <p:spPr>
          <a:xfrm>
            <a:off x="32004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5"/>
          <p:cNvSpPr/>
          <p:nvPr/>
        </p:nvSpPr>
        <p:spPr>
          <a:xfrm>
            <a:off x="32004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5"/>
          <p:cNvSpPr/>
          <p:nvPr/>
        </p:nvSpPr>
        <p:spPr>
          <a:xfrm>
            <a:off x="32004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5</a:t>
            </a:r>
            <a:endParaRPr b="0" i="0" sz="1100" u="none" cap="none" strike="noStrike">
              <a:solidFill>
                <a:schemeClr val="dk1"/>
              </a:solidFill>
              <a:latin typeface="Calibri"/>
              <a:ea typeface="Calibri"/>
              <a:cs typeface="Calibri"/>
              <a:sym typeface="Calibri"/>
            </a:endParaRPr>
          </a:p>
        </p:txBody>
      </p:sp>
      <p:sp>
        <p:nvSpPr>
          <p:cNvPr id="44" name="Google Shape;44;p5"/>
          <p:cNvSpPr/>
          <p:nvPr/>
        </p:nvSpPr>
        <p:spPr>
          <a:xfrm>
            <a:off x="33101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Preprocessing &amp; Feature Engineering</a:t>
            </a:r>
            <a:endParaRPr b="0" i="0" sz="1100" u="none" cap="none" strike="noStrike">
              <a:solidFill>
                <a:schemeClr val="dk1"/>
              </a:solidFill>
              <a:latin typeface="Calibri"/>
              <a:ea typeface="Calibri"/>
              <a:cs typeface="Calibri"/>
              <a:sym typeface="Calibri"/>
            </a:endParaRPr>
          </a:p>
        </p:txBody>
      </p:sp>
      <p:sp>
        <p:nvSpPr>
          <p:cNvPr id="45" name="Google Shape;45;p5"/>
          <p:cNvSpPr/>
          <p:nvPr/>
        </p:nvSpPr>
        <p:spPr>
          <a:xfrm>
            <a:off x="33101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cleaning &amp; quality assessment</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Feature engineering for project needs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Data transformation pipelines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Train / Validation / Test splitting</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Continue documentation</a:t>
            </a:r>
            <a:endParaRPr b="0" i="0" sz="950" u="none" cap="none" strike="noStrike">
              <a:solidFill>
                <a:schemeClr val="dk1"/>
              </a:solidFill>
              <a:latin typeface="Calibri"/>
              <a:ea typeface="Calibri"/>
              <a:cs typeface="Calibri"/>
              <a:sym typeface="Calibri"/>
            </a:endParaRPr>
          </a:p>
        </p:txBody>
      </p:sp>
      <p:sp>
        <p:nvSpPr>
          <p:cNvPr id="46" name="Google Shape;46;p5"/>
          <p:cNvSpPr/>
          <p:nvPr/>
        </p:nvSpPr>
        <p:spPr>
          <a:xfrm>
            <a:off x="6172200" y="822960"/>
            <a:ext cx="2743200" cy="39777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5"/>
          <p:cNvSpPr/>
          <p:nvPr/>
        </p:nvSpPr>
        <p:spPr>
          <a:xfrm>
            <a:off x="6172200" y="822960"/>
            <a:ext cx="2743200" cy="4572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6172200" y="822960"/>
            <a:ext cx="2743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WEEK 6</a:t>
            </a:r>
            <a:endParaRPr b="0" i="0" sz="1100" u="none" cap="none" strike="noStrike">
              <a:solidFill>
                <a:schemeClr val="dk1"/>
              </a:solidFill>
              <a:latin typeface="Calibri"/>
              <a:ea typeface="Calibri"/>
              <a:cs typeface="Calibri"/>
              <a:sym typeface="Calibri"/>
            </a:endParaRPr>
          </a:p>
        </p:txBody>
      </p:sp>
      <p:sp>
        <p:nvSpPr>
          <p:cNvPr id="49" name="Google Shape;49;p5"/>
          <p:cNvSpPr/>
          <p:nvPr/>
        </p:nvSpPr>
        <p:spPr>
          <a:xfrm>
            <a:off x="6281928" y="1325880"/>
            <a:ext cx="25236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Exploratory Data Analysis</a:t>
            </a:r>
            <a:endParaRPr b="0" i="0" sz="1100" u="none" cap="none" strike="noStrike">
              <a:solidFill>
                <a:schemeClr val="dk1"/>
              </a:solidFill>
              <a:latin typeface="Calibri"/>
              <a:ea typeface="Calibri"/>
              <a:cs typeface="Calibri"/>
              <a:sym typeface="Calibri"/>
            </a:endParaRPr>
          </a:p>
        </p:txBody>
      </p:sp>
      <p:sp>
        <p:nvSpPr>
          <p:cNvPr id="50" name="Google Shape;50;p5"/>
          <p:cNvSpPr/>
          <p:nvPr/>
        </p:nvSpPr>
        <p:spPr>
          <a:xfrm>
            <a:off x="6281928" y="1783080"/>
            <a:ext cx="2523600" cy="27432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Statistical analysis &amp; visualization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Pattern identification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Baseline model creation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Insights documentation</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Prepare data milestone deliverable</a:t>
            </a:r>
            <a:endParaRPr b="0" i="0" sz="950" u="none" cap="none" strike="noStrike">
              <a:solidFill>
                <a:schemeClr val="dk1"/>
              </a:solidFill>
              <a:latin typeface="Calibri"/>
              <a:ea typeface="Calibri"/>
              <a:cs typeface="Calibri"/>
              <a:sym typeface="Calibri"/>
            </a:endParaRPr>
          </a:p>
        </p:txBody>
      </p:sp>
      <p:sp>
        <p:nvSpPr>
          <p:cNvPr id="51" name="Google Shape;51;p5"/>
          <p:cNvSpPr/>
          <p:nvPr/>
        </p:nvSpPr>
        <p:spPr>
          <a:xfrm>
            <a:off x="0" y="4754880"/>
            <a:ext cx="9144000" cy="384000"/>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274320" y="4754880"/>
            <a:ext cx="8595300" cy="384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1000"/>
              <a:buFont typeface="Calibri"/>
              <a:buNone/>
            </a:pPr>
            <a:r>
              <a:rPr b="1" i="0" lang="en-US" sz="1000" u="none" cap="none" strike="noStrike">
                <a:solidFill>
                  <a:srgbClr val="0A7EA4"/>
                </a:solidFill>
                <a:latin typeface="Calibri"/>
                <a:ea typeface="Calibri"/>
                <a:cs typeface="Calibri"/>
                <a:sym typeface="Calibri"/>
              </a:rPr>
              <a:t>Datasets Used:  DrugBank (XML)   ·   TWOSIDES (NSIDES)   ·   SIDER   ·   ChEMBL   ·   ZINC</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6"/>
          <p:cNvSpPr/>
          <p:nvPr/>
        </p:nvSpPr>
        <p:spPr>
          <a:xfrm>
            <a:off x="133025" y="2527375"/>
            <a:ext cx="3821700" cy="2032500"/>
          </a:xfrm>
          <a:prstGeom prst="rect">
            <a:avLst/>
          </a:prstGeom>
          <a:solidFill>
            <a:srgbClr val="C8EFF7"/>
          </a:solidFill>
          <a:ln>
            <a:noFill/>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58" name="Google Shape;58;p6"/>
          <p:cNvGraphicFramePr/>
          <p:nvPr/>
        </p:nvGraphicFramePr>
        <p:xfrm>
          <a:off x="4527400" y="2569675"/>
          <a:ext cx="3000000" cy="3000000"/>
        </p:xfrm>
        <a:graphic>
          <a:graphicData uri="http://schemas.openxmlformats.org/drawingml/2006/table">
            <a:tbl>
              <a:tblPr>
                <a:noFill/>
                <a:tableStyleId>{F13747D0-622A-4718-8442-099AD0AB49D7}</a:tableStyleId>
              </a:tblPr>
              <a:tblGrid>
                <a:gridCol w="941900"/>
                <a:gridCol w="941900"/>
                <a:gridCol w="941900"/>
                <a:gridCol w="941900"/>
              </a:tblGrid>
              <a:tr h="245350">
                <a:tc>
                  <a:txBody>
                    <a:bodyPr/>
                    <a:lstStyle/>
                    <a:p>
                      <a:pPr indent="0" lvl="0" marL="0" rtl="0" algn="l">
                        <a:spcBef>
                          <a:spcPts val="0"/>
                        </a:spcBef>
                        <a:spcAft>
                          <a:spcPts val="0"/>
                        </a:spcAft>
                        <a:buNone/>
                      </a:pPr>
                      <a:r>
                        <a:rPr b="1" lang="en-US" sz="700">
                          <a:solidFill>
                            <a:schemeClr val="lt1"/>
                          </a:solidFill>
                          <a:latin typeface="EB Garamond"/>
                          <a:ea typeface="EB Garamond"/>
                          <a:cs typeface="EB Garamond"/>
                          <a:sym typeface="EB Garamond"/>
                        </a:rPr>
                        <a:t>TABLE</a:t>
                      </a:r>
                      <a:endParaRPr b="1" sz="700">
                        <a:solidFill>
                          <a:schemeClr val="lt1"/>
                        </a:solidFill>
                        <a:latin typeface="EB Garamond"/>
                        <a:ea typeface="EB Garamond"/>
                        <a:cs typeface="EB Garamond"/>
                        <a:sym typeface="EB Garamond"/>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US" sz="700">
                          <a:solidFill>
                            <a:schemeClr val="lt1"/>
                          </a:solidFill>
                          <a:latin typeface="EB Garamond"/>
                          <a:ea typeface="EB Garamond"/>
                          <a:cs typeface="EB Garamond"/>
                          <a:sym typeface="EB Garamond"/>
                        </a:rPr>
                        <a:t>ROWS</a:t>
                      </a:r>
                      <a:endParaRPr b="1" sz="700">
                        <a:solidFill>
                          <a:schemeClr val="lt1"/>
                        </a:solidFill>
                        <a:latin typeface="EB Garamond"/>
                        <a:ea typeface="EB Garamond"/>
                        <a:cs typeface="EB Garamond"/>
                        <a:sym typeface="EB Garamond"/>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US" sz="700">
                          <a:solidFill>
                            <a:schemeClr val="lt1"/>
                          </a:solidFill>
                          <a:latin typeface="EB Garamond"/>
                          <a:ea typeface="EB Garamond"/>
                          <a:cs typeface="EB Garamond"/>
                          <a:sym typeface="EB Garamond"/>
                        </a:rPr>
                        <a:t>SIZE</a:t>
                      </a:r>
                      <a:endParaRPr b="1" sz="700">
                        <a:solidFill>
                          <a:schemeClr val="lt1"/>
                        </a:solidFill>
                        <a:latin typeface="EB Garamond"/>
                        <a:ea typeface="EB Garamond"/>
                        <a:cs typeface="EB Garamond"/>
                        <a:sym typeface="EB Garamond"/>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b="1" lang="en-US" sz="700">
                          <a:solidFill>
                            <a:schemeClr val="lt1"/>
                          </a:solidFill>
                          <a:latin typeface="EB Garamond"/>
                          <a:ea typeface="EB Garamond"/>
                          <a:cs typeface="EB Garamond"/>
                          <a:sym typeface="EB Garamond"/>
                        </a:rPr>
                        <a:t>PURPOSE</a:t>
                      </a:r>
                      <a:endParaRPr b="1" sz="700">
                        <a:solidFill>
                          <a:schemeClr val="lt1"/>
                        </a:solidFill>
                        <a:latin typeface="EB Garamond"/>
                        <a:ea typeface="EB Garamond"/>
                        <a:cs typeface="EB Garamond"/>
                        <a:sym typeface="EB Garamond"/>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solidFill>
                      <a:schemeClr val="accent1"/>
                    </a:solidFill>
                  </a:tcPr>
                </a:tc>
              </a:tr>
              <a:tr h="641725">
                <a:tc>
                  <a:txBody>
                    <a:bodyPr/>
                    <a:lstStyle/>
                    <a:p>
                      <a:pPr indent="0" lvl="0" marL="0" rtl="0" algn="l">
                        <a:spcBef>
                          <a:spcPts val="0"/>
                        </a:spcBef>
                        <a:spcAft>
                          <a:spcPts val="0"/>
                        </a:spcAft>
                        <a:buNone/>
                      </a:pPr>
                      <a:r>
                        <a:rPr b="1" lang="en-US" sz="800">
                          <a:latin typeface="Calibri"/>
                          <a:ea typeface="Calibri"/>
                          <a:cs typeface="Calibri"/>
                          <a:sym typeface="Calibri"/>
                        </a:rPr>
                        <a:t>drugs.parquet</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1,014,348</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5.31 MB</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Core drug metadata (from nested XML extraction)</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r>
              <a:tr h="509600">
                <a:tc>
                  <a:txBody>
                    <a:bodyPr/>
                    <a:lstStyle/>
                    <a:p>
                      <a:pPr indent="0" lvl="0" marL="0" rtl="0" algn="l">
                        <a:spcBef>
                          <a:spcPts val="0"/>
                        </a:spcBef>
                        <a:spcAft>
                          <a:spcPts val="0"/>
                        </a:spcAft>
                        <a:buNone/>
                      </a:pPr>
                      <a:r>
                        <a:rPr b="1" lang="en-US" sz="800">
                          <a:latin typeface="Calibri"/>
                          <a:ea typeface="Calibri"/>
                          <a:cs typeface="Calibri"/>
                          <a:sym typeface="Calibri"/>
                        </a:rPr>
                        <a:t>drug_interactions.parquet</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2,910,010</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55.15 MB</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Drug-drug interaction relationships</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r>
              <a:tr h="377475">
                <a:tc>
                  <a:txBody>
                    <a:bodyPr/>
                    <a:lstStyle/>
                    <a:p>
                      <a:pPr indent="0" lvl="0" marL="0" rtl="0" algn="l">
                        <a:spcBef>
                          <a:spcPts val="0"/>
                        </a:spcBef>
                        <a:spcAft>
                          <a:spcPts val="0"/>
                        </a:spcAft>
                        <a:buNone/>
                      </a:pPr>
                      <a:r>
                        <a:rPr b="1" lang="en-US" sz="800">
                          <a:latin typeface="Calibri"/>
                          <a:ea typeface="Calibri"/>
                          <a:cs typeface="Calibri"/>
                          <a:sym typeface="Calibri"/>
                        </a:rPr>
                        <a:t>targets.parquet</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24,231</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0.56 MB</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Drug-target associations</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r>
              <a:tr h="509600">
                <a:tc>
                  <a:txBody>
                    <a:bodyPr/>
                    <a:lstStyle/>
                    <a:p>
                      <a:pPr indent="0" lvl="0" marL="0" rtl="0" algn="l">
                        <a:spcBef>
                          <a:spcPts val="0"/>
                        </a:spcBef>
                        <a:spcAft>
                          <a:spcPts val="0"/>
                        </a:spcAft>
                        <a:buNone/>
                      </a:pPr>
                      <a:r>
                        <a:rPr b="1" lang="en-US" sz="800">
                          <a:latin typeface="Calibri"/>
                          <a:ea typeface="Calibri"/>
                          <a:cs typeface="Calibri"/>
                          <a:sym typeface="Calibri"/>
                        </a:rPr>
                        <a:t>enzymes.parquet</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6,062</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0.08 MB</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c>
                  <a:txBody>
                    <a:bodyPr/>
                    <a:lstStyle/>
                    <a:p>
                      <a:pPr indent="0" lvl="0" marL="0" rtl="0" algn="l">
                        <a:spcBef>
                          <a:spcPts val="0"/>
                        </a:spcBef>
                        <a:spcAft>
                          <a:spcPts val="0"/>
                        </a:spcAft>
                        <a:buNone/>
                      </a:pPr>
                      <a:r>
                        <a:rPr b="1" lang="en-US" sz="800">
                          <a:latin typeface="Calibri"/>
                          <a:ea typeface="Calibri"/>
                          <a:cs typeface="Calibri"/>
                          <a:sym typeface="Calibri"/>
                        </a:rPr>
                        <a:t>Metabolic enzyme (CYP) data</a:t>
                      </a:r>
                      <a:endParaRPr b="1" sz="800">
                        <a:latin typeface="Calibri"/>
                        <a:ea typeface="Calibri"/>
                        <a:cs typeface="Calibri"/>
                        <a:sym typeface="Calibri"/>
                      </a:endParaRPr>
                    </a:p>
                  </a:txBody>
                  <a:tcPr marT="91425" marB="91425" marR="91425" marL="91425">
                    <a:lnL cap="flat" cmpd="sng" w="9525">
                      <a:solidFill>
                        <a:srgbClr val="C8EFF7"/>
                      </a:solidFill>
                      <a:prstDash val="solid"/>
                      <a:round/>
                      <a:headEnd len="sm" w="sm" type="none"/>
                      <a:tailEnd len="sm" w="sm" type="none"/>
                    </a:lnL>
                    <a:lnR cap="flat" cmpd="sng" w="9525">
                      <a:solidFill>
                        <a:srgbClr val="C8EFF7"/>
                      </a:solidFill>
                      <a:prstDash val="solid"/>
                      <a:round/>
                      <a:headEnd len="sm" w="sm" type="none"/>
                      <a:tailEnd len="sm" w="sm" type="none"/>
                    </a:lnR>
                    <a:lnT cap="flat" cmpd="sng" w="9525">
                      <a:solidFill>
                        <a:srgbClr val="C8EFF7"/>
                      </a:solidFill>
                      <a:prstDash val="solid"/>
                      <a:round/>
                      <a:headEnd len="sm" w="sm" type="none"/>
                      <a:tailEnd len="sm" w="sm" type="none"/>
                    </a:lnT>
                    <a:lnB cap="flat" cmpd="sng" w="9525">
                      <a:solidFill>
                        <a:srgbClr val="C8EFF7"/>
                      </a:solidFill>
                      <a:prstDash val="solid"/>
                      <a:round/>
                      <a:headEnd len="sm" w="sm" type="none"/>
                      <a:tailEnd len="sm" w="sm" type="none"/>
                    </a:lnB>
                  </a:tcPr>
                </a:tc>
              </a:tr>
            </a:tbl>
          </a:graphicData>
        </a:graphic>
      </p:graphicFrame>
      <p:pic>
        <p:nvPicPr>
          <p:cNvPr id="59" name="Google Shape;59;p6"/>
          <p:cNvPicPr preferRelativeResize="0"/>
          <p:nvPr/>
        </p:nvPicPr>
        <p:blipFill rotWithShape="1">
          <a:blip r:embed="rId3">
            <a:alphaModFix/>
          </a:blip>
          <a:srcRect b="37352" l="12319" r="52045" t="13186"/>
          <a:stretch/>
        </p:blipFill>
        <p:spPr>
          <a:xfrm>
            <a:off x="1643675" y="2670512"/>
            <a:ext cx="2211499" cy="1662775"/>
          </a:xfrm>
          <a:prstGeom prst="rect">
            <a:avLst/>
          </a:prstGeom>
          <a:noFill/>
          <a:ln>
            <a:noFill/>
          </a:ln>
        </p:spPr>
      </p:pic>
      <p:sp>
        <p:nvSpPr>
          <p:cNvPr id="60" name="Google Shape;60;p6"/>
          <p:cNvSpPr txBox="1"/>
          <p:nvPr/>
        </p:nvSpPr>
        <p:spPr>
          <a:xfrm>
            <a:off x="247425" y="2843100"/>
            <a:ext cx="1160100" cy="170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600"/>
              </a:spcBef>
              <a:spcAft>
                <a:spcPts val="0"/>
              </a:spcAft>
              <a:buClr>
                <a:schemeClr val="dk1"/>
              </a:buClr>
              <a:buSzPts val="1100"/>
              <a:buFont typeface="Arial"/>
              <a:buNone/>
            </a:pPr>
            <a:r>
              <a:rPr lang="en-US" sz="1100">
                <a:solidFill>
                  <a:schemeClr val="dk1"/>
                </a:solidFill>
                <a:latin typeface="Calibri"/>
                <a:ea typeface="Calibri"/>
                <a:cs typeface="Calibri"/>
                <a:sym typeface="Calibri"/>
              </a:rPr>
              <a:t>Stored outputs as </a:t>
            </a:r>
            <a:r>
              <a:rPr b="1" lang="en-US" sz="1100">
                <a:solidFill>
                  <a:schemeClr val="dk1"/>
                </a:solidFill>
                <a:latin typeface="Calibri"/>
                <a:ea typeface="Calibri"/>
                <a:cs typeface="Calibri"/>
                <a:sym typeface="Calibri"/>
              </a:rPr>
              <a:t>Parquet files </a:t>
            </a:r>
            <a:r>
              <a:rPr lang="en-US" sz="1100">
                <a:solidFill>
                  <a:schemeClr val="dk1"/>
                </a:solidFill>
                <a:latin typeface="Calibri"/>
                <a:ea typeface="Calibri"/>
                <a:cs typeface="Calibri"/>
                <a:sym typeface="Calibri"/>
              </a:rPr>
              <a:t>in Google Drive folder</a:t>
            </a:r>
            <a:r>
              <a:rPr lang="en-US" sz="1100">
                <a:solidFill>
                  <a:schemeClr val="dk1"/>
                </a:solidFill>
                <a:latin typeface="Calibri"/>
                <a:ea typeface="Calibri"/>
                <a:cs typeface="Calibri"/>
                <a:sym typeface="Calibri"/>
              </a:rPr>
              <a:t> for faster access and reduced storage.</a:t>
            </a:r>
            <a:endParaRPr sz="1200">
              <a:solidFill>
                <a:srgbClr val="1F1F1F"/>
              </a:solidFill>
              <a:highlight>
                <a:srgbClr val="FFFFFF"/>
              </a:highlight>
              <a:latin typeface="Calibri"/>
              <a:ea typeface="Calibri"/>
              <a:cs typeface="Calibri"/>
              <a:sym typeface="Calibri"/>
            </a:endParaRPr>
          </a:p>
          <a:p>
            <a:pPr indent="0" lvl="0" marL="0" rtl="0" algn="l">
              <a:spcBef>
                <a:spcPts val="600"/>
              </a:spcBef>
              <a:spcAft>
                <a:spcPts val="0"/>
              </a:spcAft>
              <a:buNone/>
            </a:pPr>
            <a:r>
              <a:t/>
            </a:r>
            <a:endParaRPr sz="1800">
              <a:solidFill>
                <a:schemeClr val="dk2"/>
              </a:solidFill>
            </a:endParaRPr>
          </a:p>
        </p:txBody>
      </p:sp>
      <p:sp>
        <p:nvSpPr>
          <p:cNvPr id="61" name="Google Shape;61;p6"/>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4  |  Data Acquisition &amp; Collection</a:t>
            </a:r>
            <a:endParaRPr b="0" i="0" sz="2000" u="none" cap="none" strike="noStrike">
              <a:solidFill>
                <a:schemeClr val="dk1"/>
              </a:solidFill>
              <a:latin typeface="Calibri"/>
              <a:ea typeface="Calibri"/>
              <a:cs typeface="Calibri"/>
              <a:sym typeface="Calibri"/>
            </a:endParaRPr>
          </a:p>
        </p:txBody>
      </p:sp>
      <p:pic>
        <p:nvPicPr>
          <p:cNvPr id="63" name="Google Shape;63;p6"/>
          <p:cNvPicPr preferRelativeResize="0"/>
          <p:nvPr/>
        </p:nvPicPr>
        <p:blipFill rotWithShape="1">
          <a:blip r:embed="rId4">
            <a:alphaModFix/>
          </a:blip>
          <a:srcRect b="82693" l="435" r="88818" t="12214"/>
          <a:stretch/>
        </p:blipFill>
        <p:spPr>
          <a:xfrm>
            <a:off x="4884850" y="40601"/>
            <a:ext cx="2249050" cy="577299"/>
          </a:xfrm>
          <a:prstGeom prst="rect">
            <a:avLst/>
          </a:prstGeom>
          <a:noFill/>
          <a:ln>
            <a:noFill/>
          </a:ln>
        </p:spPr>
      </p:pic>
      <p:sp>
        <p:nvSpPr>
          <p:cNvPr id="64" name="Google Shape;64;p6"/>
          <p:cNvSpPr/>
          <p:nvPr/>
        </p:nvSpPr>
        <p:spPr>
          <a:xfrm>
            <a:off x="247425" y="803200"/>
            <a:ext cx="2743200" cy="12783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6"/>
          <p:cNvSpPr/>
          <p:nvPr/>
        </p:nvSpPr>
        <p:spPr>
          <a:xfrm>
            <a:off x="247425" y="783550"/>
            <a:ext cx="66900" cy="13176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430305" y="894637"/>
            <a:ext cx="24231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300"/>
              <a:buFont typeface="Calibri"/>
              <a:buNone/>
            </a:pPr>
            <a:r>
              <a:rPr b="1" lang="en-US" sz="1300">
                <a:solidFill>
                  <a:srgbClr val="0D1B2A"/>
                </a:solidFill>
                <a:latin typeface="Calibri"/>
                <a:ea typeface="Calibri"/>
                <a:cs typeface="Calibri"/>
                <a:sym typeface="Calibri"/>
              </a:rPr>
              <a:t>Project Goal:</a:t>
            </a:r>
            <a:endParaRPr b="0" i="0" sz="1300" u="none" cap="none" strike="noStrike">
              <a:solidFill>
                <a:schemeClr val="dk1"/>
              </a:solidFill>
              <a:latin typeface="Calibri"/>
              <a:ea typeface="Calibri"/>
              <a:cs typeface="Calibri"/>
              <a:sym typeface="Calibri"/>
            </a:endParaRPr>
          </a:p>
        </p:txBody>
      </p:sp>
      <p:sp>
        <p:nvSpPr>
          <p:cNvPr id="67" name="Google Shape;67;p6"/>
          <p:cNvSpPr/>
          <p:nvPr/>
        </p:nvSpPr>
        <p:spPr>
          <a:xfrm>
            <a:off x="430305" y="1069520"/>
            <a:ext cx="2423100" cy="905700"/>
          </a:xfrm>
          <a:prstGeom prst="rect">
            <a:avLst/>
          </a:prstGeom>
          <a:noFill/>
          <a:ln>
            <a:noFill/>
          </a:ln>
        </p:spPr>
        <p:txBody>
          <a:bodyPr anchorCtr="0" anchor="ctr" bIns="45700" lIns="91425" spcFirstLastPara="1" rIns="91425" wrap="square" tIns="45700">
            <a:noAutofit/>
          </a:bodyPr>
          <a:lstStyle/>
          <a:p>
            <a:pPr indent="-285750" lvl="0" marL="457200" rtl="0" algn="l">
              <a:spcBef>
                <a:spcPts val="1200"/>
              </a:spcBef>
              <a:spcAft>
                <a:spcPts val="0"/>
              </a:spcAft>
              <a:buClr>
                <a:srgbClr val="64748B"/>
              </a:buClr>
              <a:buSzPts val="900"/>
              <a:buFont typeface="Calibri"/>
              <a:buChar char="•"/>
            </a:pPr>
            <a:r>
              <a:rPr lang="en-US" sz="1100">
                <a:solidFill>
                  <a:schemeClr val="dk1"/>
                </a:solidFill>
                <a:latin typeface="Calibri"/>
                <a:ea typeface="Calibri"/>
                <a:cs typeface="Calibri"/>
                <a:sym typeface="Calibri"/>
              </a:rPr>
              <a:t>Selected because it aligns with project goal: </a:t>
            </a:r>
            <a:r>
              <a:rPr b="1" lang="en-US" sz="1100">
                <a:solidFill>
                  <a:schemeClr val="dk1"/>
                </a:solidFill>
                <a:latin typeface="Calibri"/>
                <a:ea typeface="Calibri"/>
                <a:cs typeface="Calibri"/>
                <a:sym typeface="Calibri"/>
              </a:rPr>
              <a:t>drug combination safety analysis</a:t>
            </a:r>
            <a:endParaRPr i="0" sz="900" u="none" cap="none" strike="noStrike">
              <a:solidFill>
                <a:schemeClr val="dk1"/>
              </a:solidFill>
              <a:latin typeface="Calibri"/>
              <a:ea typeface="Calibri"/>
              <a:cs typeface="Calibri"/>
              <a:sym typeface="Calibri"/>
            </a:endParaRPr>
          </a:p>
        </p:txBody>
      </p:sp>
      <p:sp>
        <p:nvSpPr>
          <p:cNvPr id="68" name="Google Shape;68;p6"/>
          <p:cNvSpPr/>
          <p:nvPr/>
        </p:nvSpPr>
        <p:spPr>
          <a:xfrm>
            <a:off x="4719800" y="787826"/>
            <a:ext cx="3376200" cy="1469100"/>
          </a:xfrm>
          <a:prstGeom prst="rect">
            <a:avLst/>
          </a:prstGeom>
          <a:solidFill>
            <a:srgbClr val="C8EFF7"/>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txBox="1"/>
          <p:nvPr/>
        </p:nvSpPr>
        <p:spPr>
          <a:xfrm>
            <a:off x="5069300" y="863575"/>
            <a:ext cx="2677200" cy="131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chemeClr val="dk1"/>
                </a:solidFill>
                <a:latin typeface="Calibri"/>
                <a:ea typeface="Calibri"/>
                <a:cs typeface="Calibri"/>
                <a:sym typeface="Calibri"/>
              </a:rPr>
              <a:t>Source provided a </a:t>
            </a:r>
            <a:r>
              <a:rPr b="1" lang="en-US" sz="1100">
                <a:solidFill>
                  <a:schemeClr val="dk1"/>
                </a:solidFill>
                <a:latin typeface="Calibri"/>
                <a:ea typeface="Calibri"/>
                <a:cs typeface="Calibri"/>
                <a:sym typeface="Calibri"/>
              </a:rPr>
              <a:t>1.76 GB XML file which we then processed using structure parsing in Google Colab</a:t>
            </a:r>
            <a:endParaRPr b="1" sz="1100">
              <a:solidFill>
                <a:schemeClr val="dk1"/>
              </a:solidFill>
              <a:latin typeface="Calibri"/>
              <a:ea typeface="Calibri"/>
              <a:cs typeface="Calibri"/>
              <a:sym typeface="Calibri"/>
            </a:endParaRPr>
          </a:p>
          <a:p>
            <a:pPr indent="0" lvl="0" marL="0" rtl="0" algn="l">
              <a:lnSpc>
                <a:spcPct val="115000"/>
              </a:lnSpc>
              <a:spcBef>
                <a:spcPts val="600"/>
              </a:spcBef>
              <a:spcAft>
                <a:spcPts val="0"/>
              </a:spcAft>
              <a:buNone/>
            </a:pPr>
            <a:r>
              <a:rPr lang="en-US" sz="1100">
                <a:solidFill>
                  <a:srgbClr val="1F1F1F"/>
                </a:solidFill>
                <a:latin typeface="Calibri"/>
                <a:ea typeface="Calibri"/>
                <a:cs typeface="Calibri"/>
                <a:sym typeface="Calibri"/>
              </a:rPr>
              <a:t>We </a:t>
            </a:r>
            <a:r>
              <a:rPr lang="en-US" sz="1100">
                <a:solidFill>
                  <a:srgbClr val="1F1F1F"/>
                </a:solidFill>
                <a:latin typeface="Calibri"/>
                <a:ea typeface="Calibri"/>
                <a:cs typeface="Calibri"/>
                <a:sym typeface="Calibri"/>
              </a:rPr>
              <a:t>extracted ONLY what we needed. This creates 4 compact tables that align with CompoundIQ needs</a:t>
            </a:r>
            <a:endParaRPr sz="1100">
              <a:solidFill>
                <a:srgbClr val="1F1F1F"/>
              </a:solidFill>
              <a:latin typeface="Calibri"/>
              <a:ea typeface="Calibri"/>
              <a:cs typeface="Calibri"/>
              <a:sym typeface="Calibri"/>
            </a:endParaRPr>
          </a:p>
          <a:p>
            <a:pPr indent="0" lvl="0" marL="0" rtl="0" algn="l">
              <a:lnSpc>
                <a:spcPct val="115000"/>
              </a:lnSpc>
              <a:spcBef>
                <a:spcPts val="600"/>
              </a:spcBef>
              <a:spcAft>
                <a:spcPts val="0"/>
              </a:spcAft>
              <a:buNone/>
            </a:pPr>
            <a:r>
              <a:t/>
            </a:r>
            <a:endParaRPr sz="1200">
              <a:solidFill>
                <a:srgbClr val="1F1F1F"/>
              </a:solidFill>
              <a:highlight>
                <a:srgbClr val="FFFFFF"/>
              </a:highlight>
              <a:latin typeface="EB Garamond"/>
              <a:ea typeface="EB Garamond"/>
              <a:cs typeface="EB Garamond"/>
              <a:sym typeface="EB Garamond"/>
            </a:endParaRPr>
          </a:p>
          <a:p>
            <a:pPr indent="0" lvl="0" marL="0" rtl="0" algn="l">
              <a:spcBef>
                <a:spcPts val="600"/>
              </a:spcBef>
              <a:spcAft>
                <a:spcPts val="0"/>
              </a:spcAft>
              <a:buNone/>
            </a:pPr>
            <a:r>
              <a:t/>
            </a:r>
            <a:endParaRPr b="1" sz="1100">
              <a:solidFill>
                <a:schemeClr val="dk1"/>
              </a:solidFill>
              <a:latin typeface="EB Garamond"/>
              <a:ea typeface="EB Garamond"/>
              <a:cs typeface="EB Garamond"/>
              <a:sym typeface="EB Garamond"/>
            </a:endParaRPr>
          </a:p>
          <a:p>
            <a:pPr indent="0" lvl="0" marL="0" rtl="0" algn="l">
              <a:spcBef>
                <a:spcPts val="0"/>
              </a:spcBef>
              <a:spcAft>
                <a:spcPts val="0"/>
              </a:spcAft>
              <a:buNone/>
            </a:pPr>
            <a:r>
              <a:t/>
            </a:r>
            <a:endParaRPr b="1" sz="1100">
              <a:solidFill>
                <a:schemeClr val="dk1"/>
              </a:solidFill>
              <a:latin typeface="EB Garamond"/>
              <a:ea typeface="EB Garamond"/>
              <a:cs typeface="EB Garamond"/>
              <a:sym typeface="EB Garamond"/>
            </a:endParaRPr>
          </a:p>
        </p:txBody>
      </p:sp>
      <p:cxnSp>
        <p:nvCxnSpPr>
          <p:cNvPr id="70" name="Google Shape;70;p6"/>
          <p:cNvCxnSpPr>
            <a:stCxn id="69" idx="2"/>
          </p:cNvCxnSpPr>
          <p:nvPr/>
        </p:nvCxnSpPr>
        <p:spPr>
          <a:xfrm>
            <a:off x="6407900" y="2181175"/>
            <a:ext cx="6600" cy="3462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75" name="Shape 75"/>
        <p:cNvGrpSpPr/>
        <p:nvPr/>
      </p:nvGrpSpPr>
      <p:grpSpPr>
        <a:xfrm>
          <a:off x="0" y="0"/>
          <a:ext cx="0" cy="0"/>
          <a:chOff x="0" y="0"/>
          <a:chExt cx="0" cy="0"/>
        </a:xfrm>
      </p:grpSpPr>
      <p:sp>
        <p:nvSpPr>
          <p:cNvPr id="76" name="Google Shape;76;p7"/>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7"/>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4  |  Data Acquisition &amp; Collection</a:t>
            </a:r>
            <a:endParaRPr b="0" i="0" sz="2000" u="none" cap="none" strike="noStrike">
              <a:solidFill>
                <a:schemeClr val="dk1"/>
              </a:solidFill>
              <a:latin typeface="Calibri"/>
              <a:ea typeface="Calibri"/>
              <a:cs typeface="Calibri"/>
              <a:sym typeface="Calibri"/>
            </a:endParaRPr>
          </a:p>
        </p:txBody>
      </p:sp>
      <p:sp>
        <p:nvSpPr>
          <p:cNvPr id="78" name="Google Shape;78;p7"/>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7"/>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80" name="Google Shape;80;p7"/>
          <p:cNvSpPr/>
          <p:nvPr/>
        </p:nvSpPr>
        <p:spPr>
          <a:xfrm>
            <a:off x="115775" y="1713647"/>
            <a:ext cx="4343400" cy="19203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225503" y="1805087"/>
            <a:ext cx="4023300" cy="274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1300"/>
              <a:buFont typeface="Calibri"/>
              <a:buNone/>
            </a:pPr>
            <a:r>
              <a:rPr b="1" i="0" lang="en-US" sz="1300" u="none" cap="none" strike="noStrike">
                <a:solidFill>
                  <a:srgbClr val="0A7EA4"/>
                </a:solidFill>
                <a:latin typeface="Calibri"/>
                <a:ea typeface="Calibri"/>
                <a:cs typeface="Calibri"/>
                <a:sym typeface="Calibri"/>
              </a:rPr>
              <a:t>Additional Datasets</a:t>
            </a:r>
            <a:endParaRPr b="0" i="0" sz="1300" u="none" cap="none" strike="noStrike">
              <a:solidFill>
                <a:schemeClr val="dk1"/>
              </a:solidFill>
              <a:latin typeface="Calibri"/>
              <a:ea typeface="Calibri"/>
              <a:cs typeface="Calibri"/>
              <a:sym typeface="Calibri"/>
            </a:endParaRPr>
          </a:p>
        </p:txBody>
      </p:sp>
      <p:sp>
        <p:nvSpPr>
          <p:cNvPr id="82" name="Google Shape;82;p7"/>
          <p:cNvSpPr/>
          <p:nvPr/>
        </p:nvSpPr>
        <p:spPr>
          <a:xfrm>
            <a:off x="225503" y="2170847"/>
            <a:ext cx="164700" cy="164700"/>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a:off x="463247" y="2143415"/>
            <a:ext cx="3840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TWOSIDES: </a:t>
            </a:r>
            <a:r>
              <a:rPr b="0" i="0" lang="en-US" sz="900" u="none" cap="none" strike="noStrike">
                <a:solidFill>
                  <a:srgbClr val="64748B"/>
                </a:solidFill>
                <a:latin typeface="Calibri"/>
                <a:ea typeface="Calibri"/>
                <a:cs typeface="Calibri"/>
                <a:sym typeface="Calibri"/>
              </a:rPr>
              <a:t>738 MB · Adverse drug event pairs (NSIDES)</a:t>
            </a:r>
            <a:endParaRPr b="0" i="0" sz="900" u="none" cap="none" strike="noStrike">
              <a:solidFill>
                <a:schemeClr val="dk1"/>
              </a:solidFill>
              <a:latin typeface="Calibri"/>
              <a:ea typeface="Calibri"/>
              <a:cs typeface="Calibri"/>
              <a:sym typeface="Calibri"/>
            </a:endParaRPr>
          </a:p>
        </p:txBody>
      </p:sp>
      <p:sp>
        <p:nvSpPr>
          <p:cNvPr id="84" name="Google Shape;84;p7"/>
          <p:cNvSpPr/>
          <p:nvPr/>
        </p:nvSpPr>
        <p:spPr>
          <a:xfrm>
            <a:off x="225503" y="2518319"/>
            <a:ext cx="164700" cy="164700"/>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463247" y="2490887"/>
            <a:ext cx="3840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SIDER: </a:t>
            </a:r>
            <a:r>
              <a:rPr b="0" i="0" lang="en-US" sz="900" u="none" cap="none" strike="noStrike">
                <a:solidFill>
                  <a:srgbClr val="64748B"/>
                </a:solidFill>
                <a:latin typeface="Calibri"/>
                <a:ea typeface="Calibri"/>
                <a:cs typeface="Calibri"/>
                <a:sym typeface="Calibri"/>
              </a:rPr>
              <a:t>309,849 records · Drug side effect database</a:t>
            </a:r>
            <a:endParaRPr b="0" i="0" sz="900" u="none" cap="none" strike="noStrike">
              <a:solidFill>
                <a:schemeClr val="dk1"/>
              </a:solidFill>
              <a:latin typeface="Calibri"/>
              <a:ea typeface="Calibri"/>
              <a:cs typeface="Calibri"/>
              <a:sym typeface="Calibri"/>
            </a:endParaRPr>
          </a:p>
        </p:txBody>
      </p:sp>
      <p:sp>
        <p:nvSpPr>
          <p:cNvPr id="86" name="Google Shape;86;p7"/>
          <p:cNvSpPr/>
          <p:nvPr/>
        </p:nvSpPr>
        <p:spPr>
          <a:xfrm>
            <a:off x="225503" y="2865791"/>
            <a:ext cx="164700" cy="164700"/>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
          <p:cNvSpPr/>
          <p:nvPr/>
        </p:nvSpPr>
        <p:spPr>
          <a:xfrm>
            <a:off x="463247" y="2838359"/>
            <a:ext cx="3840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ChEMBL: </a:t>
            </a:r>
            <a:r>
              <a:rPr b="0" i="0" lang="en-US" sz="900" u="none" cap="none" strike="noStrike">
                <a:solidFill>
                  <a:srgbClr val="64748B"/>
                </a:solidFill>
                <a:latin typeface="Calibri"/>
                <a:ea typeface="Calibri"/>
                <a:cs typeface="Calibri"/>
                <a:sym typeface="Calibri"/>
              </a:rPr>
              <a:t>50,000 records · Molecular bioactivity data</a:t>
            </a:r>
            <a:endParaRPr b="0" i="0" sz="900" u="none" cap="none" strike="noStrike">
              <a:solidFill>
                <a:schemeClr val="dk1"/>
              </a:solidFill>
              <a:latin typeface="Calibri"/>
              <a:ea typeface="Calibri"/>
              <a:cs typeface="Calibri"/>
              <a:sym typeface="Calibri"/>
            </a:endParaRPr>
          </a:p>
        </p:txBody>
      </p:sp>
      <p:sp>
        <p:nvSpPr>
          <p:cNvPr id="88" name="Google Shape;88;p7"/>
          <p:cNvSpPr/>
          <p:nvPr/>
        </p:nvSpPr>
        <p:spPr>
          <a:xfrm>
            <a:off x="225503" y="3213263"/>
            <a:ext cx="164700" cy="164700"/>
          </a:xfrm>
          <a:prstGeom prst="ellipse">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463247" y="3185831"/>
            <a:ext cx="3840600" cy="292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1" i="0" lang="en-US" sz="900" u="none" cap="none" strike="noStrike">
                <a:solidFill>
                  <a:srgbClr val="0D1B2A"/>
                </a:solidFill>
                <a:latin typeface="Calibri"/>
                <a:ea typeface="Calibri"/>
                <a:cs typeface="Calibri"/>
                <a:sym typeface="Calibri"/>
              </a:rPr>
              <a:t>ZINC: </a:t>
            </a:r>
            <a:r>
              <a:rPr b="0" i="0" lang="en-US" sz="900" u="none" cap="none" strike="noStrike">
                <a:solidFill>
                  <a:srgbClr val="64748B"/>
                </a:solidFill>
                <a:latin typeface="Calibri"/>
                <a:ea typeface="Calibri"/>
                <a:cs typeface="Calibri"/>
                <a:sym typeface="Calibri"/>
              </a:rPr>
              <a:t>Drug-like molecules from clinical trials</a:t>
            </a:r>
            <a:endParaRPr b="0" i="0" sz="900" u="none" cap="none" strike="noStrike">
              <a:solidFill>
                <a:schemeClr val="dk1"/>
              </a:solidFill>
              <a:latin typeface="Calibri"/>
              <a:ea typeface="Calibri"/>
              <a:cs typeface="Calibri"/>
              <a:sym typeface="Calibri"/>
            </a:endParaRPr>
          </a:p>
        </p:txBody>
      </p:sp>
      <p:sp>
        <p:nvSpPr>
          <p:cNvPr id="90" name="Google Shape;90;p7"/>
          <p:cNvSpPr/>
          <p:nvPr/>
        </p:nvSpPr>
        <p:spPr>
          <a:xfrm>
            <a:off x="4626875" y="1640953"/>
            <a:ext cx="4343400" cy="206640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7"/>
          <p:cNvSpPr/>
          <p:nvPr/>
        </p:nvSpPr>
        <p:spPr>
          <a:xfrm>
            <a:off x="4570450" y="1640528"/>
            <a:ext cx="54900" cy="20664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4736603" y="1714105"/>
            <a:ext cx="4178700" cy="1956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Download &amp; verify all datasets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datasets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'ChEMBL': 'data/raw/chembl_molecules.csv',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'SIDER':  'data/raw/sider.csv',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'ZINC':   'data/raw/zinc_druglike.smi'</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for name, path in datasets.items():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size = os.path.getsize(path)/(1024*1024)</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   = pd.read_csv(path)</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print(f"✅ {name} | {size:.1f}MB | {len(df):,} records")</a:t>
            </a:r>
            <a:endParaRPr b="0" i="0" sz="750" u="none" cap="none" strike="noStrike">
              <a:solidFill>
                <a:schemeClr val="dk1"/>
              </a:solidFill>
              <a:latin typeface="Calibri"/>
              <a:ea typeface="Calibri"/>
              <a:cs typeface="Calibri"/>
              <a:sym typeface="Calibri"/>
            </a:endParaRPr>
          </a:p>
        </p:txBody>
      </p:sp>
      <p:sp>
        <p:nvSpPr>
          <p:cNvPr id="93" name="Google Shape;93;p7"/>
          <p:cNvSpPr/>
          <p:nvPr/>
        </p:nvSpPr>
        <p:spPr>
          <a:xfrm>
            <a:off x="4626875" y="3707497"/>
            <a:ext cx="4343400" cy="18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Data Collection Verification Script</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98" name="Shape 98"/>
        <p:cNvGrpSpPr/>
        <p:nvPr/>
      </p:nvGrpSpPr>
      <p:grpSpPr>
        <a:xfrm>
          <a:off x="0" y="0"/>
          <a:ext cx="0" cy="0"/>
          <a:chOff x="0" y="0"/>
          <a:chExt cx="0" cy="0"/>
        </a:xfrm>
      </p:grpSpPr>
      <p:sp>
        <p:nvSpPr>
          <p:cNvPr id="99" name="Google Shape;99;p8"/>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Pipeline Architecture</a:t>
            </a:r>
            <a:endParaRPr b="0" i="0" sz="2000" u="none" cap="none" strike="noStrike">
              <a:solidFill>
                <a:schemeClr val="dk1"/>
              </a:solidFill>
              <a:latin typeface="Calibri"/>
              <a:ea typeface="Calibri"/>
              <a:cs typeface="Calibri"/>
              <a:sym typeface="Calibri"/>
            </a:endParaRPr>
          </a:p>
        </p:txBody>
      </p:sp>
      <p:sp>
        <p:nvSpPr>
          <p:cNvPr id="101" name="Google Shape;101;p8"/>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103" name="Google Shape;103;p8"/>
          <p:cNvSpPr/>
          <p:nvPr/>
        </p:nvSpPr>
        <p:spPr>
          <a:xfrm>
            <a:off x="2560320" y="868680"/>
            <a:ext cx="4023360" cy="658368"/>
          </a:xfrm>
          <a:prstGeom prst="rect">
            <a:avLst/>
          </a:prstGeom>
          <a:solidFill>
            <a:srgbClr val="1A3A5C"/>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2560320" y="86868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DrugBank XML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(1.76 GB)</a:t>
            </a:r>
            <a:endParaRPr b="0" i="0" sz="1100" u="none" cap="none" strike="noStrike">
              <a:solidFill>
                <a:schemeClr val="dk1"/>
              </a:solidFill>
              <a:latin typeface="Calibri"/>
              <a:ea typeface="Calibri"/>
              <a:cs typeface="Calibri"/>
              <a:sym typeface="Calibri"/>
            </a:endParaRPr>
          </a:p>
        </p:txBody>
      </p:sp>
      <p:cxnSp>
        <p:nvCxnSpPr>
          <p:cNvPr id="105" name="Google Shape;105;p8"/>
          <p:cNvCxnSpPr/>
          <p:nvPr/>
        </p:nvCxnSpPr>
        <p:spPr>
          <a:xfrm>
            <a:off x="4572000" y="1527048"/>
            <a:ext cx="0" cy="237744"/>
          </a:xfrm>
          <a:prstGeom prst="straightConnector1">
            <a:avLst/>
          </a:prstGeom>
          <a:noFill/>
          <a:ln cap="flat" cmpd="sng" w="25400">
            <a:solidFill>
              <a:srgbClr val="0A7EA4"/>
            </a:solidFill>
            <a:prstDash val="solid"/>
            <a:round/>
            <a:headEnd len="sm" w="sm" type="none"/>
            <a:tailEnd len="sm" w="sm" type="none"/>
          </a:ln>
        </p:spPr>
      </p:cxnSp>
      <p:sp>
        <p:nvSpPr>
          <p:cNvPr id="106" name="Google Shape;106;p8"/>
          <p:cNvSpPr/>
          <p:nvPr/>
        </p:nvSpPr>
        <p:spPr>
          <a:xfrm>
            <a:off x="4297680" y="167335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07" name="Google Shape;107;p8"/>
          <p:cNvSpPr/>
          <p:nvPr/>
        </p:nvSpPr>
        <p:spPr>
          <a:xfrm>
            <a:off x="2560320" y="1737360"/>
            <a:ext cx="4023360" cy="658368"/>
          </a:xfrm>
          <a:prstGeom prst="rect">
            <a:avLst/>
          </a:prstGeom>
          <a:solidFill>
            <a:srgbClr val="0A7EA4"/>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8"/>
          <p:cNvSpPr/>
          <p:nvPr/>
        </p:nvSpPr>
        <p:spPr>
          <a:xfrm>
            <a:off x="2560320" y="173736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XML Parsing</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(Structured Extraction)</a:t>
            </a:r>
            <a:endParaRPr b="0" i="0" sz="1100" u="none" cap="none" strike="noStrike">
              <a:solidFill>
                <a:schemeClr val="dk1"/>
              </a:solidFill>
              <a:latin typeface="Calibri"/>
              <a:ea typeface="Calibri"/>
              <a:cs typeface="Calibri"/>
              <a:sym typeface="Calibri"/>
            </a:endParaRPr>
          </a:p>
        </p:txBody>
      </p:sp>
      <p:cxnSp>
        <p:nvCxnSpPr>
          <p:cNvPr id="109" name="Google Shape;109;p8"/>
          <p:cNvCxnSpPr/>
          <p:nvPr/>
        </p:nvCxnSpPr>
        <p:spPr>
          <a:xfrm>
            <a:off x="4572000" y="2395728"/>
            <a:ext cx="0" cy="237744"/>
          </a:xfrm>
          <a:prstGeom prst="straightConnector1">
            <a:avLst/>
          </a:prstGeom>
          <a:noFill/>
          <a:ln cap="flat" cmpd="sng" w="25400">
            <a:solidFill>
              <a:srgbClr val="0A7EA4"/>
            </a:solidFill>
            <a:prstDash val="solid"/>
            <a:round/>
            <a:headEnd len="sm" w="sm" type="none"/>
            <a:tailEnd len="sm" w="sm" type="none"/>
          </a:ln>
        </p:spPr>
      </p:cxnSp>
      <p:sp>
        <p:nvSpPr>
          <p:cNvPr id="110" name="Google Shape;110;p8"/>
          <p:cNvSpPr/>
          <p:nvPr/>
        </p:nvSpPr>
        <p:spPr>
          <a:xfrm>
            <a:off x="4297680" y="254203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11" name="Google Shape;111;p8"/>
          <p:cNvSpPr/>
          <p:nvPr/>
        </p:nvSpPr>
        <p:spPr>
          <a:xfrm>
            <a:off x="2560320" y="2606040"/>
            <a:ext cx="4023360" cy="658368"/>
          </a:xfrm>
          <a:prstGeom prst="rect">
            <a:avLst/>
          </a:prstGeom>
          <a:solidFill>
            <a:srgbClr val="0A5A7C"/>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8"/>
          <p:cNvSpPr/>
          <p:nvPr/>
        </p:nvSpPr>
        <p:spPr>
          <a:xfrm>
            <a:off x="2560320" y="260604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Structured Parquet Tables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drugs | interactions | targets | enzymes</a:t>
            </a:r>
            <a:endParaRPr b="0" i="0" sz="1100" u="none" cap="none" strike="noStrike">
              <a:solidFill>
                <a:schemeClr val="dk1"/>
              </a:solidFill>
              <a:latin typeface="Calibri"/>
              <a:ea typeface="Calibri"/>
              <a:cs typeface="Calibri"/>
              <a:sym typeface="Calibri"/>
            </a:endParaRPr>
          </a:p>
        </p:txBody>
      </p:sp>
      <p:cxnSp>
        <p:nvCxnSpPr>
          <p:cNvPr id="113" name="Google Shape;113;p8"/>
          <p:cNvCxnSpPr/>
          <p:nvPr/>
        </p:nvCxnSpPr>
        <p:spPr>
          <a:xfrm>
            <a:off x="4572000" y="3264408"/>
            <a:ext cx="0" cy="237744"/>
          </a:xfrm>
          <a:prstGeom prst="straightConnector1">
            <a:avLst/>
          </a:prstGeom>
          <a:noFill/>
          <a:ln cap="flat" cmpd="sng" w="25400">
            <a:solidFill>
              <a:srgbClr val="0A7EA4"/>
            </a:solidFill>
            <a:prstDash val="solid"/>
            <a:round/>
            <a:headEnd len="sm" w="sm" type="none"/>
            <a:tailEnd len="sm" w="sm" type="none"/>
          </a:ln>
        </p:spPr>
      </p:cxnSp>
      <p:sp>
        <p:nvSpPr>
          <p:cNvPr id="114" name="Google Shape;114;p8"/>
          <p:cNvSpPr/>
          <p:nvPr/>
        </p:nvSpPr>
        <p:spPr>
          <a:xfrm>
            <a:off x="4297680" y="3410712"/>
            <a:ext cx="548640" cy="2011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A7EA4"/>
              </a:buClr>
              <a:buSzPts val="1000"/>
              <a:buFont typeface="Calibri"/>
              <a:buNone/>
            </a:pPr>
            <a:r>
              <a:rPr b="0" i="0" lang="en-US" sz="1000" u="none" cap="none" strike="noStrike">
                <a:solidFill>
                  <a:srgbClr val="0A7EA4"/>
                </a:solidFill>
                <a:latin typeface="Calibri"/>
                <a:ea typeface="Calibri"/>
                <a:cs typeface="Calibri"/>
                <a:sym typeface="Calibri"/>
              </a:rPr>
              <a:t>▼</a:t>
            </a:r>
            <a:endParaRPr b="0" i="0" sz="1000" u="none" cap="none" strike="noStrike">
              <a:solidFill>
                <a:schemeClr val="dk1"/>
              </a:solidFill>
              <a:latin typeface="Calibri"/>
              <a:ea typeface="Calibri"/>
              <a:cs typeface="Calibri"/>
              <a:sym typeface="Calibri"/>
            </a:endParaRPr>
          </a:p>
        </p:txBody>
      </p:sp>
      <p:sp>
        <p:nvSpPr>
          <p:cNvPr id="115" name="Google Shape;115;p8"/>
          <p:cNvSpPr/>
          <p:nvPr/>
        </p:nvSpPr>
        <p:spPr>
          <a:xfrm>
            <a:off x="2560320" y="3611880"/>
            <a:ext cx="4023360" cy="658368"/>
          </a:xfrm>
          <a:prstGeom prst="rect">
            <a:avLst/>
          </a:prstGeom>
          <a:solidFill>
            <a:srgbClr val="145E4E"/>
          </a:solidFill>
          <a:ln cap="flat" cmpd="sng" w="12700">
            <a:solidFill>
              <a:srgbClr val="AACC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2560320" y="3611880"/>
            <a:ext cx="4023360" cy="6583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Organized Data Storage</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(Ready for Feature Engineering)</a:t>
            </a:r>
            <a:endParaRPr b="0" i="0" sz="1100" u="none" cap="none" strike="noStrike">
              <a:solidFill>
                <a:schemeClr val="dk1"/>
              </a:solidFill>
              <a:latin typeface="Calibri"/>
              <a:ea typeface="Calibri"/>
              <a:cs typeface="Calibri"/>
              <a:sym typeface="Calibri"/>
            </a:endParaRPr>
          </a:p>
        </p:txBody>
      </p:sp>
      <p:cxnSp>
        <p:nvCxnSpPr>
          <p:cNvPr id="117" name="Google Shape;117;p8"/>
          <p:cNvCxnSpPr/>
          <p:nvPr/>
        </p:nvCxnSpPr>
        <p:spPr>
          <a:xfrm>
            <a:off x="6601968" y="1188720"/>
            <a:ext cx="201168" cy="0"/>
          </a:xfrm>
          <a:prstGeom prst="straightConnector1">
            <a:avLst/>
          </a:prstGeom>
          <a:noFill/>
          <a:ln cap="flat" cmpd="sng" w="12700">
            <a:solidFill>
              <a:srgbClr val="0A7EA4"/>
            </a:solidFill>
            <a:prstDash val="dash"/>
            <a:round/>
            <a:headEnd len="sm" w="sm" type="none"/>
            <a:tailEnd len="sm" w="sm" type="none"/>
          </a:ln>
        </p:spPr>
      </p:cxnSp>
      <p:sp>
        <p:nvSpPr>
          <p:cNvPr id="118" name="Google Shape;118;p8"/>
          <p:cNvSpPr/>
          <p:nvPr/>
        </p:nvSpPr>
        <p:spPr>
          <a:xfrm>
            <a:off x="6812280" y="1024128"/>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Stream-parsed to avoid</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loading 1.76 GB into memory</a:t>
            </a:r>
            <a:endParaRPr b="0" i="0" sz="850" u="none" cap="none" strike="noStrike">
              <a:solidFill>
                <a:schemeClr val="dk1"/>
              </a:solidFill>
              <a:latin typeface="Calibri"/>
              <a:ea typeface="Calibri"/>
              <a:cs typeface="Calibri"/>
              <a:sym typeface="Calibri"/>
            </a:endParaRPr>
          </a:p>
        </p:txBody>
      </p:sp>
      <p:cxnSp>
        <p:nvCxnSpPr>
          <p:cNvPr id="119" name="Google Shape;119;p8"/>
          <p:cNvCxnSpPr/>
          <p:nvPr/>
        </p:nvCxnSpPr>
        <p:spPr>
          <a:xfrm>
            <a:off x="6601968" y="2084832"/>
            <a:ext cx="201168" cy="0"/>
          </a:xfrm>
          <a:prstGeom prst="straightConnector1">
            <a:avLst/>
          </a:prstGeom>
          <a:noFill/>
          <a:ln cap="flat" cmpd="sng" w="12700">
            <a:solidFill>
              <a:srgbClr val="0A7EA4"/>
            </a:solidFill>
            <a:prstDash val="dash"/>
            <a:round/>
            <a:headEnd len="sm" w="sm" type="none"/>
            <a:tailEnd len="sm" w="sm" type="none"/>
          </a:ln>
        </p:spPr>
      </p:cxnSp>
      <p:sp>
        <p:nvSpPr>
          <p:cNvPr id="120" name="Google Shape;120;p8"/>
          <p:cNvSpPr/>
          <p:nvPr/>
        </p:nvSpPr>
        <p:spPr>
          <a:xfrm>
            <a:off x="6812280" y="1920240"/>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4 tables aligned to</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CompoundIQ project goals</a:t>
            </a:r>
            <a:endParaRPr b="0" i="0" sz="850" u="none" cap="none" strike="noStrike">
              <a:solidFill>
                <a:schemeClr val="dk1"/>
              </a:solidFill>
              <a:latin typeface="Calibri"/>
              <a:ea typeface="Calibri"/>
              <a:cs typeface="Calibri"/>
              <a:sym typeface="Calibri"/>
            </a:endParaRPr>
          </a:p>
        </p:txBody>
      </p:sp>
      <p:cxnSp>
        <p:nvCxnSpPr>
          <p:cNvPr id="121" name="Google Shape;121;p8"/>
          <p:cNvCxnSpPr/>
          <p:nvPr/>
        </p:nvCxnSpPr>
        <p:spPr>
          <a:xfrm>
            <a:off x="6601968" y="2953512"/>
            <a:ext cx="201168" cy="0"/>
          </a:xfrm>
          <a:prstGeom prst="straightConnector1">
            <a:avLst/>
          </a:prstGeom>
          <a:noFill/>
          <a:ln cap="flat" cmpd="sng" w="12700">
            <a:solidFill>
              <a:srgbClr val="0A7EA4"/>
            </a:solidFill>
            <a:prstDash val="dash"/>
            <a:round/>
            <a:headEnd len="sm" w="sm" type="none"/>
            <a:tailEnd len="sm" w="sm" type="none"/>
          </a:ln>
        </p:spPr>
      </p:cxnSp>
      <p:sp>
        <p:nvSpPr>
          <p:cNvPr id="122" name="Google Shape;122;p8"/>
          <p:cNvSpPr/>
          <p:nvPr/>
        </p:nvSpPr>
        <p:spPr>
          <a:xfrm>
            <a:off x="6812280" y="2788920"/>
            <a:ext cx="210312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Parquet format: faster</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access, reduced storage</a:t>
            </a:r>
            <a:endParaRPr b="0" i="0" sz="850" u="none" cap="none" strike="noStrike">
              <a:solidFill>
                <a:schemeClr val="dk1"/>
              </a:solidFill>
              <a:latin typeface="Calibri"/>
              <a:ea typeface="Calibri"/>
              <a:cs typeface="Calibri"/>
              <a:sym typeface="Calibri"/>
            </a:endParaRPr>
          </a:p>
        </p:txBody>
      </p:sp>
      <p:cxnSp>
        <p:nvCxnSpPr>
          <p:cNvPr id="123" name="Google Shape;123;p8"/>
          <p:cNvCxnSpPr/>
          <p:nvPr/>
        </p:nvCxnSpPr>
        <p:spPr>
          <a:xfrm>
            <a:off x="6601968" y="3931920"/>
            <a:ext cx="201168" cy="0"/>
          </a:xfrm>
          <a:prstGeom prst="straightConnector1">
            <a:avLst/>
          </a:prstGeom>
          <a:noFill/>
          <a:ln cap="flat" cmpd="sng" w="12700">
            <a:solidFill>
              <a:srgbClr val="0A7EA4"/>
            </a:solidFill>
            <a:prstDash val="dash"/>
            <a:round/>
            <a:headEnd len="sm" w="sm" type="none"/>
            <a:tailEnd len="sm" w="sm" type="none"/>
          </a:ln>
        </p:spPr>
      </p:cxnSp>
      <p:sp>
        <p:nvSpPr>
          <p:cNvPr id="124" name="Google Shape;124;p8"/>
          <p:cNvSpPr/>
          <p:nvPr/>
        </p:nvSpPr>
        <p:spPr>
          <a:xfrm>
            <a:off x="6812280" y="3767328"/>
            <a:ext cx="2103000" cy="411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Stored in Google Drive</a:t>
            </a:r>
            <a:endParaRPr b="0" i="0" sz="8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for team collaboration</a:t>
            </a:r>
            <a:endParaRPr b="0" i="0" sz="850" u="none" cap="none" strike="noStrike">
              <a:solidFill>
                <a:schemeClr val="dk1"/>
              </a:solidFill>
              <a:latin typeface="Calibri"/>
              <a:ea typeface="Calibri"/>
              <a:cs typeface="Calibri"/>
              <a:sym typeface="Calibri"/>
            </a:endParaRPr>
          </a:p>
        </p:txBody>
      </p:sp>
      <p:sp>
        <p:nvSpPr>
          <p:cNvPr id="125" name="Google Shape;125;p8"/>
          <p:cNvSpPr/>
          <p:nvPr/>
        </p:nvSpPr>
        <p:spPr>
          <a:xfrm>
            <a:off x="228600" y="2286000"/>
            <a:ext cx="2194560" cy="173736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8"/>
          <p:cNvSpPr/>
          <p:nvPr/>
        </p:nvSpPr>
        <p:spPr>
          <a:xfrm>
            <a:off x="228600" y="2286000"/>
            <a:ext cx="54864" cy="173736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8"/>
          <p:cNvSpPr/>
          <p:nvPr/>
        </p:nvSpPr>
        <p:spPr>
          <a:xfrm>
            <a:off x="338328" y="2359152"/>
            <a:ext cx="2029968" cy="16276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url = "http://sideeffects.embl.de/media/download/meddra_all_se.tsv.gz"</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df_sider = pd.read_csv(url, sep='\t', compression='gzip',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names=['stitch_id_flat','stitch_id_stereo',</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'umls_id','side_effect','meddra_type'])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df_sider.to_csv('data/raw/sider.csv', index=False)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 SIDER: 309,849 side effect records</a:t>
            </a:r>
            <a:endParaRPr b="0" i="0" sz="750" u="none" cap="none" strike="noStrike">
              <a:solidFill>
                <a:schemeClr val="dk1"/>
              </a:solidFill>
              <a:latin typeface="Calibri"/>
              <a:ea typeface="Calibri"/>
              <a:cs typeface="Calibri"/>
              <a:sym typeface="Calibri"/>
            </a:endParaRPr>
          </a:p>
        </p:txBody>
      </p:sp>
      <p:sp>
        <p:nvSpPr>
          <p:cNvPr id="128" name="Google Shape;128;p8"/>
          <p:cNvSpPr/>
          <p:nvPr/>
        </p:nvSpPr>
        <p:spPr>
          <a:xfrm>
            <a:off x="228600" y="4041648"/>
            <a:ext cx="2194560" cy="1828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750"/>
              <a:buFont typeface="Calibri"/>
              <a:buNone/>
            </a:pPr>
            <a:r>
              <a:rPr b="0" i="1" lang="en-US" sz="750" u="none" cap="none" strike="noStrike">
                <a:solidFill>
                  <a:srgbClr val="64748B"/>
                </a:solidFill>
                <a:latin typeface="Calibri"/>
                <a:ea typeface="Calibri"/>
                <a:cs typeface="Calibri"/>
                <a:sym typeface="Calibri"/>
              </a:rPr>
              <a:t>SIDER Download Code</a:t>
            </a:r>
            <a:endParaRPr b="0" i="0" sz="750" u="none" cap="none" strike="noStrike">
              <a:solidFill>
                <a:schemeClr val="dk1"/>
              </a:solidFill>
              <a:latin typeface="Calibri"/>
              <a:ea typeface="Calibri"/>
              <a:cs typeface="Calibri"/>
              <a:sym typeface="Calibri"/>
            </a:endParaRPr>
          </a:p>
        </p:txBody>
      </p:sp>
      <p:sp>
        <p:nvSpPr>
          <p:cNvPr id="129" name="Google Shape;129;p8"/>
          <p:cNvSpPr txBox="1"/>
          <p:nvPr/>
        </p:nvSpPr>
        <p:spPr>
          <a:xfrm>
            <a:off x="836250" y="4617725"/>
            <a:ext cx="7471500" cy="348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sz="1500">
                <a:solidFill>
                  <a:schemeClr val="dk2"/>
                </a:solidFill>
                <a:latin typeface="Calibri"/>
                <a:ea typeface="Calibri"/>
                <a:cs typeface="Calibri"/>
                <a:sym typeface="Calibri"/>
              </a:rPr>
              <a:t>Raw biomedical XML successfully transformed into structured, reusable datasets.</a:t>
            </a:r>
            <a:br>
              <a:rPr lang="en-US" sz="1500">
                <a:solidFill>
                  <a:schemeClr val="dk2"/>
                </a:solidFill>
                <a:latin typeface="Calibri"/>
                <a:ea typeface="Calibri"/>
                <a:cs typeface="Calibri"/>
                <a:sym typeface="Calibri"/>
              </a:rPr>
            </a:br>
            <a:endParaRPr sz="1500">
              <a:solidFill>
                <a:schemeClr val="dk2"/>
              </a:solidFill>
              <a:latin typeface="Calibri"/>
              <a:ea typeface="Calibri"/>
              <a:cs typeface="Calibri"/>
              <a:sym typeface="Calibri"/>
            </a:endParaRPr>
          </a:p>
          <a:p>
            <a:pPr indent="0" lvl="0" marL="0" rtl="0" algn="l">
              <a:spcBef>
                <a:spcPts val="0"/>
              </a:spcBef>
              <a:spcAft>
                <a:spcPts val="0"/>
              </a:spcAft>
              <a:buNone/>
            </a:pPr>
            <a:r>
              <a:t/>
            </a:r>
            <a:endParaRPr sz="1500">
              <a:solidFill>
                <a:schemeClr val="dk2"/>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134" name="Shape 134"/>
        <p:cNvGrpSpPr/>
        <p:nvPr/>
      </p:nvGrpSpPr>
      <p:grpSpPr>
        <a:xfrm>
          <a:off x="0" y="0"/>
          <a:ext cx="0" cy="0"/>
          <a:chOff x="0" y="0"/>
          <a:chExt cx="0" cy="0"/>
        </a:xfrm>
      </p:grpSpPr>
      <p:sp>
        <p:nvSpPr>
          <p:cNvPr id="135" name="Google Shape;135;p9"/>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5  |  Data Preprocessing &amp; Feature Engineering</a:t>
            </a:r>
            <a:endParaRPr b="0" i="0" sz="2000" u="none" cap="none" strike="noStrike">
              <a:solidFill>
                <a:schemeClr val="dk1"/>
              </a:solidFill>
              <a:latin typeface="Calibri"/>
              <a:ea typeface="Calibri"/>
              <a:cs typeface="Calibri"/>
              <a:sym typeface="Calibri"/>
            </a:endParaRPr>
          </a:p>
        </p:txBody>
      </p:sp>
      <p:sp>
        <p:nvSpPr>
          <p:cNvPr id="137" name="Google Shape;137;p9"/>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5</a:t>
            </a:r>
            <a:endParaRPr b="0" i="0" sz="900" u="none" cap="none" strike="noStrike">
              <a:solidFill>
                <a:schemeClr val="dk1"/>
              </a:solidFill>
              <a:latin typeface="Calibri"/>
              <a:ea typeface="Calibri"/>
              <a:cs typeface="Calibri"/>
              <a:sym typeface="Calibri"/>
            </a:endParaRPr>
          </a:p>
        </p:txBody>
      </p:sp>
      <p:sp>
        <p:nvSpPr>
          <p:cNvPr id="139" name="Google Shape;139;p9"/>
          <p:cNvSpPr/>
          <p:nvPr/>
        </p:nvSpPr>
        <p:spPr>
          <a:xfrm>
            <a:off x="169475" y="1474472"/>
            <a:ext cx="2743200" cy="21945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
          <p:cNvSpPr/>
          <p:nvPr/>
        </p:nvSpPr>
        <p:spPr>
          <a:xfrm>
            <a:off x="169475" y="1474472"/>
            <a:ext cx="54900" cy="2194500"/>
          </a:xfrm>
          <a:prstGeom prst="rect">
            <a:avLst/>
          </a:prstGeom>
          <a:solidFill>
            <a:srgbClr val="F59E0B"/>
          </a:solidFill>
          <a:ln cap="flat" cmpd="sng" w="12700">
            <a:solidFill>
              <a:srgbClr val="F59E0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9"/>
          <p:cNvSpPr/>
          <p:nvPr/>
        </p:nvSpPr>
        <p:spPr>
          <a:xfrm>
            <a:off x="352355" y="1565912"/>
            <a:ext cx="2423100" cy="320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300"/>
              <a:buFont typeface="Calibri"/>
              <a:buNone/>
            </a:pPr>
            <a:r>
              <a:rPr b="1" i="0" lang="en-US" sz="1300" u="none" cap="none" strike="noStrike">
                <a:solidFill>
                  <a:srgbClr val="0D1B2A"/>
                </a:solidFill>
                <a:latin typeface="Calibri"/>
                <a:ea typeface="Calibri"/>
                <a:cs typeface="Calibri"/>
                <a:sym typeface="Calibri"/>
              </a:rPr>
              <a:t>Data Cleaning</a:t>
            </a:r>
            <a:endParaRPr b="0" i="0" sz="1300" u="none" cap="none" strike="noStrike">
              <a:solidFill>
                <a:schemeClr val="dk1"/>
              </a:solidFill>
              <a:latin typeface="Calibri"/>
              <a:ea typeface="Calibri"/>
              <a:cs typeface="Calibri"/>
              <a:sym typeface="Calibri"/>
            </a:endParaRPr>
          </a:p>
        </p:txBody>
      </p:sp>
      <p:sp>
        <p:nvSpPr>
          <p:cNvPr id="142" name="Google Shape;142;p9"/>
          <p:cNvSpPr/>
          <p:nvPr/>
        </p:nvSpPr>
        <p:spPr>
          <a:xfrm>
            <a:off x="352355" y="1931672"/>
            <a:ext cx="2423100" cy="1554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Initial extraction: ~1M rows (duplicated entries from XML parsing)</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Reduced to ~19K unique drugs (one row per DrugBank ID)</a:t>
            </a:r>
            <a:endParaRPr b="0" i="0" sz="9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00"/>
              <a:buFont typeface="Calibri"/>
              <a:buChar char="•"/>
            </a:pPr>
            <a:r>
              <a:rPr b="0" i="0" lang="en-US" sz="900" u="none" cap="none" strike="noStrike">
                <a:solidFill>
                  <a:srgbClr val="64748B"/>
                </a:solidFill>
                <a:latin typeface="Calibri"/>
                <a:ea typeface="Calibri"/>
                <a:cs typeface="Calibri"/>
                <a:sym typeface="Calibri"/>
              </a:rPr>
              <a:t>Standardized data types &amp; handled missing values</a:t>
            </a:r>
            <a:endParaRPr b="0" i="0" sz="900" u="none" cap="none" strike="noStrike">
              <a:solidFill>
                <a:schemeClr val="dk1"/>
              </a:solidFill>
              <a:latin typeface="Calibri"/>
              <a:ea typeface="Calibri"/>
              <a:cs typeface="Calibri"/>
              <a:sym typeface="Calibri"/>
            </a:endParaRPr>
          </a:p>
        </p:txBody>
      </p:sp>
      <p:sp>
        <p:nvSpPr>
          <p:cNvPr id="143" name="Google Shape;143;p9"/>
          <p:cNvSpPr/>
          <p:nvPr/>
        </p:nvSpPr>
        <p:spPr>
          <a:xfrm>
            <a:off x="3193000" y="2046197"/>
            <a:ext cx="1828800" cy="21945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9"/>
          <p:cNvSpPr/>
          <p:nvPr/>
        </p:nvSpPr>
        <p:spPr>
          <a:xfrm>
            <a:off x="3193000" y="2046197"/>
            <a:ext cx="1828800" cy="347400"/>
          </a:xfrm>
          <a:prstGeom prst="rect">
            <a:avLst/>
          </a:prstGeom>
          <a:solidFill>
            <a:srgbClr val="1A6A8C"/>
          </a:solidFill>
          <a:ln cap="flat" cmpd="sng" w="12700">
            <a:solidFill>
              <a:srgbClr val="1A6A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9"/>
          <p:cNvSpPr/>
          <p:nvPr/>
        </p:nvSpPr>
        <p:spPr>
          <a:xfrm>
            <a:off x="3193000" y="2046197"/>
            <a:ext cx="182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Interaction Features</a:t>
            </a:r>
            <a:endParaRPr b="0" i="0" sz="900" u="none" cap="none" strike="noStrike">
              <a:solidFill>
                <a:schemeClr val="dk1"/>
              </a:solidFill>
              <a:latin typeface="Calibri"/>
              <a:ea typeface="Calibri"/>
              <a:cs typeface="Calibri"/>
              <a:sym typeface="Calibri"/>
            </a:endParaRPr>
          </a:p>
        </p:txBody>
      </p:sp>
      <p:sp>
        <p:nvSpPr>
          <p:cNvPr id="146" name="Google Shape;146;p9"/>
          <p:cNvSpPr/>
          <p:nvPr/>
        </p:nvSpPr>
        <p:spPr>
          <a:xfrm>
            <a:off x="3284440" y="2448533"/>
            <a:ext cx="1664100" cy="162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800">
                <a:solidFill>
                  <a:schemeClr val="dk1"/>
                </a:solidFill>
              </a:rPr>
              <a:t>Feature:</a:t>
            </a:r>
            <a:r>
              <a:rPr lang="en-US" sz="800">
                <a:solidFill>
                  <a:schemeClr val="dk1"/>
                </a:solidFill>
              </a:rPr>
              <a:t> </a:t>
            </a:r>
            <a:r>
              <a:rPr lang="en-US" sz="800">
                <a:solidFill>
                  <a:srgbClr val="188038"/>
                </a:solidFill>
                <a:latin typeface="Roboto Mono"/>
                <a:ea typeface="Roboto Mono"/>
                <a:cs typeface="Roboto Mono"/>
                <a:sym typeface="Roboto Mono"/>
              </a:rPr>
              <a:t>total_interactions</a:t>
            </a:r>
            <a:br>
              <a:rPr lang="en-US" sz="800">
                <a:solidFill>
                  <a:srgbClr val="188038"/>
                </a:solidFill>
                <a:latin typeface="Roboto Mono"/>
                <a:ea typeface="Roboto Mono"/>
                <a:cs typeface="Roboto Mono"/>
                <a:sym typeface="Roboto Mono"/>
              </a:rPr>
            </a:br>
            <a:endParaRPr sz="8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rPr>
              <a:t>What it measures:</a:t>
            </a:r>
            <a:r>
              <a:rPr lang="en-US" sz="800">
                <a:solidFill>
                  <a:schemeClr val="dk1"/>
                </a:solidFill>
              </a:rPr>
              <a:t> Number of documented drug–drug interactions per compound</a:t>
            </a:r>
            <a:br>
              <a:rPr lang="en-US" sz="800">
                <a:solidFill>
                  <a:schemeClr val="dk1"/>
                </a:solidFill>
              </a:rPr>
            </a:br>
            <a:endParaRPr sz="800">
              <a:solidFill>
                <a:schemeClr val="dk1"/>
              </a:solidFill>
            </a:endParaRPr>
          </a:p>
          <a:p>
            <a:pPr indent="0" lvl="0" marL="0" rtl="0" algn="l">
              <a:spcBef>
                <a:spcPts val="0"/>
              </a:spcBef>
              <a:spcAft>
                <a:spcPts val="0"/>
              </a:spcAft>
              <a:buClr>
                <a:schemeClr val="dk1"/>
              </a:buClr>
              <a:buSzPts val="1100"/>
              <a:buFont typeface="Arial"/>
              <a:buNone/>
            </a:pPr>
            <a:r>
              <a:rPr b="1" lang="en-US" sz="800">
                <a:solidFill>
                  <a:schemeClr val="dk1"/>
                </a:solidFill>
              </a:rPr>
              <a:t>Why:</a:t>
            </a:r>
            <a:r>
              <a:rPr lang="en-US" sz="800">
                <a:solidFill>
                  <a:schemeClr val="dk1"/>
                </a:solidFill>
              </a:rPr>
              <a:t> Higher interaction counts suggest greater pharmacological complexity and safety considerations</a:t>
            </a:r>
            <a:endParaRPr sz="800">
              <a:solidFill>
                <a:schemeClr val="dk1"/>
              </a:solidFill>
            </a:endParaRPr>
          </a:p>
          <a:p>
            <a:pPr indent="0" lvl="0" marL="0" marR="0" rtl="0" algn="l">
              <a:spcBef>
                <a:spcPts val="0"/>
              </a:spcBef>
              <a:spcAft>
                <a:spcPts val="0"/>
              </a:spcAft>
              <a:buNone/>
            </a:pPr>
            <a:r>
              <a:t/>
            </a:r>
            <a:endParaRPr sz="550">
              <a:solidFill>
                <a:srgbClr val="64748B"/>
              </a:solidFill>
              <a:latin typeface="Calibri"/>
              <a:ea typeface="Calibri"/>
              <a:cs typeface="Calibri"/>
              <a:sym typeface="Calibri"/>
            </a:endParaRPr>
          </a:p>
        </p:txBody>
      </p:sp>
      <p:sp>
        <p:nvSpPr>
          <p:cNvPr id="147" name="Google Shape;147;p9"/>
          <p:cNvSpPr/>
          <p:nvPr/>
        </p:nvSpPr>
        <p:spPr>
          <a:xfrm>
            <a:off x="5158960" y="2046197"/>
            <a:ext cx="1828800" cy="21945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9"/>
          <p:cNvSpPr/>
          <p:nvPr/>
        </p:nvSpPr>
        <p:spPr>
          <a:xfrm>
            <a:off x="5158960" y="2046197"/>
            <a:ext cx="1828800" cy="347400"/>
          </a:xfrm>
          <a:prstGeom prst="rect">
            <a:avLst/>
          </a:prstGeom>
          <a:solidFill>
            <a:srgbClr val="145E4E"/>
          </a:solidFill>
          <a:ln cap="flat" cmpd="sng" w="12700">
            <a:solidFill>
              <a:srgbClr val="145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9"/>
          <p:cNvSpPr/>
          <p:nvPr/>
        </p:nvSpPr>
        <p:spPr>
          <a:xfrm>
            <a:off x="5158960" y="2046197"/>
            <a:ext cx="182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Metabolic (CYP) Features</a:t>
            </a:r>
            <a:endParaRPr b="0" i="0" sz="900" u="none" cap="none" strike="noStrike">
              <a:solidFill>
                <a:schemeClr val="dk1"/>
              </a:solidFill>
              <a:latin typeface="Calibri"/>
              <a:ea typeface="Calibri"/>
              <a:cs typeface="Calibri"/>
              <a:sym typeface="Calibri"/>
            </a:endParaRPr>
          </a:p>
        </p:txBody>
      </p:sp>
      <p:sp>
        <p:nvSpPr>
          <p:cNvPr id="150" name="Google Shape;150;p9"/>
          <p:cNvSpPr/>
          <p:nvPr/>
        </p:nvSpPr>
        <p:spPr>
          <a:xfrm>
            <a:off x="5250400" y="2448533"/>
            <a:ext cx="1664100" cy="162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800">
                <a:solidFill>
                  <a:schemeClr val="dk1"/>
                </a:solidFill>
              </a:rPr>
              <a:t>Feature:</a:t>
            </a:r>
            <a:r>
              <a:rPr lang="en-US" sz="800">
                <a:solidFill>
                  <a:schemeClr val="dk1"/>
                </a:solidFill>
              </a:rPr>
              <a:t> </a:t>
            </a:r>
            <a:r>
              <a:rPr lang="en-US" sz="800">
                <a:solidFill>
                  <a:srgbClr val="188038"/>
                </a:solidFill>
                <a:latin typeface="Roboto Mono"/>
                <a:ea typeface="Roboto Mono"/>
                <a:cs typeface="Roboto Mono"/>
                <a:sym typeface="Roboto Mono"/>
              </a:rPr>
              <a:t>n_unique_cyp</a:t>
            </a:r>
            <a:br>
              <a:rPr lang="en-US" sz="800">
                <a:solidFill>
                  <a:srgbClr val="188038"/>
                </a:solidFill>
                <a:latin typeface="Roboto Mono"/>
                <a:ea typeface="Roboto Mono"/>
                <a:cs typeface="Roboto Mono"/>
                <a:sym typeface="Roboto Mono"/>
              </a:rPr>
            </a:br>
            <a:endParaRPr sz="8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rPr>
              <a:t>What it measures:</a:t>
            </a:r>
            <a:r>
              <a:rPr lang="en-US" sz="800">
                <a:solidFill>
                  <a:schemeClr val="dk1"/>
                </a:solidFill>
              </a:rPr>
              <a:t> Number of unique cytochrome P450 enzymes associated with a drug</a:t>
            </a:r>
            <a:br>
              <a:rPr lang="en-US" sz="800">
                <a:solidFill>
                  <a:schemeClr val="dk1"/>
                </a:solidFill>
              </a:rPr>
            </a:br>
            <a:endParaRPr sz="800">
              <a:solidFill>
                <a:schemeClr val="dk1"/>
              </a:solidFill>
            </a:endParaRPr>
          </a:p>
          <a:p>
            <a:pPr indent="0" lvl="0" marL="0" rtl="0" algn="l">
              <a:spcBef>
                <a:spcPts val="0"/>
              </a:spcBef>
              <a:spcAft>
                <a:spcPts val="0"/>
              </a:spcAft>
              <a:buClr>
                <a:schemeClr val="dk1"/>
              </a:buClr>
              <a:buSzPts val="1100"/>
              <a:buFont typeface="Arial"/>
              <a:buNone/>
            </a:pPr>
            <a:r>
              <a:rPr b="1" lang="en-US" sz="800">
                <a:solidFill>
                  <a:schemeClr val="dk1"/>
                </a:solidFill>
              </a:rPr>
              <a:t>Why:</a:t>
            </a:r>
            <a:r>
              <a:rPr lang="en-US" sz="800">
                <a:solidFill>
                  <a:schemeClr val="dk1"/>
                </a:solidFill>
              </a:rPr>
              <a:t> CYP enzymes drive drug metabolism; more CYP involvement increases variability and interaction risk</a:t>
            </a:r>
            <a:endParaRPr sz="800">
              <a:solidFill>
                <a:schemeClr val="dk1"/>
              </a:solidFill>
            </a:endParaRPr>
          </a:p>
          <a:p>
            <a:pPr indent="0" lvl="0" marL="0" marR="0" rtl="0" algn="l">
              <a:spcBef>
                <a:spcPts val="0"/>
              </a:spcBef>
              <a:spcAft>
                <a:spcPts val="0"/>
              </a:spcAft>
              <a:buNone/>
            </a:pPr>
            <a:r>
              <a:t/>
            </a:r>
            <a:endParaRPr sz="550">
              <a:solidFill>
                <a:srgbClr val="64748B"/>
              </a:solidFill>
              <a:latin typeface="Calibri"/>
              <a:ea typeface="Calibri"/>
              <a:cs typeface="Calibri"/>
              <a:sym typeface="Calibri"/>
            </a:endParaRPr>
          </a:p>
        </p:txBody>
      </p:sp>
      <p:sp>
        <p:nvSpPr>
          <p:cNvPr id="151" name="Google Shape;151;p9"/>
          <p:cNvSpPr/>
          <p:nvPr/>
        </p:nvSpPr>
        <p:spPr>
          <a:xfrm>
            <a:off x="7124920" y="2046197"/>
            <a:ext cx="1828800" cy="21945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9"/>
          <p:cNvSpPr/>
          <p:nvPr/>
        </p:nvSpPr>
        <p:spPr>
          <a:xfrm>
            <a:off x="7124920" y="2046197"/>
            <a:ext cx="1828800" cy="347400"/>
          </a:xfrm>
          <a:prstGeom prst="rect">
            <a:avLst/>
          </a:prstGeom>
          <a:solidFill>
            <a:srgbClr val="7B3FA0"/>
          </a:solidFill>
          <a:ln cap="flat" cmpd="sng" w="12700">
            <a:solidFill>
              <a:srgbClr val="7B3FA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9"/>
          <p:cNvSpPr/>
          <p:nvPr/>
        </p:nvSpPr>
        <p:spPr>
          <a:xfrm>
            <a:off x="7124920" y="2046197"/>
            <a:ext cx="1828800" cy="347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Safety Complexity Score</a:t>
            </a:r>
            <a:endParaRPr b="0" i="0" sz="900" u="none" cap="none" strike="noStrike">
              <a:solidFill>
                <a:schemeClr val="dk1"/>
              </a:solidFill>
              <a:latin typeface="Calibri"/>
              <a:ea typeface="Calibri"/>
              <a:cs typeface="Calibri"/>
              <a:sym typeface="Calibri"/>
            </a:endParaRPr>
          </a:p>
        </p:txBody>
      </p:sp>
      <p:sp>
        <p:nvSpPr>
          <p:cNvPr id="154" name="Google Shape;154;p9"/>
          <p:cNvSpPr/>
          <p:nvPr/>
        </p:nvSpPr>
        <p:spPr>
          <a:xfrm>
            <a:off x="7216360" y="2448533"/>
            <a:ext cx="1664100" cy="16275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800">
                <a:solidFill>
                  <a:schemeClr val="dk1"/>
                </a:solidFill>
              </a:rPr>
              <a:t>Feature:</a:t>
            </a:r>
            <a:r>
              <a:rPr lang="en-US" sz="800">
                <a:solidFill>
                  <a:schemeClr val="dk1"/>
                </a:solidFill>
              </a:rPr>
              <a:t> </a:t>
            </a:r>
            <a:r>
              <a:rPr lang="en-US" sz="800">
                <a:solidFill>
                  <a:srgbClr val="188038"/>
                </a:solidFill>
                <a:latin typeface="Roboto Mono"/>
                <a:ea typeface="Roboto Mono"/>
                <a:cs typeface="Roboto Mono"/>
                <a:sym typeface="Roboto Mono"/>
              </a:rPr>
              <a:t>safety_complexity_score</a:t>
            </a:r>
            <a:br>
              <a:rPr lang="en-US" sz="800">
                <a:solidFill>
                  <a:srgbClr val="188038"/>
                </a:solidFill>
                <a:latin typeface="Roboto Mono"/>
                <a:ea typeface="Roboto Mono"/>
                <a:cs typeface="Roboto Mono"/>
                <a:sym typeface="Roboto Mono"/>
              </a:rPr>
            </a:br>
            <a:endParaRPr sz="800">
              <a:solidFill>
                <a:srgbClr val="188038"/>
              </a:solidFill>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US" sz="800">
                <a:solidFill>
                  <a:schemeClr val="dk1"/>
                </a:solidFill>
              </a:rPr>
              <a:t>What it measures:</a:t>
            </a:r>
            <a:r>
              <a:rPr lang="en-US" sz="800">
                <a:solidFill>
                  <a:schemeClr val="dk1"/>
                </a:solidFill>
              </a:rPr>
              <a:t> Composite metric combining interaction burden and metabolic diversity</a:t>
            </a:r>
            <a:br>
              <a:rPr lang="en-US" sz="800">
                <a:solidFill>
                  <a:schemeClr val="dk1"/>
                </a:solidFill>
              </a:rPr>
            </a:br>
            <a:endParaRPr sz="800">
              <a:solidFill>
                <a:schemeClr val="dk1"/>
              </a:solidFill>
            </a:endParaRPr>
          </a:p>
          <a:p>
            <a:pPr indent="0" lvl="0" marL="0" rtl="0" algn="l">
              <a:spcBef>
                <a:spcPts val="0"/>
              </a:spcBef>
              <a:spcAft>
                <a:spcPts val="0"/>
              </a:spcAft>
              <a:buClr>
                <a:schemeClr val="dk1"/>
              </a:buClr>
              <a:buSzPts val="1100"/>
              <a:buFont typeface="Arial"/>
              <a:buNone/>
            </a:pPr>
            <a:r>
              <a:rPr b="1" lang="en-US" sz="800">
                <a:solidFill>
                  <a:schemeClr val="dk1"/>
                </a:solidFill>
              </a:rPr>
              <a:t>Why:</a:t>
            </a:r>
            <a:r>
              <a:rPr lang="en-US" sz="800">
                <a:solidFill>
                  <a:schemeClr val="dk1"/>
                </a:solidFill>
              </a:rPr>
              <a:t> Creates a normalized summary measure of pharmacological safety complexity</a:t>
            </a:r>
            <a:endParaRPr sz="800">
              <a:solidFill>
                <a:schemeClr val="dk1"/>
              </a:solidFill>
            </a:endParaRPr>
          </a:p>
          <a:p>
            <a:pPr indent="0" lvl="0" marL="0" marR="0" rtl="0" algn="l">
              <a:spcBef>
                <a:spcPts val="0"/>
              </a:spcBef>
              <a:spcAft>
                <a:spcPts val="0"/>
              </a:spcAft>
              <a:buNone/>
            </a:pPr>
            <a:r>
              <a:t/>
            </a:r>
            <a:endParaRPr sz="550">
              <a:solidFill>
                <a:srgbClr val="64748B"/>
              </a:solidFill>
              <a:latin typeface="Calibri"/>
              <a:ea typeface="Calibri"/>
              <a:cs typeface="Calibri"/>
              <a:sym typeface="Calibri"/>
            </a:endParaRPr>
          </a:p>
        </p:txBody>
      </p:sp>
      <p:sp>
        <p:nvSpPr>
          <p:cNvPr id="155" name="Google Shape;155;p9"/>
          <p:cNvSpPr/>
          <p:nvPr/>
        </p:nvSpPr>
        <p:spPr>
          <a:xfrm>
            <a:off x="4782008" y="852980"/>
            <a:ext cx="26061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lang="en-US">
                <a:solidFill>
                  <a:srgbClr val="0D1B2A"/>
                </a:solidFill>
                <a:latin typeface="Calibri"/>
                <a:ea typeface="Calibri"/>
                <a:cs typeface="Calibri"/>
                <a:sym typeface="Calibri"/>
              </a:rPr>
              <a:t>Engineered Features Capturing: </a:t>
            </a:r>
            <a:endParaRPr b="0" i="0" u="none" cap="none" strike="noStrike">
              <a:solidFill>
                <a:schemeClr val="dk1"/>
              </a:solidFill>
              <a:latin typeface="Calibri"/>
              <a:ea typeface="Calibri"/>
              <a:cs typeface="Calibri"/>
              <a:sym typeface="Calibri"/>
            </a:endParaRPr>
          </a:p>
        </p:txBody>
      </p:sp>
      <p:cxnSp>
        <p:nvCxnSpPr>
          <p:cNvPr id="156" name="Google Shape;156;p9"/>
          <p:cNvCxnSpPr/>
          <p:nvPr/>
        </p:nvCxnSpPr>
        <p:spPr>
          <a:xfrm flipH="1">
            <a:off x="4182900" y="1241525"/>
            <a:ext cx="820200" cy="546900"/>
          </a:xfrm>
          <a:prstGeom prst="straightConnector1">
            <a:avLst/>
          </a:prstGeom>
          <a:noFill/>
          <a:ln cap="flat" cmpd="sng" w="19050">
            <a:solidFill>
              <a:schemeClr val="dk2"/>
            </a:solidFill>
            <a:prstDash val="solid"/>
            <a:round/>
            <a:headEnd len="med" w="med" type="none"/>
            <a:tailEnd len="med" w="med" type="triangle"/>
          </a:ln>
        </p:spPr>
      </p:cxnSp>
      <p:cxnSp>
        <p:nvCxnSpPr>
          <p:cNvPr id="157" name="Google Shape;157;p9"/>
          <p:cNvCxnSpPr/>
          <p:nvPr/>
        </p:nvCxnSpPr>
        <p:spPr>
          <a:xfrm>
            <a:off x="6073358" y="1234155"/>
            <a:ext cx="23400" cy="650400"/>
          </a:xfrm>
          <a:prstGeom prst="straightConnector1">
            <a:avLst/>
          </a:prstGeom>
          <a:noFill/>
          <a:ln cap="flat" cmpd="sng" w="19050">
            <a:solidFill>
              <a:schemeClr val="dk2"/>
            </a:solidFill>
            <a:prstDash val="solid"/>
            <a:round/>
            <a:headEnd len="med" w="med" type="none"/>
            <a:tailEnd len="med" w="med" type="triangle"/>
          </a:ln>
        </p:spPr>
      </p:cxnSp>
      <p:cxnSp>
        <p:nvCxnSpPr>
          <p:cNvPr id="158" name="Google Shape;158;p9"/>
          <p:cNvCxnSpPr/>
          <p:nvPr/>
        </p:nvCxnSpPr>
        <p:spPr>
          <a:xfrm>
            <a:off x="7131425" y="1226750"/>
            <a:ext cx="776100" cy="642900"/>
          </a:xfrm>
          <a:prstGeom prst="straightConnector1">
            <a:avLst/>
          </a:prstGeom>
          <a:noFill/>
          <a:ln cap="flat" cmpd="sng" w="19050">
            <a:solidFill>
              <a:schemeClr val="dk2"/>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10"/>
          <p:cNvSpPr/>
          <p:nvPr/>
        </p:nvSpPr>
        <p:spPr>
          <a:xfrm>
            <a:off x="177350" y="1426275"/>
            <a:ext cx="4485900" cy="2424000"/>
          </a:xfrm>
          <a:prstGeom prst="rect">
            <a:avLst/>
          </a:prstGeom>
          <a:solidFill>
            <a:srgbClr val="C8EFF7"/>
          </a:solidFill>
          <a:ln cap="flat" cmpd="sng" w="12700">
            <a:solidFill>
              <a:srgbClr val="C8EFF7"/>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10"/>
          <p:cNvPicPr preferRelativeResize="0"/>
          <p:nvPr/>
        </p:nvPicPr>
        <p:blipFill rotWithShape="1">
          <a:blip r:embed="rId3">
            <a:alphaModFix/>
          </a:blip>
          <a:srcRect b="30297" l="12474" r="6782" t="30602"/>
          <a:stretch/>
        </p:blipFill>
        <p:spPr>
          <a:xfrm>
            <a:off x="273875" y="1540103"/>
            <a:ext cx="4135800" cy="2169622"/>
          </a:xfrm>
          <a:prstGeom prst="rect">
            <a:avLst/>
          </a:prstGeom>
          <a:noFill/>
          <a:ln>
            <a:noFill/>
          </a:ln>
        </p:spPr>
      </p:pic>
      <p:sp>
        <p:nvSpPr>
          <p:cNvPr id="165" name="Google Shape;165;p10"/>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0"/>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5  |  Data Preprocessing &amp; Feature Engineering - Example</a:t>
            </a:r>
            <a:endParaRPr b="0" i="0" sz="2000" u="none" cap="none" strike="noStrike">
              <a:solidFill>
                <a:schemeClr val="dk1"/>
              </a:solidFill>
              <a:latin typeface="Calibri"/>
              <a:ea typeface="Calibri"/>
              <a:cs typeface="Calibri"/>
              <a:sym typeface="Calibri"/>
            </a:endParaRPr>
          </a:p>
        </p:txBody>
      </p:sp>
      <p:sp>
        <p:nvSpPr>
          <p:cNvPr id="167" name="Google Shape;167;p10"/>
          <p:cNvSpPr/>
          <p:nvPr/>
        </p:nvSpPr>
        <p:spPr>
          <a:xfrm>
            <a:off x="5639700" y="955977"/>
            <a:ext cx="2743200" cy="32490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0"/>
          <p:cNvSpPr/>
          <p:nvPr/>
        </p:nvSpPr>
        <p:spPr>
          <a:xfrm>
            <a:off x="5639700" y="955972"/>
            <a:ext cx="2743200" cy="5841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5639700" y="955975"/>
            <a:ext cx="2743200" cy="551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100"/>
              <a:buFont typeface="Arial"/>
              <a:buNone/>
            </a:pPr>
            <a:r>
              <a:rPr b="1" lang="en-US" sz="1300">
                <a:solidFill>
                  <a:schemeClr val="lt1"/>
                </a:solidFill>
                <a:latin typeface="Calibri"/>
                <a:ea typeface="Calibri"/>
                <a:cs typeface="Calibri"/>
                <a:sym typeface="Calibri"/>
              </a:rPr>
              <a:t>“Top Safety Complexity (not intrinsic danger)”</a:t>
            </a:r>
            <a:endParaRPr i="0" sz="600" u="none" cap="none" strike="noStrike">
              <a:solidFill>
                <a:schemeClr val="lt1"/>
              </a:solidFill>
              <a:latin typeface="Calibri"/>
              <a:ea typeface="Calibri"/>
              <a:cs typeface="Calibri"/>
              <a:sym typeface="Calibri"/>
            </a:endParaRPr>
          </a:p>
        </p:txBody>
      </p:sp>
      <p:sp>
        <p:nvSpPr>
          <p:cNvPr id="170" name="Google Shape;170;p10"/>
          <p:cNvSpPr/>
          <p:nvPr/>
        </p:nvSpPr>
        <p:spPr>
          <a:xfrm>
            <a:off x="5749425" y="1916101"/>
            <a:ext cx="2523600" cy="2289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solidFill>
                  <a:schemeClr val="dk2"/>
                </a:solidFill>
                <a:latin typeface="Calibri"/>
                <a:ea typeface="Calibri"/>
                <a:cs typeface="Calibri"/>
                <a:sym typeface="Calibri"/>
              </a:rPr>
              <a:t>The highest scoring drugs correspond to well-known interaction-heavy medications, suggesting the engineered safety complexity score aligns with real pharmacological knowledge.</a:t>
            </a:r>
            <a:endParaRPr i="0" sz="550" u="none" cap="none" strike="noStrike">
              <a:solidFill>
                <a:schemeClr val="dk1"/>
              </a:solidFill>
              <a:latin typeface="Calibri"/>
              <a:ea typeface="Calibri"/>
              <a:cs typeface="Calibri"/>
              <a:sym typeface="Calibri"/>
            </a:endParaRPr>
          </a:p>
        </p:txBody>
      </p:sp>
      <p:cxnSp>
        <p:nvCxnSpPr>
          <p:cNvPr id="171" name="Google Shape;171;p10"/>
          <p:cNvCxnSpPr/>
          <p:nvPr/>
        </p:nvCxnSpPr>
        <p:spPr>
          <a:xfrm rot="10800000">
            <a:off x="4811100" y="2919035"/>
            <a:ext cx="828600" cy="258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5" name="Shape 175"/>
        <p:cNvGrpSpPr/>
        <p:nvPr/>
      </p:nvGrpSpPr>
      <p:grpSpPr>
        <a:xfrm>
          <a:off x="0" y="0"/>
          <a:ext cx="0" cy="0"/>
          <a:chOff x="0" y="0"/>
          <a:chExt cx="0" cy="0"/>
        </a:xfrm>
      </p:grpSpPr>
      <p:sp>
        <p:nvSpPr>
          <p:cNvPr id="176" name="Google Shape;176;p11"/>
          <p:cNvSpPr/>
          <p:nvPr/>
        </p:nvSpPr>
        <p:spPr>
          <a:xfrm>
            <a:off x="0" y="0"/>
            <a:ext cx="9144000" cy="6585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a:off x="365760" y="0"/>
            <a:ext cx="8229600" cy="658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5  |  Data Preprocessing &amp; Feature Engineering</a:t>
            </a:r>
            <a:endParaRPr b="0" i="0" sz="2000" u="none" cap="none" strike="noStrike">
              <a:solidFill>
                <a:schemeClr val="dk1"/>
              </a:solidFill>
              <a:latin typeface="Calibri"/>
              <a:ea typeface="Calibri"/>
              <a:cs typeface="Calibri"/>
              <a:sym typeface="Calibri"/>
            </a:endParaRPr>
          </a:p>
        </p:txBody>
      </p:sp>
      <p:sp>
        <p:nvSpPr>
          <p:cNvPr id="178" name="Google Shape;178;p11"/>
          <p:cNvSpPr/>
          <p:nvPr/>
        </p:nvSpPr>
        <p:spPr>
          <a:xfrm>
            <a:off x="2911675" y="1187075"/>
            <a:ext cx="2679000" cy="3104700"/>
          </a:xfrm>
          <a:prstGeom prst="rect">
            <a:avLst/>
          </a:prstGeom>
          <a:solidFill>
            <a:srgbClr val="FFFFFF"/>
          </a:solidFill>
          <a:ln cap="flat" cmpd="sng" w="17600">
            <a:solidFill>
              <a:srgbClr val="D1E8F0"/>
            </a:solidFill>
            <a:prstDash val="solid"/>
            <a:round/>
            <a:headEnd len="sm" w="sm" type="none"/>
            <a:tailEnd len="sm" w="sm" type="none"/>
          </a:ln>
          <a:effectLst>
            <a:outerShdw blurRad="105689" rotWithShape="0" algn="bl" dir="8100000" dist="35230">
              <a:srgbClr val="000000">
                <a:alpha val="7840"/>
              </a:srgbClr>
            </a:outerShdw>
          </a:effectLst>
        </p:spPr>
        <p:txBody>
          <a:bodyPr anchorCtr="0" anchor="ctr" bIns="126800" lIns="126800" spcFirstLastPara="1" rIns="126800" wrap="square" tIns="126800">
            <a:noAutofit/>
          </a:bodyPr>
          <a:lstStyle/>
          <a:p>
            <a:pPr indent="0" lvl="0" marL="0" rtl="0" algn="l">
              <a:spcBef>
                <a:spcPts val="0"/>
              </a:spcBef>
              <a:spcAft>
                <a:spcPts val="0"/>
              </a:spcAft>
              <a:buNone/>
            </a:pPr>
            <a:r>
              <a:t/>
            </a:r>
            <a:endParaRPr sz="1500"/>
          </a:p>
        </p:txBody>
      </p:sp>
      <p:sp>
        <p:nvSpPr>
          <p:cNvPr id="179" name="Google Shape;179;p11"/>
          <p:cNvSpPr/>
          <p:nvPr/>
        </p:nvSpPr>
        <p:spPr>
          <a:xfrm>
            <a:off x="2911675" y="1187075"/>
            <a:ext cx="2662500" cy="482100"/>
          </a:xfrm>
          <a:prstGeom prst="rect">
            <a:avLst/>
          </a:prstGeom>
          <a:solidFill>
            <a:srgbClr val="1A6A8C"/>
          </a:solidFill>
          <a:ln cap="flat" cmpd="sng" w="17600">
            <a:solidFill>
              <a:srgbClr val="1A6A8C"/>
            </a:solidFill>
            <a:prstDash val="solid"/>
            <a:round/>
            <a:headEnd len="sm" w="sm" type="none"/>
            <a:tailEnd len="sm" w="sm" type="none"/>
          </a:ln>
        </p:spPr>
        <p:txBody>
          <a:bodyPr anchorCtr="0" anchor="ctr" bIns="126800" lIns="126800" spcFirstLastPara="1" rIns="126800" wrap="square" tIns="126800">
            <a:noAutofit/>
          </a:bodyPr>
          <a:lstStyle/>
          <a:p>
            <a:pPr indent="0" lvl="0" marL="0" rtl="0" algn="l">
              <a:spcBef>
                <a:spcPts val="0"/>
              </a:spcBef>
              <a:spcAft>
                <a:spcPts val="0"/>
              </a:spcAft>
              <a:buNone/>
            </a:pPr>
            <a:r>
              <a:t/>
            </a:r>
            <a:endParaRPr sz="1500"/>
          </a:p>
        </p:txBody>
      </p:sp>
      <p:sp>
        <p:nvSpPr>
          <p:cNvPr id="180" name="Google Shape;180;p11"/>
          <p:cNvSpPr/>
          <p:nvPr/>
        </p:nvSpPr>
        <p:spPr>
          <a:xfrm>
            <a:off x="2911991" y="1187075"/>
            <a:ext cx="2679000" cy="48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48"/>
              <a:buFont typeface="Calibri"/>
              <a:buNone/>
            </a:pPr>
            <a:r>
              <a:rPr b="1" lang="en-US" sz="1248">
                <a:solidFill>
                  <a:srgbClr val="FFFFFF"/>
                </a:solidFill>
                <a:latin typeface="Calibri"/>
                <a:ea typeface="Calibri"/>
                <a:cs typeface="Calibri"/>
                <a:sym typeface="Calibri"/>
              </a:rPr>
              <a:t>FULL dataset</a:t>
            </a:r>
            <a:endParaRPr b="0" i="0" sz="1248" u="none" cap="none" strike="noStrike">
              <a:solidFill>
                <a:schemeClr val="dk1"/>
              </a:solidFill>
              <a:latin typeface="Calibri"/>
              <a:ea typeface="Calibri"/>
              <a:cs typeface="Calibri"/>
              <a:sym typeface="Calibri"/>
            </a:endParaRPr>
          </a:p>
        </p:txBody>
      </p:sp>
      <p:pic>
        <p:nvPicPr>
          <p:cNvPr id="181" name="Google Shape;181;p11"/>
          <p:cNvPicPr preferRelativeResize="0"/>
          <p:nvPr/>
        </p:nvPicPr>
        <p:blipFill rotWithShape="1">
          <a:blip r:embed="rId3">
            <a:alphaModFix/>
          </a:blip>
          <a:srcRect b="32324" l="6087" r="62471" t="25651"/>
          <a:stretch/>
        </p:blipFill>
        <p:spPr>
          <a:xfrm>
            <a:off x="2911674" y="1905810"/>
            <a:ext cx="2662459" cy="2125978"/>
          </a:xfrm>
          <a:prstGeom prst="rect">
            <a:avLst/>
          </a:prstGeom>
          <a:noFill/>
          <a:ln cap="flat" cmpd="sng" w="20425">
            <a:solidFill>
              <a:srgbClr val="C8EFF7"/>
            </a:solidFill>
            <a:prstDash val="solid"/>
            <a:round/>
            <a:headEnd len="sm" w="sm" type="none"/>
            <a:tailEnd len="sm" w="sm" type="none"/>
          </a:ln>
        </p:spPr>
      </p:pic>
      <p:sp>
        <p:nvSpPr>
          <p:cNvPr id="182" name="Google Shape;182;p11"/>
          <p:cNvSpPr/>
          <p:nvPr/>
        </p:nvSpPr>
        <p:spPr>
          <a:xfrm>
            <a:off x="6025968" y="1187075"/>
            <a:ext cx="2679000" cy="3104700"/>
          </a:xfrm>
          <a:prstGeom prst="rect">
            <a:avLst/>
          </a:prstGeom>
          <a:solidFill>
            <a:srgbClr val="FFFFFF"/>
          </a:solidFill>
          <a:ln cap="flat" cmpd="sng" w="17600">
            <a:solidFill>
              <a:srgbClr val="D1E8F0"/>
            </a:solidFill>
            <a:prstDash val="solid"/>
            <a:round/>
            <a:headEnd len="sm" w="sm" type="none"/>
            <a:tailEnd len="sm" w="sm" type="none"/>
          </a:ln>
          <a:effectLst>
            <a:outerShdw blurRad="105689" rotWithShape="0" algn="bl" dir="8100000" dist="35230">
              <a:srgbClr val="000000">
                <a:alpha val="7840"/>
              </a:srgbClr>
            </a:outerShdw>
          </a:effectLst>
        </p:spPr>
        <p:txBody>
          <a:bodyPr anchorCtr="0" anchor="ctr" bIns="126800" lIns="126800" spcFirstLastPara="1" rIns="126800" wrap="square" tIns="126800">
            <a:noAutofit/>
          </a:bodyPr>
          <a:lstStyle/>
          <a:p>
            <a:pPr indent="0" lvl="0" marL="0" rtl="0" algn="l">
              <a:spcBef>
                <a:spcPts val="0"/>
              </a:spcBef>
              <a:spcAft>
                <a:spcPts val="0"/>
              </a:spcAft>
              <a:buNone/>
            </a:pPr>
            <a:r>
              <a:t/>
            </a:r>
            <a:endParaRPr sz="1500"/>
          </a:p>
        </p:txBody>
      </p:sp>
      <p:sp>
        <p:nvSpPr>
          <p:cNvPr id="183" name="Google Shape;183;p11"/>
          <p:cNvSpPr/>
          <p:nvPr/>
        </p:nvSpPr>
        <p:spPr>
          <a:xfrm>
            <a:off x="6025968" y="1187075"/>
            <a:ext cx="2662500" cy="482100"/>
          </a:xfrm>
          <a:prstGeom prst="rect">
            <a:avLst/>
          </a:prstGeom>
          <a:solidFill>
            <a:srgbClr val="1A6A8C"/>
          </a:solidFill>
          <a:ln cap="flat" cmpd="sng" w="17600">
            <a:solidFill>
              <a:srgbClr val="1A6A8C"/>
            </a:solidFill>
            <a:prstDash val="solid"/>
            <a:round/>
            <a:headEnd len="sm" w="sm" type="none"/>
            <a:tailEnd len="sm" w="sm" type="none"/>
          </a:ln>
        </p:spPr>
        <p:txBody>
          <a:bodyPr anchorCtr="0" anchor="ctr" bIns="126800" lIns="126800" spcFirstLastPara="1" rIns="126800" wrap="square" tIns="126800">
            <a:noAutofit/>
          </a:bodyPr>
          <a:lstStyle/>
          <a:p>
            <a:pPr indent="0" lvl="0" marL="0" rtl="0" algn="l">
              <a:spcBef>
                <a:spcPts val="0"/>
              </a:spcBef>
              <a:spcAft>
                <a:spcPts val="0"/>
              </a:spcAft>
              <a:buNone/>
            </a:pPr>
            <a:r>
              <a:t/>
            </a:r>
            <a:endParaRPr sz="1500"/>
          </a:p>
        </p:txBody>
      </p:sp>
      <p:sp>
        <p:nvSpPr>
          <p:cNvPr id="184" name="Google Shape;184;p11"/>
          <p:cNvSpPr/>
          <p:nvPr/>
        </p:nvSpPr>
        <p:spPr>
          <a:xfrm>
            <a:off x="6026284" y="1187075"/>
            <a:ext cx="2679000" cy="482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48"/>
              <a:buFont typeface="Calibri"/>
              <a:buNone/>
            </a:pPr>
            <a:r>
              <a:rPr b="1" lang="en-US" sz="1248">
                <a:solidFill>
                  <a:srgbClr val="FFFFFF"/>
                </a:solidFill>
                <a:latin typeface="Calibri"/>
                <a:ea typeface="Calibri"/>
                <a:cs typeface="Calibri"/>
                <a:sym typeface="Calibri"/>
              </a:rPr>
              <a:t>ACTIVE</a:t>
            </a:r>
            <a:r>
              <a:rPr b="1" lang="en-US" sz="1248">
                <a:solidFill>
                  <a:srgbClr val="FFFFFF"/>
                </a:solidFill>
                <a:latin typeface="Calibri"/>
                <a:ea typeface="Calibri"/>
                <a:cs typeface="Calibri"/>
                <a:sym typeface="Calibri"/>
              </a:rPr>
              <a:t> dataset</a:t>
            </a:r>
            <a:endParaRPr b="0" i="0" sz="1248" u="none" cap="none" strike="noStrike">
              <a:solidFill>
                <a:schemeClr val="dk1"/>
              </a:solidFill>
              <a:latin typeface="Calibri"/>
              <a:ea typeface="Calibri"/>
              <a:cs typeface="Calibri"/>
              <a:sym typeface="Calibri"/>
            </a:endParaRPr>
          </a:p>
        </p:txBody>
      </p:sp>
      <p:pic>
        <p:nvPicPr>
          <p:cNvPr id="185" name="Google Shape;185;p11"/>
          <p:cNvPicPr preferRelativeResize="0"/>
          <p:nvPr/>
        </p:nvPicPr>
        <p:blipFill rotWithShape="1">
          <a:blip r:embed="rId4">
            <a:alphaModFix/>
          </a:blip>
          <a:srcRect b="35191" l="6068" r="62474" t="23147"/>
          <a:stretch/>
        </p:blipFill>
        <p:spPr>
          <a:xfrm>
            <a:off x="6025968" y="1915516"/>
            <a:ext cx="2662459" cy="2106577"/>
          </a:xfrm>
          <a:prstGeom prst="rect">
            <a:avLst/>
          </a:prstGeom>
          <a:noFill/>
          <a:ln cap="flat" cmpd="sng" w="20425">
            <a:solidFill>
              <a:srgbClr val="C8EFF7"/>
            </a:solidFill>
            <a:prstDash val="solid"/>
            <a:round/>
            <a:headEnd len="sm" w="sm" type="none"/>
            <a:tailEnd len="sm" w="sm" type="none"/>
          </a:ln>
        </p:spPr>
      </p:pic>
      <p:sp>
        <p:nvSpPr>
          <p:cNvPr id="186" name="Google Shape;186;p11"/>
          <p:cNvSpPr/>
          <p:nvPr/>
        </p:nvSpPr>
        <p:spPr>
          <a:xfrm>
            <a:off x="254500" y="908975"/>
            <a:ext cx="2143800" cy="2157900"/>
          </a:xfrm>
          <a:prstGeom prst="rect">
            <a:avLst/>
          </a:prstGeom>
          <a:solidFill>
            <a:srgbClr val="FFFFFF"/>
          </a:solidFill>
          <a:ln cap="flat" cmpd="sng" w="14900">
            <a:solidFill>
              <a:srgbClr val="D1E8F0"/>
            </a:solidFill>
            <a:prstDash val="solid"/>
            <a:round/>
            <a:headEnd len="sm" w="sm" type="none"/>
            <a:tailEnd len="sm" w="sm" type="none"/>
          </a:ln>
          <a:effectLst>
            <a:outerShdw blurRad="89326" rotWithShape="0" algn="bl" dir="8100000" dist="29775">
              <a:srgbClr val="000000">
                <a:alpha val="7840"/>
              </a:srgbClr>
            </a:outerShdw>
          </a:effectLst>
        </p:spPr>
        <p:txBody>
          <a:bodyPr anchorCtr="0" anchor="ctr" bIns="107175" lIns="107175" spcFirstLastPara="1" rIns="107175" wrap="square" tIns="107175">
            <a:noAutofit/>
          </a:bodyPr>
          <a:lstStyle/>
          <a:p>
            <a:pPr indent="0" lvl="0" marL="0" rtl="0" algn="l">
              <a:spcBef>
                <a:spcPts val="0"/>
              </a:spcBef>
              <a:spcAft>
                <a:spcPts val="0"/>
              </a:spcAft>
              <a:buNone/>
            </a:pPr>
            <a:r>
              <a:t/>
            </a:r>
            <a:endParaRPr/>
          </a:p>
        </p:txBody>
      </p:sp>
      <p:sp>
        <p:nvSpPr>
          <p:cNvPr id="187" name="Google Shape;187;p11"/>
          <p:cNvSpPr/>
          <p:nvPr/>
        </p:nvSpPr>
        <p:spPr>
          <a:xfrm>
            <a:off x="361700" y="908975"/>
            <a:ext cx="1950900" cy="2106600"/>
          </a:xfrm>
          <a:prstGeom prst="rect">
            <a:avLst/>
          </a:prstGeom>
          <a:noFill/>
          <a:ln>
            <a:noFill/>
          </a:ln>
        </p:spPr>
        <p:txBody>
          <a:bodyPr anchorCtr="0" anchor="ctr" bIns="53575" lIns="107175" spcFirstLastPara="1" rIns="107175" wrap="square" tIns="53575">
            <a:noAutofit/>
          </a:bodyPr>
          <a:lstStyle/>
          <a:p>
            <a:pPr indent="0" lvl="0" marL="0" rtl="0" algn="l">
              <a:spcBef>
                <a:spcPts val="0"/>
              </a:spcBef>
              <a:spcAft>
                <a:spcPts val="0"/>
              </a:spcAft>
              <a:buNone/>
            </a:pPr>
            <a:r>
              <a:rPr lang="en-US" sz="837">
                <a:solidFill>
                  <a:schemeClr val="dk1"/>
                </a:solidFill>
                <a:latin typeface="Calibri"/>
                <a:ea typeface="Calibri"/>
                <a:cs typeface="Calibri"/>
                <a:sym typeface="Calibri"/>
              </a:rPr>
              <a:t> After merging engineered features into a unified feature table (19,830 drugs), we observed strong sparsity: many drugs contained limited safety data. To focus on informative compounds, we created a filtered subset called 'features_active', containing 4,657 drugs with meaningful interaction or CYP information. </a:t>
            </a:r>
            <a:endParaRPr sz="837">
              <a:solidFill>
                <a:schemeClr val="dk1"/>
              </a:solidFill>
              <a:latin typeface="Calibri"/>
              <a:ea typeface="Calibri"/>
              <a:cs typeface="Calibri"/>
              <a:sym typeface="Calibri"/>
            </a:endParaRPr>
          </a:p>
          <a:p>
            <a:pPr indent="0" lvl="0" marL="0" rtl="0" algn="l">
              <a:spcBef>
                <a:spcPts val="0"/>
              </a:spcBef>
              <a:spcAft>
                <a:spcPts val="0"/>
              </a:spcAft>
              <a:buNone/>
            </a:pPr>
            <a:r>
              <a:rPr lang="en-US" sz="837">
                <a:solidFill>
                  <a:schemeClr val="dk1"/>
                </a:solidFill>
                <a:latin typeface="Calibri"/>
                <a:ea typeface="Calibri"/>
                <a:cs typeface="Calibri"/>
                <a:sym typeface="Calibri"/>
              </a:rPr>
              <a:t>Finally, we implemented a 70/15/15 train-validation-test split to prepare the dataset for future predictive modeling</a:t>
            </a:r>
            <a:endParaRPr sz="837">
              <a:solidFill>
                <a:schemeClr val="dk1"/>
              </a:solidFill>
              <a:latin typeface="Calibri"/>
              <a:ea typeface="Calibri"/>
              <a:cs typeface="Calibri"/>
              <a:sym typeface="Calibri"/>
            </a:endParaRPr>
          </a:p>
          <a:p>
            <a:pPr indent="0" lvl="0" marL="0" marR="0" rtl="0" algn="l">
              <a:spcBef>
                <a:spcPts val="0"/>
              </a:spcBef>
              <a:spcAft>
                <a:spcPts val="0"/>
              </a:spcAft>
              <a:buNone/>
            </a:pPr>
            <a:r>
              <a:t/>
            </a:r>
            <a:endParaRPr sz="544">
              <a:solidFill>
                <a:srgbClr val="64748B"/>
              </a:solidFill>
              <a:latin typeface="Calibri"/>
              <a:ea typeface="Calibri"/>
              <a:cs typeface="Calibri"/>
              <a:sym typeface="Calibri"/>
            </a:endParaRPr>
          </a:p>
        </p:txBody>
      </p:sp>
      <p:sp>
        <p:nvSpPr>
          <p:cNvPr id="188" name="Google Shape;188;p11"/>
          <p:cNvSpPr/>
          <p:nvPr/>
        </p:nvSpPr>
        <p:spPr>
          <a:xfrm>
            <a:off x="419950" y="3384675"/>
            <a:ext cx="1812900" cy="1507500"/>
          </a:xfrm>
          <a:prstGeom prst="rect">
            <a:avLst/>
          </a:prstGeom>
          <a:solidFill>
            <a:srgbClr val="E8F4F8"/>
          </a:solidFill>
          <a:ln cap="flat" cmpd="sng" w="9525">
            <a:solidFill>
              <a:srgbClr val="D1E8F0"/>
            </a:solidFill>
            <a:prstDash val="solid"/>
            <a:round/>
            <a:headEnd len="sm" w="sm" type="none"/>
            <a:tailEnd len="sm" w="sm" type="none"/>
          </a:ln>
          <a:effectLst>
            <a:outerShdw blurRad="57200" rotWithShape="0" algn="bl" dir="8100000" dist="19067">
              <a:srgbClr val="000000">
                <a:alpha val="7840"/>
              </a:srgbClr>
            </a:outerShdw>
          </a:effectLst>
        </p:spPr>
        <p:txBody>
          <a:bodyPr anchorCtr="0" anchor="ctr" bIns="68625" lIns="68625" spcFirstLastPara="1" rIns="68625" wrap="square" tIns="68625">
            <a:noAutofit/>
          </a:bodyPr>
          <a:lstStyle/>
          <a:p>
            <a:pPr indent="0" lvl="0" marL="0" rtl="0" algn="l">
              <a:spcBef>
                <a:spcPts val="0"/>
              </a:spcBef>
              <a:spcAft>
                <a:spcPts val="0"/>
              </a:spcAft>
              <a:buNone/>
            </a:pPr>
            <a:r>
              <a:t/>
            </a:r>
            <a:endParaRPr b="1" sz="1500"/>
          </a:p>
        </p:txBody>
      </p:sp>
      <p:sp>
        <p:nvSpPr>
          <p:cNvPr id="189" name="Google Shape;189;p11"/>
          <p:cNvSpPr/>
          <p:nvPr/>
        </p:nvSpPr>
        <p:spPr>
          <a:xfrm>
            <a:off x="491510" y="3509402"/>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Full Dataset:</a:t>
            </a:r>
            <a:endParaRPr b="1" i="0" sz="775" u="none" cap="none" strike="noStrike">
              <a:solidFill>
                <a:schemeClr val="dk1"/>
              </a:solidFill>
              <a:latin typeface="Calibri"/>
              <a:ea typeface="Calibri"/>
              <a:cs typeface="Calibri"/>
              <a:sym typeface="Calibri"/>
            </a:endParaRPr>
          </a:p>
        </p:txBody>
      </p:sp>
      <p:sp>
        <p:nvSpPr>
          <p:cNvPr id="190" name="Google Shape;190;p11"/>
          <p:cNvSpPr/>
          <p:nvPr/>
        </p:nvSpPr>
        <p:spPr>
          <a:xfrm>
            <a:off x="1350230" y="3509402"/>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19,830 drugs</a:t>
            </a:r>
            <a:endParaRPr b="1" i="0" sz="775" u="none" cap="none" strike="noStrike">
              <a:solidFill>
                <a:schemeClr val="dk1"/>
              </a:solidFill>
              <a:latin typeface="Calibri"/>
              <a:ea typeface="Calibri"/>
              <a:cs typeface="Calibri"/>
              <a:sym typeface="Calibri"/>
            </a:endParaRPr>
          </a:p>
        </p:txBody>
      </p:sp>
      <p:sp>
        <p:nvSpPr>
          <p:cNvPr id="191" name="Google Shape;191;p11"/>
          <p:cNvSpPr/>
          <p:nvPr/>
        </p:nvSpPr>
        <p:spPr>
          <a:xfrm>
            <a:off x="491510" y="3715319"/>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Active Subset:</a:t>
            </a:r>
            <a:endParaRPr b="1" i="0" sz="775" u="none" cap="none" strike="noStrike">
              <a:solidFill>
                <a:schemeClr val="dk1"/>
              </a:solidFill>
              <a:latin typeface="Calibri"/>
              <a:ea typeface="Calibri"/>
              <a:cs typeface="Calibri"/>
              <a:sym typeface="Calibri"/>
            </a:endParaRPr>
          </a:p>
        </p:txBody>
      </p:sp>
      <p:sp>
        <p:nvSpPr>
          <p:cNvPr id="192" name="Google Shape;192;p11"/>
          <p:cNvSpPr/>
          <p:nvPr/>
        </p:nvSpPr>
        <p:spPr>
          <a:xfrm>
            <a:off x="1350230" y="3715319"/>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4,657 drugs</a:t>
            </a:r>
            <a:endParaRPr b="1" i="0" sz="775" u="none" cap="none" strike="noStrike">
              <a:solidFill>
                <a:schemeClr val="dk1"/>
              </a:solidFill>
              <a:latin typeface="Calibri"/>
              <a:ea typeface="Calibri"/>
              <a:cs typeface="Calibri"/>
              <a:sym typeface="Calibri"/>
            </a:endParaRPr>
          </a:p>
        </p:txBody>
      </p:sp>
      <p:sp>
        <p:nvSpPr>
          <p:cNvPr id="193" name="Google Shape;193;p11"/>
          <p:cNvSpPr/>
          <p:nvPr/>
        </p:nvSpPr>
        <p:spPr>
          <a:xfrm>
            <a:off x="491510" y="3921237"/>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Train Split:</a:t>
            </a:r>
            <a:endParaRPr b="1" i="0" sz="775" u="none" cap="none" strike="noStrike">
              <a:solidFill>
                <a:schemeClr val="dk1"/>
              </a:solidFill>
              <a:latin typeface="Calibri"/>
              <a:ea typeface="Calibri"/>
              <a:cs typeface="Calibri"/>
              <a:sym typeface="Calibri"/>
            </a:endParaRPr>
          </a:p>
        </p:txBody>
      </p:sp>
      <p:sp>
        <p:nvSpPr>
          <p:cNvPr id="194" name="Google Shape;194;p11"/>
          <p:cNvSpPr/>
          <p:nvPr/>
        </p:nvSpPr>
        <p:spPr>
          <a:xfrm>
            <a:off x="1350230" y="3921237"/>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70%</a:t>
            </a:r>
            <a:endParaRPr b="1" i="0" sz="775" u="none" cap="none" strike="noStrike">
              <a:solidFill>
                <a:schemeClr val="dk1"/>
              </a:solidFill>
              <a:latin typeface="Calibri"/>
              <a:ea typeface="Calibri"/>
              <a:cs typeface="Calibri"/>
              <a:sym typeface="Calibri"/>
            </a:endParaRPr>
          </a:p>
        </p:txBody>
      </p:sp>
      <p:sp>
        <p:nvSpPr>
          <p:cNvPr id="195" name="Google Shape;195;p11"/>
          <p:cNvSpPr/>
          <p:nvPr/>
        </p:nvSpPr>
        <p:spPr>
          <a:xfrm>
            <a:off x="491510" y="4127155"/>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Val / Test:</a:t>
            </a:r>
            <a:endParaRPr b="1" i="0" sz="775" u="none" cap="none" strike="noStrike">
              <a:solidFill>
                <a:schemeClr val="dk1"/>
              </a:solidFill>
              <a:latin typeface="Calibri"/>
              <a:ea typeface="Calibri"/>
              <a:cs typeface="Calibri"/>
              <a:sym typeface="Calibri"/>
            </a:endParaRPr>
          </a:p>
        </p:txBody>
      </p:sp>
      <p:sp>
        <p:nvSpPr>
          <p:cNvPr id="196" name="Google Shape;196;p11"/>
          <p:cNvSpPr/>
          <p:nvPr/>
        </p:nvSpPr>
        <p:spPr>
          <a:xfrm>
            <a:off x="1350230" y="4127155"/>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15% / 15%</a:t>
            </a:r>
            <a:endParaRPr b="1" i="0" sz="775" u="none" cap="none" strike="noStrike">
              <a:solidFill>
                <a:schemeClr val="dk1"/>
              </a:solidFill>
              <a:latin typeface="Calibri"/>
              <a:ea typeface="Calibri"/>
              <a:cs typeface="Calibri"/>
              <a:sym typeface="Calibri"/>
            </a:endParaRPr>
          </a:p>
        </p:txBody>
      </p:sp>
      <p:sp>
        <p:nvSpPr>
          <p:cNvPr id="197" name="Google Shape;197;p11"/>
          <p:cNvSpPr/>
          <p:nvPr/>
        </p:nvSpPr>
        <p:spPr>
          <a:xfrm>
            <a:off x="491510" y="4333072"/>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Max Interactions:</a:t>
            </a:r>
            <a:endParaRPr b="1" i="0" sz="775" u="none" cap="none" strike="noStrike">
              <a:solidFill>
                <a:schemeClr val="dk1"/>
              </a:solidFill>
              <a:latin typeface="Calibri"/>
              <a:ea typeface="Calibri"/>
              <a:cs typeface="Calibri"/>
              <a:sym typeface="Calibri"/>
            </a:endParaRPr>
          </a:p>
        </p:txBody>
      </p:sp>
      <p:sp>
        <p:nvSpPr>
          <p:cNvPr id="198" name="Google Shape;198;p11"/>
          <p:cNvSpPr/>
          <p:nvPr/>
        </p:nvSpPr>
        <p:spPr>
          <a:xfrm>
            <a:off x="1350230" y="4333072"/>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5,272</a:t>
            </a:r>
            <a:endParaRPr b="1" i="0" sz="775" u="none" cap="none" strike="noStrike">
              <a:solidFill>
                <a:schemeClr val="dk1"/>
              </a:solidFill>
              <a:latin typeface="Calibri"/>
              <a:ea typeface="Calibri"/>
              <a:cs typeface="Calibri"/>
              <a:sym typeface="Calibri"/>
            </a:endParaRPr>
          </a:p>
        </p:txBody>
      </p:sp>
      <p:sp>
        <p:nvSpPr>
          <p:cNvPr id="199" name="Google Shape;199;p11"/>
          <p:cNvSpPr/>
          <p:nvPr/>
        </p:nvSpPr>
        <p:spPr>
          <a:xfrm>
            <a:off x="491510" y="4588640"/>
            <a:ext cx="858600" cy="192000"/>
          </a:xfrm>
          <a:prstGeom prst="rect">
            <a:avLst/>
          </a:prstGeom>
          <a:noFill/>
          <a:ln>
            <a:noFill/>
          </a:ln>
        </p:spPr>
        <p:txBody>
          <a:bodyPr anchorCtr="0" anchor="ctr" bIns="34300" lIns="68625" spcFirstLastPara="1" rIns="68625" wrap="square" tIns="34300">
            <a:noAutofit/>
          </a:bodyPr>
          <a:lstStyle/>
          <a:p>
            <a:pPr indent="0" lvl="0" marL="0" marR="0" rtl="0" algn="l">
              <a:spcBef>
                <a:spcPts val="0"/>
              </a:spcBef>
              <a:spcAft>
                <a:spcPts val="0"/>
              </a:spcAft>
              <a:buClr>
                <a:srgbClr val="64748B"/>
              </a:buClr>
              <a:buSzPts val="676"/>
              <a:buFont typeface="Calibri"/>
              <a:buNone/>
            </a:pPr>
            <a:r>
              <a:rPr b="1" i="0" lang="en-US" sz="775" u="none" cap="none" strike="noStrike">
                <a:solidFill>
                  <a:srgbClr val="64748B"/>
                </a:solidFill>
                <a:latin typeface="Calibri"/>
                <a:ea typeface="Calibri"/>
                <a:cs typeface="Calibri"/>
                <a:sym typeface="Calibri"/>
              </a:rPr>
              <a:t>Max Unique CYP:</a:t>
            </a:r>
            <a:endParaRPr b="1" i="0" sz="775" u="none" cap="none" strike="noStrike">
              <a:solidFill>
                <a:schemeClr val="dk1"/>
              </a:solidFill>
              <a:latin typeface="Calibri"/>
              <a:ea typeface="Calibri"/>
              <a:cs typeface="Calibri"/>
              <a:sym typeface="Calibri"/>
            </a:endParaRPr>
          </a:p>
        </p:txBody>
      </p:sp>
      <p:sp>
        <p:nvSpPr>
          <p:cNvPr id="200" name="Google Shape;200;p11"/>
          <p:cNvSpPr/>
          <p:nvPr/>
        </p:nvSpPr>
        <p:spPr>
          <a:xfrm>
            <a:off x="1278680" y="4589215"/>
            <a:ext cx="810900" cy="192000"/>
          </a:xfrm>
          <a:prstGeom prst="rect">
            <a:avLst/>
          </a:prstGeom>
          <a:noFill/>
          <a:ln>
            <a:noFill/>
          </a:ln>
        </p:spPr>
        <p:txBody>
          <a:bodyPr anchorCtr="0" anchor="ctr" bIns="34300" lIns="68625" spcFirstLastPara="1" rIns="68625" wrap="square" tIns="34300">
            <a:noAutofit/>
          </a:bodyPr>
          <a:lstStyle/>
          <a:p>
            <a:pPr indent="0" lvl="0" marL="0" marR="0" rtl="0" algn="r">
              <a:spcBef>
                <a:spcPts val="0"/>
              </a:spcBef>
              <a:spcAft>
                <a:spcPts val="0"/>
              </a:spcAft>
              <a:buClr>
                <a:srgbClr val="0A7EA4"/>
              </a:buClr>
              <a:buSzPts val="676"/>
              <a:buFont typeface="Calibri"/>
              <a:buNone/>
            </a:pPr>
            <a:r>
              <a:rPr b="1" i="0" lang="en-US" sz="775" u="none" cap="none" strike="noStrike">
                <a:solidFill>
                  <a:srgbClr val="0A7EA4"/>
                </a:solidFill>
                <a:latin typeface="Calibri"/>
                <a:ea typeface="Calibri"/>
                <a:cs typeface="Calibri"/>
                <a:sym typeface="Calibri"/>
              </a:rPr>
              <a:t>14</a:t>
            </a:r>
            <a:endParaRPr b="1" i="0" sz="775"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205" name="Shape 205"/>
        <p:cNvGrpSpPr/>
        <p:nvPr/>
      </p:nvGrpSpPr>
      <p:grpSpPr>
        <a:xfrm>
          <a:off x="0" y="0"/>
          <a:ext cx="0" cy="0"/>
          <a:chOff x="0" y="0"/>
          <a:chExt cx="0" cy="0"/>
        </a:xfrm>
      </p:grpSpPr>
      <p:sp>
        <p:nvSpPr>
          <p:cNvPr id="206" name="Google Shape;206;p12"/>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Week 6  |  Exploratory Data Analysis - FULL dataset</a:t>
            </a:r>
            <a:endParaRPr b="0" i="0" sz="2000" u="none" cap="none" strike="noStrike">
              <a:solidFill>
                <a:schemeClr val="dk1"/>
              </a:solidFill>
              <a:latin typeface="Calibri"/>
              <a:ea typeface="Calibri"/>
              <a:cs typeface="Calibri"/>
              <a:sym typeface="Calibri"/>
            </a:endParaRPr>
          </a:p>
        </p:txBody>
      </p:sp>
      <p:sp>
        <p:nvSpPr>
          <p:cNvPr id="208" name="Google Shape;208;p12"/>
          <p:cNvSpPr/>
          <p:nvPr/>
        </p:nvSpPr>
        <p:spPr>
          <a:xfrm>
            <a:off x="7955280" y="164592"/>
            <a:ext cx="1051560" cy="292608"/>
          </a:xfrm>
          <a:prstGeom prst="roundRect">
            <a:avLst>
              <a:gd fmla="val 18750" name="adj"/>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p:nvPr/>
        </p:nvSpPr>
        <p:spPr>
          <a:xfrm>
            <a:off x="7955280" y="164592"/>
            <a:ext cx="1051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6</a:t>
            </a:r>
            <a:endParaRPr b="0" i="0" sz="900" u="none" cap="none" strike="noStrike">
              <a:solidFill>
                <a:schemeClr val="dk1"/>
              </a:solidFill>
              <a:latin typeface="Calibri"/>
              <a:ea typeface="Calibri"/>
              <a:cs typeface="Calibri"/>
              <a:sym typeface="Calibri"/>
            </a:endParaRPr>
          </a:p>
        </p:txBody>
      </p:sp>
      <p:sp>
        <p:nvSpPr>
          <p:cNvPr id="210" name="Google Shape;210;p12"/>
          <p:cNvSpPr/>
          <p:nvPr/>
        </p:nvSpPr>
        <p:spPr>
          <a:xfrm>
            <a:off x="193768" y="1454997"/>
            <a:ext cx="2788800" cy="30174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285208" y="1126405"/>
            <a:ext cx="26061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i="0" lang="en-US" sz="1200" u="none" cap="none" strike="noStrike">
                <a:solidFill>
                  <a:srgbClr val="0D1B2A"/>
                </a:solidFill>
                <a:latin typeface="Calibri"/>
                <a:ea typeface="Calibri"/>
                <a:cs typeface="Calibri"/>
                <a:sym typeface="Calibri"/>
              </a:rPr>
              <a:t>Drug Interaction Distribution</a:t>
            </a:r>
            <a:endParaRPr b="0" i="0" sz="1200" u="none" cap="none" strike="noStrike">
              <a:solidFill>
                <a:schemeClr val="dk1"/>
              </a:solidFill>
              <a:latin typeface="Calibri"/>
              <a:ea typeface="Calibri"/>
              <a:cs typeface="Calibri"/>
              <a:sym typeface="Calibri"/>
            </a:endParaRPr>
          </a:p>
        </p:txBody>
      </p:sp>
      <p:sp>
        <p:nvSpPr>
          <p:cNvPr id="212" name="Google Shape;212;p12"/>
          <p:cNvSpPr/>
          <p:nvPr/>
        </p:nvSpPr>
        <p:spPr>
          <a:xfrm>
            <a:off x="285208" y="3484965"/>
            <a:ext cx="26061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Most drugs have zero or few interactions; a small subset is highly connected — classic long-tail behavior.</a:t>
            </a:r>
            <a:endParaRPr b="0" i="0" sz="850" u="none" cap="none" strike="noStrike">
              <a:solidFill>
                <a:schemeClr val="dk1"/>
              </a:solidFill>
              <a:latin typeface="Calibri"/>
              <a:ea typeface="Calibri"/>
              <a:cs typeface="Calibri"/>
              <a:sym typeface="Calibri"/>
            </a:endParaRPr>
          </a:p>
        </p:txBody>
      </p:sp>
      <p:sp>
        <p:nvSpPr>
          <p:cNvPr id="213" name="Google Shape;213;p12"/>
          <p:cNvSpPr/>
          <p:nvPr/>
        </p:nvSpPr>
        <p:spPr>
          <a:xfrm>
            <a:off x="3169206" y="1454935"/>
            <a:ext cx="2788800" cy="30174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2"/>
          <p:cNvSpPr/>
          <p:nvPr/>
        </p:nvSpPr>
        <p:spPr>
          <a:xfrm>
            <a:off x="3177508" y="1126393"/>
            <a:ext cx="26061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i="0" lang="en-US" sz="1200" u="none" cap="none" strike="noStrike">
                <a:solidFill>
                  <a:srgbClr val="0D1B2A"/>
                </a:solidFill>
                <a:latin typeface="Calibri"/>
                <a:ea typeface="Calibri"/>
                <a:cs typeface="Calibri"/>
                <a:sym typeface="Calibri"/>
              </a:rPr>
              <a:t>CYP Enzyme Diversity</a:t>
            </a:r>
            <a:endParaRPr b="0" i="0" sz="1200" u="none" cap="none" strike="noStrike">
              <a:solidFill>
                <a:schemeClr val="dk1"/>
              </a:solidFill>
              <a:latin typeface="Calibri"/>
              <a:ea typeface="Calibri"/>
              <a:cs typeface="Calibri"/>
              <a:sym typeface="Calibri"/>
            </a:endParaRPr>
          </a:p>
        </p:txBody>
      </p:sp>
      <p:sp>
        <p:nvSpPr>
          <p:cNvPr id="215" name="Google Shape;215;p12"/>
          <p:cNvSpPr/>
          <p:nvPr/>
        </p:nvSpPr>
        <p:spPr>
          <a:xfrm>
            <a:off x="3260646" y="3484903"/>
            <a:ext cx="26061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Many drugs involve no CYP pathways. A smaller subset shows high metabolic complexity (up to 14 unique enzymes).</a:t>
            </a:r>
            <a:endParaRPr b="0" i="0" sz="850" u="none" cap="none" strike="noStrike">
              <a:solidFill>
                <a:schemeClr val="dk1"/>
              </a:solidFill>
              <a:latin typeface="Calibri"/>
              <a:ea typeface="Calibri"/>
              <a:cs typeface="Calibri"/>
              <a:sym typeface="Calibri"/>
            </a:endParaRPr>
          </a:p>
        </p:txBody>
      </p:sp>
      <p:sp>
        <p:nvSpPr>
          <p:cNvPr id="216" name="Google Shape;216;p12"/>
          <p:cNvSpPr/>
          <p:nvPr/>
        </p:nvSpPr>
        <p:spPr>
          <a:xfrm>
            <a:off x="6144618" y="1454935"/>
            <a:ext cx="2788800" cy="30174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2"/>
          <p:cNvSpPr/>
          <p:nvPr/>
        </p:nvSpPr>
        <p:spPr>
          <a:xfrm>
            <a:off x="6235983" y="1126393"/>
            <a:ext cx="2606100" cy="2925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D1B2A"/>
              </a:buClr>
              <a:buSzPts val="1000"/>
              <a:buFont typeface="Calibri"/>
              <a:buNone/>
            </a:pPr>
            <a:r>
              <a:rPr b="1" i="0" lang="en-US" sz="1200" u="none" cap="none" strike="noStrike">
                <a:solidFill>
                  <a:srgbClr val="0D1B2A"/>
                </a:solidFill>
                <a:latin typeface="Calibri"/>
                <a:ea typeface="Calibri"/>
                <a:cs typeface="Calibri"/>
                <a:sym typeface="Calibri"/>
              </a:rPr>
              <a:t>Safety Complexity Score</a:t>
            </a:r>
            <a:endParaRPr b="0" i="0" sz="1200" u="none" cap="none" strike="noStrike">
              <a:solidFill>
                <a:schemeClr val="dk1"/>
              </a:solidFill>
              <a:latin typeface="Calibri"/>
              <a:ea typeface="Calibri"/>
              <a:cs typeface="Calibri"/>
              <a:sym typeface="Calibri"/>
            </a:endParaRPr>
          </a:p>
        </p:txBody>
      </p:sp>
      <p:sp>
        <p:nvSpPr>
          <p:cNvPr id="218" name="Google Shape;218;p12"/>
          <p:cNvSpPr/>
          <p:nvPr/>
        </p:nvSpPr>
        <p:spPr>
          <a:xfrm>
            <a:off x="6236083" y="3622053"/>
            <a:ext cx="2606100" cy="822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850"/>
              <a:buFont typeface="Calibri"/>
              <a:buNone/>
            </a:pPr>
            <a:r>
              <a:rPr b="0" i="1" lang="en-US" sz="850" u="none" cap="none" strike="noStrike">
                <a:solidFill>
                  <a:srgbClr val="64748B"/>
                </a:solidFill>
                <a:latin typeface="Calibri"/>
                <a:ea typeface="Calibri"/>
                <a:cs typeface="Calibri"/>
                <a:sym typeface="Calibri"/>
              </a:rPr>
              <a:t>Combined feature cleanly separates high-complexity drugs (e.g., Cannabidiol, Ketoconazole) from the majority.</a:t>
            </a:r>
            <a:endParaRPr b="0" i="0" sz="850" u="none" cap="none" strike="noStrike">
              <a:solidFill>
                <a:schemeClr val="dk1"/>
              </a:solidFill>
              <a:latin typeface="Calibri"/>
              <a:ea typeface="Calibri"/>
              <a:cs typeface="Calibri"/>
              <a:sym typeface="Calibri"/>
            </a:endParaRPr>
          </a:p>
        </p:txBody>
      </p:sp>
      <p:pic>
        <p:nvPicPr>
          <p:cNvPr id="219" name="Google Shape;219;p12"/>
          <p:cNvPicPr preferRelativeResize="0"/>
          <p:nvPr/>
        </p:nvPicPr>
        <p:blipFill rotWithShape="1">
          <a:blip r:embed="rId3">
            <a:alphaModFix/>
          </a:blip>
          <a:srcRect b="19263" l="8004" r="52717" t="35526"/>
          <a:stretch/>
        </p:blipFill>
        <p:spPr>
          <a:xfrm>
            <a:off x="249874" y="1886937"/>
            <a:ext cx="2788925" cy="1738802"/>
          </a:xfrm>
          <a:prstGeom prst="rect">
            <a:avLst/>
          </a:prstGeom>
          <a:noFill/>
          <a:ln>
            <a:noFill/>
          </a:ln>
        </p:spPr>
      </p:pic>
      <p:pic>
        <p:nvPicPr>
          <p:cNvPr id="220" name="Google Shape;220;p12"/>
          <p:cNvPicPr preferRelativeResize="0"/>
          <p:nvPr/>
        </p:nvPicPr>
        <p:blipFill rotWithShape="1">
          <a:blip r:embed="rId4">
            <a:alphaModFix/>
          </a:blip>
          <a:srcRect b="15085" l="7553" r="52858" t="38052"/>
          <a:stretch/>
        </p:blipFill>
        <p:spPr>
          <a:xfrm>
            <a:off x="3209137" y="1914113"/>
            <a:ext cx="2626752" cy="1684324"/>
          </a:xfrm>
          <a:prstGeom prst="rect">
            <a:avLst/>
          </a:prstGeom>
          <a:noFill/>
          <a:ln>
            <a:noFill/>
          </a:ln>
        </p:spPr>
      </p:pic>
      <p:pic>
        <p:nvPicPr>
          <p:cNvPr id="221" name="Google Shape;221;p12"/>
          <p:cNvPicPr preferRelativeResize="0"/>
          <p:nvPr/>
        </p:nvPicPr>
        <p:blipFill rotWithShape="1">
          <a:blip r:embed="rId5">
            <a:alphaModFix/>
          </a:blip>
          <a:srcRect b="14790" l="7629" r="52405" t="38537"/>
          <a:stretch/>
        </p:blipFill>
        <p:spPr>
          <a:xfrm>
            <a:off x="6153750" y="1811551"/>
            <a:ext cx="2987074" cy="1889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AFB"/>
        </a:solidFill>
      </p:bgPr>
    </p:bg>
    <p:spTree>
      <p:nvGrpSpPr>
        <p:cNvPr id="226" name="Shape 226"/>
        <p:cNvGrpSpPr/>
        <p:nvPr/>
      </p:nvGrpSpPr>
      <p:grpSpPr>
        <a:xfrm>
          <a:off x="0" y="0"/>
          <a:ext cx="0" cy="0"/>
          <a:chOff x="0" y="0"/>
          <a:chExt cx="0" cy="0"/>
        </a:xfrm>
      </p:grpSpPr>
      <p:sp>
        <p:nvSpPr>
          <p:cNvPr id="227" name="Google Shape;227;p13"/>
          <p:cNvSpPr/>
          <p:nvPr/>
        </p:nvSpPr>
        <p:spPr>
          <a:xfrm>
            <a:off x="0" y="0"/>
            <a:ext cx="9144000" cy="65836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3"/>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Data Characteristics: Sparsity &amp; Long-Tail Behavior</a:t>
            </a:r>
            <a:endParaRPr b="0" i="0" sz="2000" u="none" cap="none" strike="noStrike">
              <a:solidFill>
                <a:schemeClr val="dk1"/>
              </a:solidFill>
              <a:latin typeface="Calibri"/>
              <a:ea typeface="Calibri"/>
              <a:cs typeface="Calibri"/>
              <a:sym typeface="Calibri"/>
            </a:endParaRPr>
          </a:p>
        </p:txBody>
      </p:sp>
      <p:sp>
        <p:nvSpPr>
          <p:cNvPr id="229" name="Google Shape;229;p13"/>
          <p:cNvSpPr/>
          <p:nvPr/>
        </p:nvSpPr>
        <p:spPr>
          <a:xfrm>
            <a:off x="228600" y="804672"/>
            <a:ext cx="4206240" cy="41148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
          <p:cNvSpPr/>
          <p:nvPr/>
        </p:nvSpPr>
        <p:spPr>
          <a:xfrm>
            <a:off x="228600" y="804672"/>
            <a:ext cx="64008" cy="4114800"/>
          </a:xfrm>
          <a:prstGeom prst="rect">
            <a:avLst/>
          </a:prstGeom>
          <a:solidFill>
            <a:srgbClr val="1A6A8C"/>
          </a:solidFill>
          <a:ln cap="flat" cmpd="sng" w="12700">
            <a:solidFill>
              <a:srgbClr val="1A6A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3"/>
          <p:cNvSpPr/>
          <p:nvPr/>
        </p:nvSpPr>
        <p:spPr>
          <a:xfrm>
            <a:off x="411480" y="877824"/>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A6A8C"/>
              </a:buClr>
              <a:buSzPts val="1500"/>
              <a:buFont typeface="Calibri"/>
              <a:buNone/>
            </a:pPr>
            <a:r>
              <a:rPr b="1" i="0" lang="en-US" sz="1500" u="none" cap="none" strike="noStrike">
                <a:solidFill>
                  <a:srgbClr val="1A6A8C"/>
                </a:solidFill>
                <a:latin typeface="Calibri"/>
                <a:ea typeface="Calibri"/>
                <a:cs typeface="Calibri"/>
                <a:sym typeface="Calibri"/>
              </a:rPr>
              <a:t>Sparsity</a:t>
            </a:r>
            <a:endParaRPr b="0" i="0" sz="1500" u="none" cap="none" strike="noStrike">
              <a:solidFill>
                <a:schemeClr val="dk1"/>
              </a:solidFill>
              <a:latin typeface="Calibri"/>
              <a:ea typeface="Calibri"/>
              <a:cs typeface="Calibri"/>
              <a:sym typeface="Calibri"/>
            </a:endParaRPr>
          </a:p>
        </p:txBody>
      </p:sp>
      <p:sp>
        <p:nvSpPr>
          <p:cNvPr id="232" name="Google Shape;232;p13"/>
          <p:cNvSpPr/>
          <p:nvPr/>
        </p:nvSpPr>
        <p:spPr>
          <a:xfrm>
            <a:off x="411480" y="1261872"/>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Large number of drugs with zero or near-zero recorded interaction/metabolism data.</a:t>
            </a:r>
            <a:endParaRPr b="0" i="0" sz="950" u="none" cap="none" strike="noStrike">
              <a:solidFill>
                <a:schemeClr val="dk1"/>
              </a:solidFill>
              <a:latin typeface="Calibri"/>
              <a:ea typeface="Calibri"/>
              <a:cs typeface="Calibri"/>
              <a:sym typeface="Calibri"/>
            </a:endParaRPr>
          </a:p>
        </p:txBody>
      </p:sp>
      <p:sp>
        <p:nvSpPr>
          <p:cNvPr id="233" name="Google Shape;233;p13"/>
          <p:cNvSpPr/>
          <p:nvPr/>
        </p:nvSpPr>
        <p:spPr>
          <a:xfrm>
            <a:off x="411480" y="1874520"/>
            <a:ext cx="3886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Why Sparsity Occurs</a:t>
            </a:r>
            <a:endParaRPr b="0" i="0" sz="1100" u="none" cap="none" strike="noStrike">
              <a:solidFill>
                <a:schemeClr val="dk1"/>
              </a:solidFill>
              <a:latin typeface="Calibri"/>
              <a:ea typeface="Calibri"/>
              <a:cs typeface="Calibri"/>
              <a:sym typeface="Calibri"/>
            </a:endParaRPr>
          </a:p>
        </p:txBody>
      </p:sp>
      <p:sp>
        <p:nvSpPr>
          <p:cNvPr id="234" name="Google Shape;234;p13"/>
          <p:cNvSpPr/>
          <p:nvPr/>
        </p:nvSpPr>
        <p:spPr>
          <a:xfrm>
            <a:off x="411480" y="2176272"/>
            <a:ext cx="388620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Experimental &amp; newly studied compounds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Rare or discontinued drugs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Niche therapeutics with limited research</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Insufficient annotation coverage</a:t>
            </a:r>
            <a:endParaRPr b="0" i="0" sz="950" u="none" cap="none" strike="noStrike">
              <a:solidFill>
                <a:schemeClr val="dk1"/>
              </a:solidFill>
              <a:latin typeface="Calibri"/>
              <a:ea typeface="Calibri"/>
              <a:cs typeface="Calibri"/>
              <a:sym typeface="Calibri"/>
            </a:endParaRPr>
          </a:p>
        </p:txBody>
      </p:sp>
      <p:sp>
        <p:nvSpPr>
          <p:cNvPr id="235" name="Google Shape;235;p13"/>
          <p:cNvSpPr/>
          <p:nvPr/>
        </p:nvSpPr>
        <p:spPr>
          <a:xfrm>
            <a:off x="393192" y="3566160"/>
            <a:ext cx="3886200" cy="1170432"/>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
          <p:cNvSpPr/>
          <p:nvPr/>
        </p:nvSpPr>
        <p:spPr>
          <a:xfrm>
            <a:off x="521208" y="365760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950"/>
              <a:buFont typeface="Calibri"/>
              <a:buNone/>
            </a:pPr>
            <a:r>
              <a:rPr b="1" i="0" lang="en-US" sz="950" u="none" cap="none" strike="noStrike">
                <a:solidFill>
                  <a:srgbClr val="0A7EA4"/>
                </a:solidFill>
                <a:latin typeface="Calibri"/>
                <a:ea typeface="Calibri"/>
                <a:cs typeface="Calibri"/>
                <a:sym typeface="Calibri"/>
              </a:rPr>
              <a:t>Implication for CompoundIQ</a:t>
            </a:r>
            <a:endParaRPr b="0" i="0" sz="950" u="none" cap="none" strike="noStrike">
              <a:solidFill>
                <a:schemeClr val="dk1"/>
              </a:solidFill>
              <a:latin typeface="Calibri"/>
              <a:ea typeface="Calibri"/>
              <a:cs typeface="Calibri"/>
              <a:sym typeface="Calibri"/>
            </a:endParaRPr>
          </a:p>
        </p:txBody>
      </p:sp>
      <p:sp>
        <p:nvSpPr>
          <p:cNvPr id="237" name="Google Shape;237;p13"/>
          <p:cNvSpPr/>
          <p:nvPr/>
        </p:nvSpPr>
        <p:spPr>
          <a:xfrm>
            <a:off x="521208" y="3931920"/>
            <a:ext cx="3657600" cy="713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0" i="0" lang="en-US" sz="900" u="none" cap="none" strike="noStrike">
                <a:solidFill>
                  <a:srgbClr val="0D1B2A"/>
                </a:solidFill>
                <a:latin typeface="Calibri"/>
                <a:ea typeface="Calibri"/>
                <a:cs typeface="Calibri"/>
                <a:sym typeface="Calibri"/>
              </a:rPr>
              <a:t>Zero-imputation and active-drug subsetting (4,657 of 19,830) were applied to preserve signal quality.</a:t>
            </a:r>
            <a:endParaRPr b="0" i="0" sz="900" u="none" cap="none" strike="noStrike">
              <a:solidFill>
                <a:schemeClr val="dk1"/>
              </a:solidFill>
              <a:latin typeface="Calibri"/>
              <a:ea typeface="Calibri"/>
              <a:cs typeface="Calibri"/>
              <a:sym typeface="Calibri"/>
            </a:endParaRPr>
          </a:p>
        </p:txBody>
      </p:sp>
      <p:sp>
        <p:nvSpPr>
          <p:cNvPr id="238" name="Google Shape;238;p13"/>
          <p:cNvSpPr/>
          <p:nvPr/>
        </p:nvSpPr>
        <p:spPr>
          <a:xfrm>
            <a:off x="4663440" y="804672"/>
            <a:ext cx="4206240" cy="4114800"/>
          </a:xfrm>
          <a:prstGeom prst="rect">
            <a:avLst/>
          </a:prstGeom>
          <a:solidFill>
            <a:srgbClr val="FFFFFF"/>
          </a:solidFill>
          <a:ln cap="flat" cmpd="sng" w="12700">
            <a:solidFill>
              <a:srgbClr val="D1E8F0"/>
            </a:solidFill>
            <a:prstDash val="solid"/>
            <a:round/>
            <a:headEnd len="sm" w="sm" type="none"/>
            <a:tailEnd len="sm" w="sm" type="none"/>
          </a:ln>
          <a:effectLst>
            <a:outerShdw blurRad="76200" rotWithShape="0" algn="bl" dir="81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p:nvPr/>
        </p:nvSpPr>
        <p:spPr>
          <a:xfrm>
            <a:off x="4663440" y="804672"/>
            <a:ext cx="64008" cy="4114800"/>
          </a:xfrm>
          <a:prstGeom prst="rect">
            <a:avLst/>
          </a:prstGeom>
          <a:solidFill>
            <a:srgbClr val="145E4E"/>
          </a:solidFill>
          <a:ln cap="flat" cmpd="sng" w="12700">
            <a:solidFill>
              <a:srgbClr val="145E4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3"/>
          <p:cNvSpPr/>
          <p:nvPr/>
        </p:nvSpPr>
        <p:spPr>
          <a:xfrm>
            <a:off x="4846320" y="877824"/>
            <a:ext cx="3886200" cy="34747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45E4E"/>
              </a:buClr>
              <a:buSzPts val="1500"/>
              <a:buFont typeface="Calibri"/>
              <a:buNone/>
            </a:pPr>
            <a:r>
              <a:rPr b="1" i="0" lang="en-US" sz="1500" u="none" cap="none" strike="noStrike">
                <a:solidFill>
                  <a:srgbClr val="145E4E"/>
                </a:solidFill>
                <a:latin typeface="Calibri"/>
                <a:ea typeface="Calibri"/>
                <a:cs typeface="Calibri"/>
                <a:sym typeface="Calibri"/>
              </a:rPr>
              <a:t>Long-Tail Distribution</a:t>
            </a:r>
            <a:endParaRPr b="0" i="0" sz="1500" u="none" cap="none" strike="noStrike">
              <a:solidFill>
                <a:schemeClr val="dk1"/>
              </a:solidFill>
              <a:latin typeface="Calibri"/>
              <a:ea typeface="Calibri"/>
              <a:cs typeface="Calibri"/>
              <a:sym typeface="Calibri"/>
            </a:endParaRPr>
          </a:p>
        </p:txBody>
      </p:sp>
      <p:sp>
        <p:nvSpPr>
          <p:cNvPr id="241" name="Google Shape;241;p13"/>
          <p:cNvSpPr/>
          <p:nvPr/>
        </p:nvSpPr>
        <p:spPr>
          <a:xfrm>
            <a:off x="4846320" y="1261872"/>
            <a:ext cx="3886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A small subset of highly studied drugs accounts for most documented interactions and annotations.</a:t>
            </a:r>
            <a:endParaRPr b="0" i="0" sz="950" u="none" cap="none" strike="noStrike">
              <a:solidFill>
                <a:schemeClr val="dk1"/>
              </a:solidFill>
              <a:latin typeface="Calibri"/>
              <a:ea typeface="Calibri"/>
              <a:cs typeface="Calibri"/>
              <a:sym typeface="Calibri"/>
            </a:endParaRPr>
          </a:p>
        </p:txBody>
      </p:sp>
      <p:sp>
        <p:nvSpPr>
          <p:cNvPr id="242" name="Google Shape;242;p13"/>
          <p:cNvSpPr/>
          <p:nvPr/>
        </p:nvSpPr>
        <p:spPr>
          <a:xfrm>
            <a:off x="4846320" y="1874520"/>
            <a:ext cx="3886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1100"/>
              <a:buFont typeface="Calibri"/>
              <a:buNone/>
            </a:pPr>
            <a:r>
              <a:rPr b="1" i="0" lang="en-US" sz="1100" u="none" cap="none" strike="noStrike">
                <a:solidFill>
                  <a:srgbClr val="0D1B2A"/>
                </a:solidFill>
                <a:latin typeface="Calibri"/>
                <a:ea typeface="Calibri"/>
                <a:cs typeface="Calibri"/>
                <a:sym typeface="Calibri"/>
              </a:rPr>
              <a:t>Why Long-Tail Occurs</a:t>
            </a:r>
            <a:endParaRPr b="0" i="0" sz="1100" u="none" cap="none" strike="noStrike">
              <a:solidFill>
                <a:schemeClr val="dk1"/>
              </a:solidFill>
              <a:latin typeface="Calibri"/>
              <a:ea typeface="Calibri"/>
              <a:cs typeface="Calibri"/>
              <a:sym typeface="Calibri"/>
            </a:endParaRPr>
          </a:p>
        </p:txBody>
      </p:sp>
      <p:sp>
        <p:nvSpPr>
          <p:cNvPr id="243" name="Google Shape;243;p13"/>
          <p:cNvSpPr/>
          <p:nvPr/>
        </p:nvSpPr>
        <p:spPr>
          <a:xfrm>
            <a:off x="4846320" y="2176272"/>
            <a:ext cx="3886200" cy="1371600"/>
          </a:xfrm>
          <a:prstGeom prst="rect">
            <a:avLst/>
          </a:prstGeom>
          <a:noFill/>
          <a:ln>
            <a:noFill/>
          </a:ln>
        </p:spPr>
        <p:txBody>
          <a:bodyPr anchorCtr="0" anchor="ctr" bIns="45700" lIns="91425" spcFirstLastPara="1" rIns="91425" wrap="square" tIns="45700">
            <a:noAutofit/>
          </a:bodyPr>
          <a:lstStyle/>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Research focuses on common &amp; older drugs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Clinically important drugs accumulate citations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More reported interactions over decades</a:t>
            </a:r>
            <a:endParaRPr b="0" i="0" sz="95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rgbClr val="64748B"/>
              </a:buClr>
              <a:buSzPts val="950"/>
              <a:buFont typeface="Calibri"/>
              <a:buChar char="•"/>
            </a:pPr>
            <a:r>
              <a:rPr b="0" i="0" lang="en-US" sz="950" u="none" cap="none" strike="noStrike">
                <a:solidFill>
                  <a:srgbClr val="64748B"/>
                </a:solidFill>
                <a:latin typeface="Calibri"/>
                <a:ea typeface="Calibri"/>
                <a:cs typeface="Calibri"/>
                <a:sym typeface="Calibri"/>
              </a:rPr>
              <a:t>Regulatory attention drives annotation depth</a:t>
            </a:r>
            <a:endParaRPr b="0" i="0" sz="950" u="none" cap="none" strike="noStrike">
              <a:solidFill>
                <a:schemeClr val="dk1"/>
              </a:solidFill>
              <a:latin typeface="Calibri"/>
              <a:ea typeface="Calibri"/>
              <a:cs typeface="Calibri"/>
              <a:sym typeface="Calibri"/>
            </a:endParaRPr>
          </a:p>
        </p:txBody>
      </p:sp>
      <p:sp>
        <p:nvSpPr>
          <p:cNvPr id="244" name="Google Shape;244;p13"/>
          <p:cNvSpPr/>
          <p:nvPr/>
        </p:nvSpPr>
        <p:spPr>
          <a:xfrm>
            <a:off x="4828032" y="3566160"/>
            <a:ext cx="3886200" cy="1170432"/>
          </a:xfrm>
          <a:prstGeom prst="rect">
            <a:avLst/>
          </a:prstGeom>
          <a:solidFill>
            <a:srgbClr val="C8EFF7"/>
          </a:solidFill>
          <a:ln cap="flat" cmpd="sng" w="12700">
            <a:solidFill>
              <a:srgbClr val="A8D8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3"/>
          <p:cNvSpPr/>
          <p:nvPr/>
        </p:nvSpPr>
        <p:spPr>
          <a:xfrm>
            <a:off x="4956048" y="3657600"/>
            <a:ext cx="36576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A7EA4"/>
              </a:buClr>
              <a:buSzPts val="950"/>
              <a:buFont typeface="Calibri"/>
              <a:buNone/>
            </a:pPr>
            <a:r>
              <a:rPr b="1" i="0" lang="en-US" sz="950" u="none" cap="none" strike="noStrike">
                <a:solidFill>
                  <a:srgbClr val="0A7EA4"/>
                </a:solidFill>
                <a:latin typeface="Calibri"/>
                <a:ea typeface="Calibri"/>
                <a:cs typeface="Calibri"/>
                <a:sym typeface="Calibri"/>
              </a:rPr>
              <a:t>Implication for CompoundIQ</a:t>
            </a:r>
            <a:endParaRPr b="0" i="0" sz="950" u="none" cap="none" strike="noStrike">
              <a:solidFill>
                <a:schemeClr val="dk1"/>
              </a:solidFill>
              <a:latin typeface="Calibri"/>
              <a:ea typeface="Calibri"/>
              <a:cs typeface="Calibri"/>
              <a:sym typeface="Calibri"/>
            </a:endParaRPr>
          </a:p>
        </p:txBody>
      </p:sp>
      <p:sp>
        <p:nvSpPr>
          <p:cNvPr id="246" name="Google Shape;246;p13"/>
          <p:cNvSpPr/>
          <p:nvPr/>
        </p:nvSpPr>
        <p:spPr>
          <a:xfrm>
            <a:off x="4956048" y="3931920"/>
            <a:ext cx="3657600" cy="7132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D1B2A"/>
              </a:buClr>
              <a:buSzPts val="900"/>
              <a:buFont typeface="Calibri"/>
              <a:buNone/>
            </a:pPr>
            <a:r>
              <a:rPr b="0" i="0" lang="en-US" sz="900" u="none" cap="none" strike="noStrike">
                <a:solidFill>
                  <a:srgbClr val="0D1B2A"/>
                </a:solidFill>
                <a:latin typeface="Calibri"/>
                <a:ea typeface="Calibri"/>
                <a:cs typeface="Calibri"/>
                <a:sym typeface="Calibri"/>
              </a:rPr>
              <a:t>Model training leverages well-annotated drugs while the pipeline remains extensible as annotations grow.</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51" name="Shape 251"/>
        <p:cNvGrpSpPr/>
        <p:nvPr/>
      </p:nvGrpSpPr>
      <p:grpSpPr>
        <a:xfrm>
          <a:off x="0" y="0"/>
          <a:ext cx="0" cy="0"/>
          <a:chOff x="0" y="0"/>
          <a:chExt cx="0" cy="0"/>
        </a:xfrm>
      </p:grpSpPr>
      <p:sp>
        <p:nvSpPr>
          <p:cNvPr id="252" name="Google Shape;252;p14"/>
          <p:cNvSpPr/>
          <p:nvPr/>
        </p:nvSpPr>
        <p:spPr>
          <a:xfrm>
            <a:off x="0" y="0"/>
            <a:ext cx="9144000" cy="658368"/>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a:off x="365760" y="0"/>
            <a:ext cx="8229600" cy="65836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Code Deep-Dive  |  Key Implementation Snippets</a:t>
            </a:r>
            <a:endParaRPr b="0" i="0" sz="2000" u="none" cap="none" strike="noStrike">
              <a:solidFill>
                <a:schemeClr val="dk1"/>
              </a:solidFill>
              <a:latin typeface="Calibri"/>
              <a:ea typeface="Calibri"/>
              <a:cs typeface="Calibri"/>
              <a:sym typeface="Calibri"/>
            </a:endParaRPr>
          </a:p>
        </p:txBody>
      </p:sp>
      <p:sp>
        <p:nvSpPr>
          <p:cNvPr id="254" name="Google Shape;254;p14"/>
          <p:cNvSpPr/>
          <p:nvPr/>
        </p:nvSpPr>
        <p:spPr>
          <a:xfrm>
            <a:off x="228600" y="804672"/>
            <a:ext cx="422452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lang="en-US" sz="1000">
                <a:solidFill>
                  <a:srgbClr val="C8EFF7"/>
                </a:solidFill>
                <a:latin typeface="Calibri"/>
                <a:ea typeface="Calibri"/>
                <a:cs typeface="Calibri"/>
                <a:sym typeface="Calibri"/>
              </a:rPr>
              <a:t>ChEMBL</a:t>
            </a:r>
            <a:r>
              <a:rPr b="1" i="0" lang="en-US" sz="1000" u="none" cap="none" strike="noStrike">
                <a:solidFill>
                  <a:srgbClr val="C8EFF7"/>
                </a:solidFill>
                <a:latin typeface="Calibri"/>
                <a:ea typeface="Calibri"/>
                <a:cs typeface="Calibri"/>
                <a:sym typeface="Calibri"/>
              </a:rPr>
              <a:t> Streaming Download (738 MB)</a:t>
            </a:r>
            <a:endParaRPr b="0" i="0" sz="1000" u="none" cap="none" strike="noStrike">
              <a:solidFill>
                <a:schemeClr val="dk1"/>
              </a:solidFill>
              <a:latin typeface="Calibri"/>
              <a:ea typeface="Calibri"/>
              <a:cs typeface="Calibri"/>
              <a:sym typeface="Calibri"/>
            </a:endParaRPr>
          </a:p>
        </p:txBody>
      </p:sp>
      <p:sp>
        <p:nvSpPr>
          <p:cNvPr id="255" name="Google Shape;255;p14"/>
          <p:cNvSpPr/>
          <p:nvPr/>
        </p:nvSpPr>
        <p:spPr>
          <a:xfrm>
            <a:off x="228600" y="1097280"/>
            <a:ext cx="4224528" cy="224028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228600" y="1097280"/>
            <a:ext cx="54864" cy="22402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338328" y="1170432"/>
            <a:ext cx="4059936" cy="21305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url = "https://tatonettilab-resources.s3.amazonaws.com/nsides/TWOSIDES.csv.gz"</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response = requests.get(url, stream=True)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total = int(response.headers.get('content-length', 0))</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with open('data/raw/TWOSIDES.csv.gz', 'wb') as 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with tqdm(total=total, unit='B', unit_scale=True) as pbar:</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for chunk in response.iter_content(8192):</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f.write(chunk)</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pbar.update(len(chunk))</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Decompress to CSV</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with gzip.open('data/raw/TWOSIDES.csv.gz', 'rt') as 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 = pd.read_csv(f)</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df.to_csv('data/raw/twosides.csv', index=False)</a:t>
            </a:r>
            <a:endParaRPr b="0" i="0" sz="750" u="none" cap="none" strike="noStrike">
              <a:solidFill>
                <a:schemeClr val="dk1"/>
              </a:solidFill>
              <a:latin typeface="Calibri"/>
              <a:ea typeface="Calibri"/>
              <a:cs typeface="Calibri"/>
              <a:sym typeface="Calibri"/>
            </a:endParaRPr>
          </a:p>
        </p:txBody>
      </p:sp>
      <p:sp>
        <p:nvSpPr>
          <p:cNvPr id="258" name="Google Shape;258;p14"/>
          <p:cNvSpPr/>
          <p:nvPr/>
        </p:nvSpPr>
        <p:spPr>
          <a:xfrm>
            <a:off x="4681728" y="804672"/>
            <a:ext cx="4224528"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i="0" lang="en-US" sz="1000" u="none" cap="none" strike="noStrike">
                <a:solidFill>
                  <a:srgbClr val="C8EFF7"/>
                </a:solidFill>
                <a:latin typeface="Calibri"/>
                <a:ea typeface="Calibri"/>
                <a:cs typeface="Calibri"/>
                <a:sym typeface="Calibri"/>
              </a:rPr>
              <a:t>Feature Engineering Pipeline</a:t>
            </a:r>
            <a:endParaRPr b="0" i="0" sz="1000" u="none" cap="none" strike="noStrike">
              <a:solidFill>
                <a:schemeClr val="dk1"/>
              </a:solidFill>
              <a:latin typeface="Calibri"/>
              <a:ea typeface="Calibri"/>
              <a:cs typeface="Calibri"/>
              <a:sym typeface="Calibri"/>
            </a:endParaRPr>
          </a:p>
        </p:txBody>
      </p:sp>
      <p:sp>
        <p:nvSpPr>
          <p:cNvPr id="259" name="Google Shape;259;p14"/>
          <p:cNvSpPr/>
          <p:nvPr/>
        </p:nvSpPr>
        <p:spPr>
          <a:xfrm>
            <a:off x="4681728" y="1097280"/>
            <a:ext cx="4224528" cy="224028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
          <p:cNvSpPr/>
          <p:nvPr/>
        </p:nvSpPr>
        <p:spPr>
          <a:xfrm>
            <a:off x="4681728" y="1097280"/>
            <a:ext cx="54864" cy="22402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4791456" y="1170432"/>
            <a:ext cx="4059936" cy="213055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Merge interaction counts from both directions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df_feats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df_interactions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.groupby('drugbank_id_subject')['drugbank_id_affected']</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.count()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.reset_index()</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.rename(columns={'drugbank_id_affected': 'n_as_subject'})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Merge CYP enzyme counts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df_cyp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df_enzymes[df_enzymes['enzyme'].str.startswith('CYP')]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.groupby('drugbank_id')['enzyme']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.nunique()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.reset_index()</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.rename(columns={'enzyme': 'n_unique_cyp'})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750"/>
              <a:buFont typeface="Calibri"/>
              <a:buNone/>
            </a:pPr>
            <a:r>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Composite safety score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df['safety_complexity_score'] = (</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np.log1p(df['total_interactions']) + df['n_unique_cyp']</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p:txBody>
      </p:sp>
      <p:sp>
        <p:nvSpPr>
          <p:cNvPr id="262" name="Google Shape;262;p14"/>
          <p:cNvSpPr/>
          <p:nvPr/>
        </p:nvSpPr>
        <p:spPr>
          <a:xfrm>
            <a:off x="228600" y="3246120"/>
            <a:ext cx="8686800" cy="256032"/>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000"/>
              <a:buFont typeface="Calibri"/>
              <a:buNone/>
            </a:pPr>
            <a:r>
              <a:rPr b="1" i="0" lang="en-US" sz="1000" u="none" cap="none" strike="noStrike">
                <a:solidFill>
                  <a:srgbClr val="C8EFF7"/>
                </a:solidFill>
                <a:latin typeface="Calibri"/>
                <a:ea typeface="Calibri"/>
                <a:cs typeface="Calibri"/>
                <a:sym typeface="Calibri"/>
              </a:rPr>
              <a:t>Verification Output</a:t>
            </a:r>
            <a:endParaRPr b="0" i="0" sz="1000" u="none" cap="none" strike="noStrike">
              <a:solidFill>
                <a:schemeClr val="dk1"/>
              </a:solidFill>
              <a:latin typeface="Calibri"/>
              <a:ea typeface="Calibri"/>
              <a:cs typeface="Calibri"/>
              <a:sym typeface="Calibri"/>
            </a:endParaRPr>
          </a:p>
        </p:txBody>
      </p:sp>
      <p:sp>
        <p:nvSpPr>
          <p:cNvPr id="263" name="Google Shape;263;p14"/>
          <p:cNvSpPr/>
          <p:nvPr/>
        </p:nvSpPr>
        <p:spPr>
          <a:xfrm>
            <a:off x="228600" y="3520440"/>
            <a:ext cx="8686800" cy="1417320"/>
          </a:xfrm>
          <a:prstGeom prst="rect">
            <a:avLst/>
          </a:prstGeom>
          <a:solidFill>
            <a:srgbClr val="1E2D3D"/>
          </a:solidFill>
          <a:ln cap="flat" cmpd="sng" w="12700">
            <a:solidFill>
              <a:srgbClr val="0A406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228600" y="3520440"/>
            <a:ext cx="54864" cy="141732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338328" y="3593592"/>
            <a:ext cx="8522208" cy="130759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WEEK 4: DATA COLLECTION COMPLETE</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ChEMBL      |  144.9 MB | 50,000 records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SIDER       |   14.7 MB | 309,849 records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ZINC        |    0.0 MB | 7 molecules</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a:t>
            </a:r>
            <a:endParaRPr b="0" i="0" sz="7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A8D8EA"/>
              </a:buClr>
              <a:buSzPts val="750"/>
              <a:buFont typeface="Consolas"/>
              <a:buNone/>
            </a:pPr>
            <a:r>
              <a:rPr b="0" i="0" lang="en-US" sz="750" u="none" cap="none" strike="noStrike">
                <a:solidFill>
                  <a:srgbClr val="A8D8EA"/>
                </a:solidFill>
                <a:latin typeface="Consolas"/>
                <a:ea typeface="Consolas"/>
                <a:cs typeface="Consolas"/>
                <a:sym typeface="Consolas"/>
              </a:rPr>
              <a:t>🎉 Week 4 Complete – 3 Datasets Ready!</a:t>
            </a:r>
            <a:endParaRPr b="0" i="0" sz="750" u="none" cap="none" strike="noStrike">
              <a:solidFill>
                <a:schemeClr val="dk1"/>
              </a:solidFill>
              <a:latin typeface="Calibri"/>
              <a:ea typeface="Calibri"/>
              <a:cs typeface="Calibri"/>
              <a:sym typeface="Calibri"/>
            </a:endParaRPr>
          </a:p>
        </p:txBody>
      </p:sp>
      <p:pic>
        <p:nvPicPr>
          <p:cNvPr id="266" name="Google Shape;266;p14" title="Screenshot 2026-02-18 114114.png"/>
          <p:cNvPicPr preferRelativeResize="0"/>
          <p:nvPr/>
        </p:nvPicPr>
        <p:blipFill rotWithShape="1">
          <a:blip r:embed="rId3">
            <a:alphaModFix/>
          </a:blip>
          <a:srcRect b="0" l="6728" r="12208" t="0"/>
          <a:stretch/>
        </p:blipFill>
        <p:spPr>
          <a:xfrm>
            <a:off x="5432125" y="3520450"/>
            <a:ext cx="3474125" cy="1417300"/>
          </a:xfrm>
          <a:prstGeom prst="rect">
            <a:avLst/>
          </a:prstGeom>
          <a:noFill/>
          <a:ln>
            <a:noFill/>
          </a:ln>
        </p:spPr>
      </p:pic>
      <p:pic>
        <p:nvPicPr>
          <p:cNvPr id="267" name="Google Shape;267;p14" title="Screenshot 2026-02-18 112312.png"/>
          <p:cNvPicPr preferRelativeResize="0"/>
          <p:nvPr/>
        </p:nvPicPr>
        <p:blipFill rotWithShape="1">
          <a:blip r:embed="rId4">
            <a:alphaModFix/>
          </a:blip>
          <a:srcRect b="53931" l="0" r="49052" t="0"/>
          <a:stretch/>
        </p:blipFill>
        <p:spPr>
          <a:xfrm>
            <a:off x="283475" y="1115575"/>
            <a:ext cx="4142225" cy="2240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72" name="Shape 272"/>
        <p:cNvGrpSpPr/>
        <p:nvPr/>
      </p:nvGrpSpPr>
      <p:grpSpPr>
        <a:xfrm>
          <a:off x="0" y="0"/>
          <a:ext cx="0" cy="0"/>
          <a:chOff x="0" y="0"/>
          <a:chExt cx="0" cy="0"/>
        </a:xfrm>
      </p:grpSpPr>
      <p:sp>
        <p:nvSpPr>
          <p:cNvPr id="273" name="Google Shape;273;p15"/>
          <p:cNvSpPr/>
          <p:nvPr/>
        </p:nvSpPr>
        <p:spPr>
          <a:xfrm>
            <a:off x="0" y="0"/>
            <a:ext cx="164592"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5"/>
          <p:cNvSpPr/>
          <p:nvPr/>
        </p:nvSpPr>
        <p:spPr>
          <a:xfrm>
            <a:off x="6400800" y="3200400"/>
            <a:ext cx="4114800" cy="4114800"/>
          </a:xfrm>
          <a:prstGeom prst="ellipse">
            <a:avLst/>
          </a:prstGeom>
          <a:solidFill>
            <a:srgbClr val="0A2E42"/>
          </a:solidFill>
          <a:ln cap="flat" cmpd="sng" w="12700">
            <a:solidFill>
              <a:srgbClr val="0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5"/>
          <p:cNvSpPr/>
          <p:nvPr/>
        </p:nvSpPr>
        <p:spPr>
          <a:xfrm>
            <a:off x="411480" y="91440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Phase 2 Summary</a:t>
            </a:r>
            <a:endParaRPr b="0" i="0" sz="3200" u="none" cap="none" strike="noStrike">
              <a:solidFill>
                <a:schemeClr val="dk1"/>
              </a:solidFill>
              <a:latin typeface="Calibri"/>
              <a:ea typeface="Calibri"/>
              <a:cs typeface="Calibri"/>
              <a:sym typeface="Calibri"/>
            </a:endParaRPr>
          </a:p>
        </p:txBody>
      </p:sp>
      <p:sp>
        <p:nvSpPr>
          <p:cNvPr id="276" name="Google Shape;276;p15"/>
          <p:cNvSpPr/>
          <p:nvPr/>
        </p:nvSpPr>
        <p:spPr>
          <a:xfrm>
            <a:off x="411480" y="1508760"/>
            <a:ext cx="73152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500"/>
              <a:buFont typeface="Calibri"/>
              <a:buNone/>
            </a:pPr>
            <a:r>
              <a:rPr b="0" i="1" lang="en-US" sz="1500" u="none" cap="none" strike="noStrike">
                <a:solidFill>
                  <a:srgbClr val="C8EFF7"/>
                </a:solidFill>
                <a:latin typeface="Calibri"/>
                <a:ea typeface="Calibri"/>
                <a:cs typeface="Calibri"/>
                <a:sym typeface="Calibri"/>
              </a:rPr>
              <a:t>Data Pipeline &amp; Exploratory Analysis Complete</a:t>
            </a:r>
            <a:endParaRPr b="0" i="0" sz="1500" u="none" cap="none" strike="noStrike">
              <a:solidFill>
                <a:schemeClr val="dk1"/>
              </a:solidFill>
              <a:latin typeface="Calibri"/>
              <a:ea typeface="Calibri"/>
              <a:cs typeface="Calibri"/>
              <a:sym typeface="Calibri"/>
            </a:endParaRPr>
          </a:p>
        </p:txBody>
      </p:sp>
      <p:sp>
        <p:nvSpPr>
          <p:cNvPr id="277" name="Google Shape;277;p15"/>
          <p:cNvSpPr/>
          <p:nvPr/>
        </p:nvSpPr>
        <p:spPr>
          <a:xfrm>
            <a:off x="411480" y="2148840"/>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5"/>
          <p:cNvSpPr/>
          <p:nvPr/>
        </p:nvSpPr>
        <p:spPr>
          <a:xfrm>
            <a:off x="411480" y="2148840"/>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4</a:t>
            </a:r>
            <a:endParaRPr b="0" i="0" sz="900" u="none" cap="none" strike="noStrike">
              <a:solidFill>
                <a:schemeClr val="dk1"/>
              </a:solidFill>
              <a:latin typeface="Calibri"/>
              <a:ea typeface="Calibri"/>
              <a:cs typeface="Calibri"/>
              <a:sym typeface="Calibri"/>
            </a:endParaRPr>
          </a:p>
        </p:txBody>
      </p:sp>
      <p:sp>
        <p:nvSpPr>
          <p:cNvPr id="279" name="Google Shape;279;p15"/>
          <p:cNvSpPr/>
          <p:nvPr/>
        </p:nvSpPr>
        <p:spPr>
          <a:xfrm>
            <a:off x="1463040" y="2148840"/>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3 primary datasets collected &amp; organized (DrugBank, SIDER, ChEMBL)</a:t>
            </a:r>
            <a:endParaRPr b="0" i="0" sz="1100" u="none" cap="none" strike="noStrike">
              <a:solidFill>
                <a:schemeClr val="dk1"/>
              </a:solidFill>
              <a:latin typeface="Calibri"/>
              <a:ea typeface="Calibri"/>
              <a:cs typeface="Calibri"/>
              <a:sym typeface="Calibri"/>
            </a:endParaRPr>
          </a:p>
        </p:txBody>
      </p:sp>
      <p:sp>
        <p:nvSpPr>
          <p:cNvPr id="280" name="Google Shape;280;p15"/>
          <p:cNvSpPr/>
          <p:nvPr/>
        </p:nvSpPr>
        <p:spPr>
          <a:xfrm>
            <a:off x="411480" y="2807208"/>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5"/>
          <p:cNvSpPr/>
          <p:nvPr/>
        </p:nvSpPr>
        <p:spPr>
          <a:xfrm>
            <a:off x="411480" y="2807208"/>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5</a:t>
            </a:r>
            <a:endParaRPr b="0" i="0" sz="900" u="none" cap="none" strike="noStrike">
              <a:solidFill>
                <a:schemeClr val="dk1"/>
              </a:solidFill>
              <a:latin typeface="Calibri"/>
              <a:ea typeface="Calibri"/>
              <a:cs typeface="Calibri"/>
              <a:sym typeface="Calibri"/>
            </a:endParaRPr>
          </a:p>
        </p:txBody>
      </p:sp>
      <p:sp>
        <p:nvSpPr>
          <p:cNvPr id="282" name="Google Shape;282;p15"/>
          <p:cNvSpPr/>
          <p:nvPr/>
        </p:nvSpPr>
        <p:spPr>
          <a:xfrm>
            <a:off x="1463040" y="2807208"/>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19,830 drugs cleaned; safety complexity score engineered; 70/15/15 split applied</a:t>
            </a:r>
            <a:endParaRPr b="0" i="0" sz="1100" u="none" cap="none" strike="noStrike">
              <a:solidFill>
                <a:schemeClr val="dk1"/>
              </a:solidFill>
              <a:latin typeface="Calibri"/>
              <a:ea typeface="Calibri"/>
              <a:cs typeface="Calibri"/>
              <a:sym typeface="Calibri"/>
            </a:endParaRPr>
          </a:p>
        </p:txBody>
      </p:sp>
      <p:sp>
        <p:nvSpPr>
          <p:cNvPr id="283" name="Google Shape;283;p15"/>
          <p:cNvSpPr/>
          <p:nvPr/>
        </p:nvSpPr>
        <p:spPr>
          <a:xfrm>
            <a:off x="411480" y="3465576"/>
            <a:ext cx="914400" cy="41148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5"/>
          <p:cNvSpPr/>
          <p:nvPr/>
        </p:nvSpPr>
        <p:spPr>
          <a:xfrm>
            <a:off x="411480" y="3465576"/>
            <a:ext cx="91440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Week 6</a:t>
            </a:r>
            <a:endParaRPr b="0" i="0" sz="900" u="none" cap="none" strike="noStrike">
              <a:solidFill>
                <a:schemeClr val="dk1"/>
              </a:solidFill>
              <a:latin typeface="Calibri"/>
              <a:ea typeface="Calibri"/>
              <a:cs typeface="Calibri"/>
              <a:sym typeface="Calibri"/>
            </a:endParaRPr>
          </a:p>
        </p:txBody>
      </p:sp>
      <p:sp>
        <p:nvSpPr>
          <p:cNvPr id="285" name="Google Shape;285;p15"/>
          <p:cNvSpPr/>
          <p:nvPr/>
        </p:nvSpPr>
        <p:spPr>
          <a:xfrm>
            <a:off x="1463040" y="3465576"/>
            <a:ext cx="594360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C8EFF7"/>
              </a:buClr>
              <a:buSzPts val="1100"/>
              <a:buFont typeface="Calibri"/>
              <a:buNone/>
            </a:pPr>
            <a:r>
              <a:rPr b="0" i="0" lang="en-US" sz="1100" u="none" cap="none" strike="noStrike">
                <a:solidFill>
                  <a:srgbClr val="C8EFF7"/>
                </a:solidFill>
                <a:latin typeface="Calibri"/>
                <a:ea typeface="Calibri"/>
                <a:cs typeface="Calibri"/>
                <a:sym typeface="Calibri"/>
              </a:rPr>
              <a:t>EDA confirms long-tail distributions; top complexity drugs validated against pharmacology</a:t>
            </a:r>
            <a:endParaRPr b="0" i="0" sz="1100" u="none" cap="none" strike="noStrike">
              <a:solidFill>
                <a:schemeClr val="dk1"/>
              </a:solidFill>
              <a:latin typeface="Calibri"/>
              <a:ea typeface="Calibri"/>
              <a:cs typeface="Calibri"/>
              <a:sym typeface="Calibri"/>
            </a:endParaRPr>
          </a:p>
        </p:txBody>
      </p:sp>
      <p:sp>
        <p:nvSpPr>
          <p:cNvPr id="286" name="Google Shape;286;p15"/>
          <p:cNvSpPr/>
          <p:nvPr/>
        </p:nvSpPr>
        <p:spPr>
          <a:xfrm>
            <a:off x="411480" y="4526280"/>
            <a:ext cx="82296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4A8FA8"/>
              </a:buClr>
              <a:buSzPts val="1000"/>
              <a:buFont typeface="Calibri"/>
              <a:buNone/>
            </a:pPr>
            <a:r>
              <a:rPr b="0" i="1" lang="en-US" sz="1000" u="none" cap="none" strike="noStrike">
                <a:solidFill>
                  <a:srgbClr val="4A8FA8"/>
                </a:solidFill>
                <a:latin typeface="Calibri"/>
                <a:ea typeface="Calibri"/>
                <a:cs typeface="Calibri"/>
                <a:sym typeface="Calibri"/>
              </a:rPr>
              <a:t>Next: Phase 3 – Model Development &amp; Training</a:t>
            </a:r>
            <a:endParaRPr b="0" i="0" sz="1000" u="none" cap="none" strike="noStrike">
              <a:solidFill>
                <a:schemeClr val="dk1"/>
              </a:solidFill>
              <a:latin typeface="Calibri"/>
              <a:ea typeface="Calibri"/>
              <a:cs typeface="Calibri"/>
              <a:sym typeface="Calibri"/>
            </a:endParaRPr>
          </a:p>
        </p:txBody>
      </p:sp>
      <p:sp>
        <p:nvSpPr>
          <p:cNvPr id="287" name="Google Shape;287;p15"/>
          <p:cNvSpPr/>
          <p:nvPr/>
        </p:nvSpPr>
        <p:spPr>
          <a:xfrm>
            <a:off x="411480" y="4754880"/>
            <a:ext cx="841248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6A80"/>
              </a:buClr>
              <a:buSzPts val="800"/>
              <a:buFont typeface="Calibri"/>
              <a:buNone/>
            </a:pPr>
            <a:r>
              <a:rPr b="0" i="0" lang="en-US" sz="800" u="none" cap="none" strike="noStrike">
                <a:solidFill>
                  <a:srgbClr val="3A6A80"/>
                </a:solidFill>
                <a:latin typeface="Calibri"/>
                <a:ea typeface="Calibri"/>
                <a:cs typeface="Calibri"/>
                <a:sym typeface="Calibri"/>
              </a:rPr>
              <a:t>Nicole Marcial  ·  Oluchi Obinna  ·  Oyinade Balogun  ·  Sharise Griggs  |  ITAI 2277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292" name="Shape 292"/>
        <p:cNvGrpSpPr/>
        <p:nvPr/>
      </p:nvGrpSpPr>
      <p:grpSpPr>
        <a:xfrm>
          <a:off x="0" y="0"/>
          <a:ext cx="0" cy="0"/>
          <a:chOff x="0" y="0"/>
          <a:chExt cx="0" cy="0"/>
        </a:xfrm>
      </p:grpSpPr>
      <p:sp>
        <p:nvSpPr>
          <p:cNvPr id="293" name="Google Shape;293;p16"/>
          <p:cNvSpPr/>
          <p:nvPr/>
        </p:nvSpPr>
        <p:spPr>
          <a:xfrm>
            <a:off x="0" y="0"/>
            <a:ext cx="164700" cy="5143500"/>
          </a:xfrm>
          <a:prstGeom prst="rect">
            <a:avLst/>
          </a:prstGeom>
          <a:solidFill>
            <a:srgbClr val="0A7EA4"/>
          </a:solidFill>
          <a:ln cap="flat" cmpd="sng" w="12700">
            <a:solidFill>
              <a:srgbClr val="0A7EA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6"/>
          <p:cNvSpPr/>
          <p:nvPr/>
        </p:nvSpPr>
        <p:spPr>
          <a:xfrm>
            <a:off x="6400800" y="3200400"/>
            <a:ext cx="4114800" cy="4114800"/>
          </a:xfrm>
          <a:prstGeom prst="ellipse">
            <a:avLst/>
          </a:prstGeom>
          <a:solidFill>
            <a:srgbClr val="0A2E42"/>
          </a:solidFill>
          <a:ln cap="flat" cmpd="sng" w="12700">
            <a:solidFill>
              <a:srgbClr val="0A2E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p:nvPr/>
        </p:nvSpPr>
        <p:spPr>
          <a:xfrm>
            <a:off x="411480" y="410125"/>
            <a:ext cx="7315200" cy="548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200"/>
              <a:buFont typeface="Calibri"/>
              <a:buNone/>
            </a:pPr>
            <a:r>
              <a:rPr b="1" lang="en-US" sz="3200">
                <a:solidFill>
                  <a:srgbClr val="FFFFFF"/>
                </a:solidFill>
                <a:latin typeface="Calibri"/>
                <a:ea typeface="Calibri"/>
                <a:cs typeface="Calibri"/>
                <a:sym typeface="Calibri"/>
              </a:rPr>
              <a:t>Sources - </a:t>
            </a:r>
            <a:r>
              <a:rPr lang="en-US" sz="1100" u="sng">
                <a:solidFill>
                  <a:schemeClr val="hlink"/>
                </a:solidFill>
                <a:hlinkClick r:id="rId3"/>
              </a:rPr>
              <a:t>https://dev.drugbank.com/guides/drugbank/citing</a:t>
            </a:r>
            <a:endParaRPr b="0" i="0" sz="3200" u="none" cap="none" strike="noStrike">
              <a:solidFill>
                <a:schemeClr val="dk1"/>
              </a:solidFill>
              <a:latin typeface="Calibri"/>
              <a:ea typeface="Calibri"/>
              <a:cs typeface="Calibri"/>
              <a:sym typeface="Calibri"/>
            </a:endParaRPr>
          </a:p>
        </p:txBody>
      </p:sp>
      <p:sp>
        <p:nvSpPr>
          <p:cNvPr id="296" name="Google Shape;296;p16"/>
          <p:cNvSpPr/>
          <p:nvPr/>
        </p:nvSpPr>
        <p:spPr>
          <a:xfrm>
            <a:off x="371125" y="1422024"/>
            <a:ext cx="5943600" cy="3167100"/>
          </a:xfrm>
          <a:prstGeom prst="rect">
            <a:avLst/>
          </a:prstGeom>
          <a:noFill/>
          <a:ln>
            <a:noFill/>
          </a:ln>
        </p:spPr>
        <p:txBody>
          <a:bodyPr anchorCtr="0" anchor="ctr" bIns="45700" lIns="91425" spcFirstLastPara="1" rIns="91425" wrap="square" tIns="45700">
            <a:noAutofit/>
          </a:bodyPr>
          <a:lstStyle/>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Knox C, Wilson M, Klinger CM, et al. </a:t>
            </a:r>
            <a:r>
              <a:rPr i="1" lang="en-US" sz="650">
                <a:solidFill>
                  <a:srgbClr val="263063"/>
                </a:solidFill>
                <a:highlight>
                  <a:srgbClr val="F3F3FB"/>
                </a:highlight>
              </a:rPr>
              <a:t>DrugBank 6.0: the DrugBank Knowledgebase for 2024.</a:t>
            </a:r>
            <a:r>
              <a:rPr lang="en-US" sz="650">
                <a:solidFill>
                  <a:srgbClr val="263063"/>
                </a:solidFill>
                <a:highlight>
                  <a:srgbClr val="F3F3FB"/>
                </a:highlight>
              </a:rPr>
              <a:t> Nucleic Acids Res. 2024 Jan 5;52(D1):D1265-D1275. doi: 10.1093/nar/gkad976.</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Feunang YD, Guo AC, Lo EJ, Marcu A, Grant JR, Sajed T, Johnson D, Li C, Sayeeda Z, Assempour N, Iynkkaran I, Liu Y, Maciejewski A, Gale N, Wilson A, Chin L, Cummings R, Le D, Pon A, Knox C, Wilson M. DrugBank 5.0: a major update to the DrugBank database for 2018. Nucleic Acids Res. 2017 Nov 8. doi: 10.1093/nar/gkx1037.</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Law V, Knox C, Djoumbou Y, Jewison T, Guo AC, Liu Y, Maciejewski A, Arndt D, Wilson M, Neveu V, Tang A, Gabriel G, Ly C, Adamjee S, Dame ZT, Han B, Zhou Y, Wishart DS. DrugBank 4.0: shedding new light on drug metabolism. Nucleic Acids Res. 2014 Jan 1;42(1):D1091-7.</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Knox C, Law V, Jewison T, Liu P, Ly S, Frolkis A, Pon A, Banco K, Mak C, Neveu V, Djoumbou Y, Eisner R, Guo AC, Wishart DS. DrugBank 3.0: a comprehensive resource for 'omics' research on drugs. Nucleic Acids Res. 2011 Jan;39(Database issue):D1035-41.</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Knox C, Guo AC, Cheng D, Shrivastava S, Tzur D, Gautam B, Hassanali M. DrugBank: a knowledgebase for drugs, drug actions and drug targets. Nucleic Acids Res. 2008 Jan;36(Database issue):D901-6.</a:t>
            </a:r>
            <a:endParaRPr sz="650">
              <a:solidFill>
                <a:srgbClr val="727DD4"/>
              </a:solidFill>
              <a:highlight>
                <a:srgbClr val="F3F3FB"/>
              </a:highlight>
            </a:endParaRPr>
          </a:p>
          <a:p>
            <a:pPr indent="0" lvl="0" marL="139700" marR="139700" rtl="0" algn="l">
              <a:lnSpc>
                <a:spcPct val="150000"/>
              </a:lnSpc>
              <a:spcBef>
                <a:spcPts val="1500"/>
              </a:spcBef>
              <a:spcAft>
                <a:spcPts val="0"/>
              </a:spcAft>
              <a:buClr>
                <a:schemeClr val="dk1"/>
              </a:buClr>
              <a:buSzPts val="688"/>
              <a:buFont typeface="Arial"/>
              <a:buNone/>
            </a:pPr>
            <a:r>
              <a:rPr lang="en-US" sz="650">
                <a:solidFill>
                  <a:srgbClr val="263063"/>
                </a:solidFill>
                <a:highlight>
                  <a:srgbClr val="F3F3FB"/>
                </a:highlight>
              </a:rPr>
              <a:t>Wishart DS, Knox C, Guo AC, Shrivastava S, Hassanali M, Stothard P, Chang Z, Woolsey J. DrugBank: a comprehensive resource for in silico drug discovery and exploration. Nucleic Acids Res. 2006 Jan 1;34(Database issue):D668-72.</a:t>
            </a:r>
            <a:endParaRPr sz="650">
              <a:solidFill>
                <a:srgbClr val="727DD4"/>
              </a:solidFill>
              <a:highlight>
                <a:srgbClr val="F3F3FB"/>
              </a:highlight>
            </a:endParaRPr>
          </a:p>
          <a:p>
            <a:pPr indent="0" lvl="0" marL="0" rtl="0" algn="l">
              <a:lnSpc>
                <a:spcPct val="115000"/>
              </a:lnSpc>
              <a:spcBef>
                <a:spcPts val="1500"/>
              </a:spcBef>
              <a:spcAft>
                <a:spcPts val="0"/>
              </a:spcAft>
              <a:buClr>
                <a:schemeClr val="dk1"/>
              </a:buClr>
              <a:buSzPts val="688"/>
              <a:buFont typeface="Arial"/>
              <a:buNone/>
            </a:pPr>
            <a:r>
              <a:t/>
            </a:r>
            <a:endParaRPr sz="1025">
              <a:solidFill>
                <a:srgbClr val="595959"/>
              </a:solidFill>
            </a:endParaRPr>
          </a:p>
          <a:p>
            <a:pPr indent="0" lvl="0" marL="0" marR="0" rtl="0" algn="l">
              <a:spcBef>
                <a:spcPts val="1200"/>
              </a:spcBef>
              <a:spcAft>
                <a:spcPts val="0"/>
              </a:spcAft>
              <a:buClr>
                <a:srgbClr val="C8EFF7"/>
              </a:buClr>
              <a:buSzPts val="1100"/>
              <a:buFont typeface="Calibri"/>
              <a:buNone/>
            </a:pPr>
            <a:r>
              <a:t/>
            </a:r>
            <a:endParaRPr sz="900">
              <a:solidFill>
                <a:srgbClr val="C8EFF7"/>
              </a:solidFill>
              <a:latin typeface="Calibri"/>
              <a:ea typeface="Calibri"/>
              <a:cs typeface="Calibri"/>
              <a:sym typeface="Calibri"/>
            </a:endParaRPr>
          </a:p>
        </p:txBody>
      </p:sp>
      <p:sp>
        <p:nvSpPr>
          <p:cNvPr id="297" name="Google Shape;297;p16"/>
          <p:cNvSpPr/>
          <p:nvPr/>
        </p:nvSpPr>
        <p:spPr>
          <a:xfrm>
            <a:off x="411480" y="4754880"/>
            <a:ext cx="8412600" cy="2286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3A6A80"/>
              </a:buClr>
              <a:buSzPts val="800"/>
              <a:buFont typeface="Calibri"/>
              <a:buNone/>
            </a:pPr>
            <a:r>
              <a:rPr b="0" i="0" lang="en-US" sz="800" u="none" cap="none" strike="noStrike">
                <a:solidFill>
                  <a:srgbClr val="3A6A80"/>
                </a:solidFill>
                <a:latin typeface="Calibri"/>
                <a:ea typeface="Calibri"/>
                <a:cs typeface="Calibri"/>
                <a:sym typeface="Calibri"/>
              </a:rPr>
              <a:t>Nicole Marcial  ·  Oluchi Obinna  ·  Oyinade Balogun  ·  Sharise Griggs  |  ITAI 2277 Spring 2026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