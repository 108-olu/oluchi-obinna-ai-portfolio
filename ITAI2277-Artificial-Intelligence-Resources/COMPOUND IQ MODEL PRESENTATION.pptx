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0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Loss</c:v>
                </c:pt>
              </c:strCache>
            </c:strRef>
          </c:tx>
          <c:spPr>
            <a:ln w="38100" cap="flat">
              <a:solidFill>
                <a:srgbClr val="00E5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E5F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Ep1</c:v>
                </c:pt>
                <c:pt idx="1">
                  <c:v>Ep2</c:v>
                </c:pt>
                <c:pt idx="2">
                  <c:v>Ep3</c:v>
                </c:pt>
                <c:pt idx="3">
                  <c:v>Ep4</c:v>
                </c:pt>
                <c:pt idx="4">
                  <c:v>Ep5</c:v>
                </c:pt>
                <c:pt idx="5">
                  <c:v>Ep6</c:v>
                </c:pt>
                <c:pt idx="6">
                  <c:v>Ep7</c:v>
                </c:pt>
                <c:pt idx="7">
                  <c:v>Ep8</c:v>
                </c:pt>
                <c:pt idx="8">
                  <c:v>Ep9</c:v>
                </c:pt>
                <c:pt idx="9">
                  <c:v>Ep10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25.15</c:v>
                </c:pt>
                <c:pt idx="1">
                  <c:v>16.850000000000001</c:v>
                </c:pt>
                <c:pt idx="2">
                  <c:v>14.12</c:v>
                </c:pt>
                <c:pt idx="3">
                  <c:v>17.649999999999999</c:v>
                </c:pt>
                <c:pt idx="4">
                  <c:v>16.27</c:v>
                </c:pt>
                <c:pt idx="5">
                  <c:v>15.99</c:v>
                </c:pt>
                <c:pt idx="6">
                  <c:v>15.88</c:v>
                </c:pt>
                <c:pt idx="7">
                  <c:v>15.5</c:v>
                </c:pt>
                <c:pt idx="8">
                  <c:v>15.7</c:v>
                </c:pt>
                <c:pt idx="9">
                  <c:v>15.68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1C9-4A78-A119-0474A0D79A9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12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88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-36576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731520"/>
            <a:ext cx="2286000" cy="3474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301752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IQ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3017520" y="1691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: Model Architecture, Training &amp; Evaluation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017520" y="2148840"/>
            <a:ext cx="365760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01752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for Safe 3-Drug Combination Discovery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999232" y="3090672"/>
            <a:ext cx="5522976" cy="108813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3017520" y="3108960"/>
            <a:ext cx="5486400" cy="105156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200400" y="31546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Members: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Oyinade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Oluchi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00400" y="37947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2277 ·  Capstone · Houston Community College ·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38912" y="987552"/>
            <a:ext cx="8266176" cy="85953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051560"/>
            <a:ext cx="850392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0515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325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pipeline that takes a disease description as input and outputs the top 5 safest 3-drug combinations, using deep learning for molecular generation, feature extraction, and interaction prediction.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" y="2039112"/>
            <a:ext cx="2002536" cy="154533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057400"/>
            <a:ext cx="1965960" cy="150876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BioBERT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text → 768-dim embedding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biomedical language model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96312" y="2039112"/>
            <a:ext cx="2002536" cy="154533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514600" y="2057400"/>
            <a:ext cx="1965960" cy="150876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060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JT-VAE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06040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56-dim latent → valid SMILES molecules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 param junction tree autoencoder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45152" y="2039112"/>
            <a:ext cx="2002536" cy="1545336"/>
          </a:xfrm>
          <a:prstGeom prst="rect">
            <a:avLst/>
          </a:prstGeom>
          <a:solidFill>
            <a:srgbClr val="00C9A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2057400"/>
            <a:ext cx="1965960" cy="1508760"/>
          </a:xfrm>
          <a:prstGeom prst="rect">
            <a:avLst/>
          </a:prstGeom>
          <a:solidFill>
            <a:srgbClr val="15123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5488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Prep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54880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 XML → 19,830 drugs × 29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Stream-parsed, feature-engineered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93992" y="2039112"/>
            <a:ext cx="2002536" cy="154533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12280" y="2057400"/>
            <a:ext cx="1965960" cy="150876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90372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3-Way GNN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03720" y="24688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features → interaction probability (0-1)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63K param graph attention network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8912" y="3776472"/>
            <a:ext cx="8266176" cy="1042416"/>
          </a:xfrm>
          <a:prstGeom prst="rect">
            <a:avLst/>
          </a:prstGeom>
          <a:solidFill>
            <a:srgbClr val="FFD7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94360" y="3840480"/>
            <a:ext cx="768096" cy="256032"/>
          </a:xfrm>
          <a:prstGeom prst="rect">
            <a:avLst/>
          </a:prstGeom>
          <a:solidFill>
            <a:srgbClr val="FFD7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4360" y="384048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Safe 3-Drug Combinations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Interaction risk &lt; 30%   ·   Safety score ≥ 7/10   ·   Chemically valid   ·   Novel compounds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32" y="-349758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CompoundIQ Pipeline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05840"/>
            <a:ext cx="8595360" cy="1097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37160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399032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399032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Oluchi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660904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660904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922776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JT-VAE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922776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Simon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5184648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184648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Nicole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6446520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446520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Sharise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148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708392" y="2514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256032" y="2862072"/>
            <a:ext cx="2048256" cy="195681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74320" y="2880360"/>
            <a:ext cx="2011680" cy="192024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65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Embedding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657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→ [1, 768]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5760" y="3474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converts disease mechanism text into a dense 768-dimensional vector encoding semantic meaning.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450592" y="2862072"/>
            <a:ext cx="2048256" cy="195681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2468880" y="2880360"/>
            <a:ext cx="2011680" cy="19202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25603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 Molecules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256032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 → 56 → SMILES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560320" y="3474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compresses to 56-dim latent space. JT-VAE decodes into 100–500 chemically valid candidate molecules.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45152" y="2862072"/>
            <a:ext cx="2048256" cy="1956816"/>
          </a:xfrm>
          <a:prstGeom prst="rect">
            <a:avLst/>
          </a:prstGeom>
          <a:solidFill>
            <a:srgbClr val="00C9A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4663440" y="2880360"/>
            <a:ext cx="2011680" cy="19202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→ Features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75488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SMILES → [drugs, 29]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754880" y="3474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Nicole's DrugBank pipeline extracts 29 features per drug: CYP enzymes, severity, similarity, interaction counts.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839712" y="2862072"/>
            <a:ext cx="2048256" cy="195681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858000" y="2880360"/>
            <a:ext cx="2011680" cy="192024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9494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Prediction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94944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[3×8+8] → (0-1)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949440" y="3474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Sharise's 3-Way GNN scores drug triplets using multi-head attention. Ranked by safety to produce top 5 combos.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760" y="-20574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JT-VAE: Algorithm Selection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822960"/>
            <a:ext cx="850392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8229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" y="1078992"/>
            <a:ext cx="2688336" cy="2322576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2651760" cy="2286000"/>
          </a:xfrm>
          <a:prstGeom prst="rect">
            <a:avLst/>
          </a:prstGeom>
          <a:solidFill>
            <a:srgbClr val="151230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CharRNN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1554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Validity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generation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grammar constraints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invalid output rate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19272" y="1078992"/>
            <a:ext cx="2688336" cy="2322576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337560" y="1097280"/>
            <a:ext cx="2651760" cy="2286000"/>
          </a:xfrm>
          <a:prstGeom prst="rect">
            <a:avLst/>
          </a:prstGeom>
          <a:solidFill>
            <a:srgbClr val="15123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2900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VAE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429000" y="1554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342900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Validity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2900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grammar rules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tree representation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validity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99632" y="1078992"/>
            <a:ext cx="2688336" cy="232257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17920" y="1097280"/>
            <a:ext cx="2651760" cy="228600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0936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JT-VAE 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309360" y="1554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630936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Validity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0936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tree decomposition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decoding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valid SMILES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38912" y="3593592"/>
            <a:ext cx="8266176" cy="127101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Jin et al., "Junction Tree Variational Autoencoder for Molecular Graph Generation" — ICML 2018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Decomposes molecules into valid substructure trees, guaranteeing chemically valid outputs. Trained on 34,914 molecules from ChEMBL with a vocabulary of 534 unique fragments.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Architecture &amp; Training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822960"/>
            <a:ext cx="1179576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8229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07–08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7472" y="1033272"/>
            <a:ext cx="2002536" cy="81381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05156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1078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11480" y="14904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42032" y="1033272"/>
            <a:ext cx="2002536" cy="81381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60320" y="105156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06040" y="1078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56-dim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606040" y="14904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(28+28)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36592" y="1033272"/>
            <a:ext cx="2002536" cy="813816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105156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00600" y="1078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800600" y="14904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(CPU)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31152" y="1033272"/>
            <a:ext cx="2002536" cy="81381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49440" y="105156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95160" y="1078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995160" y="14904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Reduction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201168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Shape 22"/>
          <p:cNvSpPr/>
          <p:nvPr/>
        </p:nvSpPr>
        <p:spPr>
          <a:xfrm>
            <a:off x="5559552" y="1993392"/>
            <a:ext cx="3236976" cy="287121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577840" y="2011680"/>
            <a:ext cx="3200400" cy="283464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71500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715000" y="2377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99516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715000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99516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715000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99516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(memory limit)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715000" y="3282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99516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715000" y="3584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Annealing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99516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β: 0→0.70 linear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71500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99516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epochs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715000" y="4187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99516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(Intel Xeon)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5715000" y="44897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995160" y="4489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5–6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Debugging &amp; Evaluation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822960"/>
            <a:ext cx="1179576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8229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08–09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046720" cy="23774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2→3 Syntax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find/replace + manual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Division (/ vs //)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division for tensor shapes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map() Parenthesis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verify closing )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Hardcoding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CPU/GPU device logic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Unpacking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try/except unpacking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Dim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z split: (1,28) ×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47472" y="3685032"/>
            <a:ext cx="2002536" cy="813816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65760" y="370332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14.5h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11480" y="41330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Debug Time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542032" y="3685032"/>
            <a:ext cx="2002536" cy="81381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560320" y="370332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606040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606040" y="41330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Resolved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36592" y="3685032"/>
            <a:ext cx="2002536" cy="81381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370332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00600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800600" y="41330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Validity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931152" y="3685032"/>
            <a:ext cx="2002536" cy="81381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949440" y="3703320"/>
            <a:ext cx="1965960" cy="77724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995160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92%+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995160" y="41330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Novelty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BioBERT Embedding Component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987552"/>
            <a:ext cx="4151376" cy="131673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4114800" cy="128016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2920" y="1051560"/>
            <a:ext cx="1755648" cy="256032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 &amp; TOOLS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(BioBERT model), PyTorch (computation engine), Google Colab (cloud environment), Python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5152" y="987552"/>
            <a:ext cx="4151376" cy="131673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4114800" cy="128016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1051560"/>
            <a:ext cx="1426464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10515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/ OUTPUT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mechanism text (e.g., "reduce pain via COX-2 inhibition")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[1, 768] — a numerical "fingerprint" of the text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" y="2496312"/>
            <a:ext cx="8449056" cy="113385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2514600"/>
            <a:ext cx="8412480" cy="109728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2560320"/>
            <a:ext cx="1261872" cy="256032"/>
          </a:xfrm>
          <a:prstGeom prst="rect">
            <a:avLst/>
          </a:prstGeom>
          <a:solidFill>
            <a:srgbClr val="FFD7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25603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28346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is a pre-trained biomedical language model that converts drug mechanism descriptions into 768-dimensional vectors encoding semantic meaning. The text is tokenized and passed through the model to produce an embedding that acts as a numerical fingerprint — allowing the system to compare different drug mechanisms and understand how similar or different they are, adding context and interpretability to the pipeline's predictions.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472" y="3822192"/>
            <a:ext cx="8449056" cy="108813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" y="3886200"/>
            <a:ext cx="1097280" cy="256032"/>
          </a:xfrm>
          <a:prstGeom prst="rect">
            <a:avLst/>
          </a:prstGeom>
          <a:solidFill>
            <a:srgbClr val="FF6BC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0292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complete model card for BioBERT — had to test inputs/outputs independently to determine embedding size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Colab memory/runtime limits — worked with small sample datasets to demonstrate functionality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labeled mechanism dataset available — created a small manual dataset (acceptable for proof-of-concept scope)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DrugBank Data Pipeline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987552"/>
            <a:ext cx="4151376" cy="1316736"/>
          </a:xfrm>
          <a:prstGeom prst="rect">
            <a:avLst/>
          </a:prstGeom>
          <a:solidFill>
            <a:srgbClr val="00C9A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4114800" cy="1280160"/>
          </a:xfrm>
          <a:prstGeom prst="rect">
            <a:avLst/>
          </a:prstGeom>
          <a:solidFill>
            <a:srgbClr val="15123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2920" y="1051560"/>
            <a:ext cx="1755648" cy="256032"/>
          </a:xfrm>
          <a:prstGeom prst="rect">
            <a:avLst/>
          </a:prstGeom>
          <a:solidFill>
            <a:srgbClr val="00C9A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 &amp; TOOLS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Python, pandas, NumPy, lxml (streaming XML), NetworkX (graph features), RDKit (molecular structures/fingerprints), scikit-learn (train/val/test split), PyArrow/Fastparquet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45152" y="987552"/>
            <a:ext cx="4151376" cy="131673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4114800" cy="128016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1051560"/>
            <a:ext cx="2331720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1051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/ OUTPUT DIMENSIONS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DrugBank XML file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19,830 drugs × 29 features (enhanced parquet)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subset: 4,657 → Train 3,259 / Val 699 / Test 699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2496312"/>
            <a:ext cx="2002536" cy="768096"/>
          </a:xfrm>
          <a:prstGeom prst="rect">
            <a:avLst/>
          </a:prstGeom>
          <a:solidFill>
            <a:srgbClr val="00C9A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2514600"/>
            <a:ext cx="1965960" cy="731520"/>
          </a:xfrm>
          <a:prstGeom prst="rect">
            <a:avLst/>
          </a:prstGeom>
          <a:solidFill>
            <a:srgbClr val="15123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148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1,014,328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11480" y="2907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drugs.parquet rows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42032" y="2496312"/>
            <a:ext cx="2002536" cy="76809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560320" y="2514600"/>
            <a:ext cx="1965960" cy="73152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60604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2,910,010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606040" y="2907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drug_interactions rows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36592" y="2496312"/>
            <a:ext cx="2002536" cy="76809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54880" y="2514600"/>
            <a:ext cx="1965960" cy="73152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0060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24,231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800600" y="2907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targets.parquet rows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31152" y="2496312"/>
            <a:ext cx="2002536" cy="76809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49440" y="2514600"/>
            <a:ext cx="1965960" cy="73152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99516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6,062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995160" y="2907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enzymes.parquet rows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47472" y="3456432"/>
            <a:ext cx="8449056" cy="145389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65760" y="3474720"/>
            <a:ext cx="8412480" cy="141732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02920" y="3520440"/>
            <a:ext cx="2084832" cy="256032"/>
          </a:xfrm>
          <a:prstGeom prst="rect">
            <a:avLst/>
          </a:prstGeom>
          <a:solidFill>
            <a:srgbClr val="FF6BC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02920" y="35204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 &amp; SOLUTIONS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3840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Large XML file — used stream parsing and chunked saving instead of loading everything into memory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Incomplete DrugBank fields — added rule-based severity extraction and CYP enzyme quality checks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Computational cost of molecular similarity — used reference-panel approach instead of full all-vs-all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Invalid SMILES strings — some drugs excluded from molecular similarity features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3-Way GNN Interaction Predictor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987552"/>
            <a:ext cx="4151376" cy="113385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2920" y="1051560"/>
            <a:ext cx="1755648" cy="256032"/>
          </a:xfrm>
          <a:prstGeom prst="rect">
            <a:avLst/>
          </a:prstGeom>
          <a:solidFill>
            <a:srgbClr val="FF6BC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 &amp; TOOLS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PyTorch Geometric, scikit-learn, pandas, matplotlib, Google Colab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5152" y="987552"/>
            <a:ext cx="4151376" cy="113385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4114800" cy="109728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1051560"/>
            <a:ext cx="1426464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10515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/ OUTPUT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features (8 per drug × 3 + 8 triplet)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interaction probability value (0–1)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" y="2313432"/>
            <a:ext cx="5065776" cy="241401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2331720"/>
            <a:ext cx="5029200" cy="237744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2377440"/>
            <a:ext cx="1261872" cy="256032"/>
          </a:xfrm>
          <a:prstGeom prst="rect">
            <a:avLst/>
          </a:prstGeom>
          <a:solidFill>
            <a:srgbClr val="FFD7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23774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269748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Encoder: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→ Linear(64) → BatchNorm → ReLU → Dropout(0.2) → Linear(64) → ReLU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4-head MultiheadAttention across 3 drug embeddings (64-dim each)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Encoder: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triplet features → Linear(64) → ReLU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256-dim → Linear(128) → ReLU → Dropout → Linear(64) → ReLU → Linear(1) → Sigmoid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59552" y="2313432"/>
            <a:ext cx="3236976" cy="113385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77840" y="2331720"/>
            <a:ext cx="3200400" cy="109728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692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63,297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5669280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69280" y="31089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4,500 triplets · 32 features each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59552" y="3593592"/>
            <a:ext cx="3236976" cy="113385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577840" y="3611880"/>
            <a:ext cx="3200400" cy="109728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669280" y="3657600"/>
            <a:ext cx="1097280" cy="256032"/>
          </a:xfrm>
          <a:prstGeom prst="rect">
            <a:avLst/>
          </a:prstGeom>
          <a:solidFill>
            <a:srgbClr val="FF6BC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66928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66928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 imbalance — weighted loss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3-way prediction (novel design)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raw SMILES — used engineered features directly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 Design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822960"/>
            <a:ext cx="850392" cy="256032"/>
          </a:xfrm>
          <a:prstGeom prst="rect">
            <a:avLst/>
          </a:prstGeom>
          <a:solidFill>
            <a:srgbClr val="00E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8229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7472" y="1033272"/>
            <a:ext cx="8449056" cy="241401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051560"/>
            <a:ext cx="8412480" cy="23774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097280"/>
            <a:ext cx="1508760" cy="256032"/>
          </a:xfrm>
          <a:prstGeom prst="rect">
            <a:avLst/>
          </a:prstGeom>
          <a:solidFill>
            <a:srgbClr val="FFD7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1097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 API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4173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MoleculeGenerator: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"""JT-VAE molecular generator for CompoundIQ"""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generate_from_embedding(self, disease_embedding, n=100):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disease_embedding: 768-dim BioBERT vector (from Oluchi)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Returns: List of SMILES strings (chemically valid)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decode(self, z_tree, z_mol, prob_decode=False):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z_tree: (batch, 28) — tree topology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z_mol:  (batch, 28) — molecular properties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Returns: Decoded SMILES string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3639312"/>
            <a:ext cx="2048256" cy="1271016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3657600"/>
            <a:ext cx="2011680" cy="1234440"/>
          </a:xfrm>
          <a:prstGeom prst="rect">
            <a:avLst/>
          </a:prstGeom>
          <a:solidFill>
            <a:srgbClr val="1512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7472" y="3703320"/>
            <a:ext cx="274320" cy="274320"/>
          </a:xfrm>
          <a:prstGeom prst="ellipse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747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Oluchi → Oyinade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768-dim embedding → Mapper → 56-dim JT-VAE latent input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450592" y="3639312"/>
            <a:ext cx="2048256" cy="127101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468880" y="3657600"/>
            <a:ext cx="2011680" cy="123444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542032" y="3703320"/>
            <a:ext cx="274320" cy="274320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4203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88036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Oyinade → Nicole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5603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SMILES → DrugBank feature lookup → 29-dim drug vectors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45152" y="3639312"/>
            <a:ext cx="2048256" cy="1271016"/>
          </a:xfrm>
          <a:prstGeom prst="rect">
            <a:avLst/>
          </a:prstGeom>
          <a:solidFill>
            <a:srgbClr val="FF6BC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63440" y="3657600"/>
            <a:ext cx="2011680" cy="1234440"/>
          </a:xfrm>
          <a:prstGeom prst="rect">
            <a:avLst/>
          </a:prstGeom>
          <a:solidFill>
            <a:srgbClr val="151230"/>
          </a:solidFill>
          <a:ln w="1905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36592" y="3703320"/>
            <a:ext cx="274320" cy="274320"/>
          </a:xfrm>
          <a:prstGeom prst="ellipse">
            <a:avLst/>
          </a:prstGeom>
          <a:solidFill>
            <a:srgbClr val="FF6BC1">
              <a:alpha val="50000"/>
            </a:srgbClr>
          </a:solidFill>
          <a:ln w="12700">
            <a:solidFill>
              <a:srgbClr val="FF6B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73659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7492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 → Sharise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5488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feature triplets (32-dim) → GNN → Interaction probability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39712" y="3639312"/>
            <a:ext cx="2048256" cy="1271016"/>
          </a:xfrm>
          <a:prstGeom prst="rect">
            <a:avLst/>
          </a:prstGeom>
          <a:solidFill>
            <a:srgbClr val="FFD7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58000" y="3657600"/>
            <a:ext cx="2011680" cy="1234440"/>
          </a:xfrm>
          <a:prstGeom prst="rect">
            <a:avLst/>
          </a:prstGeom>
          <a:solidFill>
            <a:srgbClr val="151230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931152" y="3703320"/>
            <a:ext cx="274320" cy="274320"/>
          </a:xfrm>
          <a:prstGeom prst="ellipse">
            <a:avLst/>
          </a:prstGeom>
          <a:solidFill>
            <a:srgbClr val="FFD700">
              <a:alpha val="5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93115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6948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Sharise → Output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9494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safety score → Top 5 safest 3-drug combinations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160" y="-109728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Status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14400" y="777240"/>
            <a:ext cx="22860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987552"/>
            <a:ext cx="4151376" cy="104241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jtvae_final.pt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1097280"/>
            <a:ext cx="914400" cy="228600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029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JT-VAE model (~90 MB)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90872" y="987552"/>
            <a:ext cx="4151376" cy="104241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41148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Checkpoints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26680" y="1097280"/>
            <a:ext cx="914400" cy="228600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2668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2, 4, 6, 8, 10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2176272"/>
            <a:ext cx="4151376" cy="104241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2194560"/>
            <a:ext cx="41148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383280" y="2286000"/>
            <a:ext cx="914400" cy="228600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8328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0292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summaries, batch logs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90872" y="2176272"/>
            <a:ext cx="4151376" cy="1042416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09160" y="2194560"/>
            <a:ext cx="41148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463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726680" y="2286000"/>
            <a:ext cx="914400" cy="228600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2668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4632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docs, architecture specs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7472" y="3364992"/>
            <a:ext cx="4151376" cy="1042416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29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Report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383280" y="3474720"/>
            <a:ext cx="914400" cy="22860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38328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0292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results (3-4 pages)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90872" y="3364992"/>
            <a:ext cx="4151376" cy="1042416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709160" y="3383280"/>
            <a:ext cx="4114800" cy="1005840"/>
          </a:xfrm>
          <a:prstGeom prst="rect">
            <a:avLst/>
          </a:prstGeom>
          <a:solidFill>
            <a:srgbClr val="151230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463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Integration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726680" y="3474720"/>
            <a:ext cx="914400" cy="228600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72668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 (4-5 hrs)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47472" y="4553712"/>
            <a:ext cx="8449056" cy="402336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51230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48640" y="45902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 due 11pm Week 10 (15% of grade)  ·  Presentation: Wed/Thu Week 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5860" y="-233172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580644"/>
            <a:ext cx="2286000" cy="3474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0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743200" y="640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Integration</a:t>
            </a:r>
            <a:endParaRPr lang="en-US" sz="4400" dirty="0"/>
          </a:p>
        </p:txBody>
      </p:sp>
      <p:sp>
        <p:nvSpPr>
          <p:cNvPr id="7" name="Shape 3"/>
          <p:cNvSpPr/>
          <p:nvPr/>
        </p:nvSpPr>
        <p:spPr>
          <a:xfrm>
            <a:off x="2743200" y="1508760"/>
            <a:ext cx="365760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743200" y="1645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CompoundIQ Phase 3 — All Components Complete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724912" y="2221992"/>
            <a:ext cx="1453896" cy="90525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743200" y="2240280"/>
            <a:ext cx="1417320" cy="86868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788920" y="22677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78892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JT-VAE Parameters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325112" y="2221992"/>
            <a:ext cx="1453896" cy="90525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343400" y="2240280"/>
            <a:ext cx="1417320" cy="86868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389120" y="22677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38912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Embeddings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925312" y="2221992"/>
            <a:ext cx="1453896" cy="90525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943600" y="2240280"/>
            <a:ext cx="1417320" cy="86868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989320" y="22677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19,830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98932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Processed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525512" y="2221992"/>
            <a:ext cx="1453896" cy="905256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543800" y="2240280"/>
            <a:ext cx="1417320" cy="868680"/>
          </a:xfrm>
          <a:prstGeom prst="rect">
            <a:avLst/>
          </a:prstGeom>
          <a:solidFill>
            <a:srgbClr val="151230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589520" y="22677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63K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7589520" y="2724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Parameters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724912" y="3319272"/>
            <a:ext cx="6254496" cy="1591056"/>
          </a:xfrm>
          <a:prstGeom prst="rect">
            <a:avLst/>
          </a:prstGeom>
          <a:solidFill>
            <a:srgbClr val="FFD7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743200" y="3337560"/>
            <a:ext cx="6217920" cy="1554480"/>
          </a:xfrm>
          <a:prstGeom prst="rect">
            <a:avLst/>
          </a:prstGeom>
          <a:solidFill>
            <a:srgbClr val="151230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2880360" y="3383280"/>
            <a:ext cx="1097280" cy="256032"/>
          </a:xfrm>
          <a:prstGeom prst="rect">
            <a:avLst/>
          </a:prstGeom>
          <a:solidFill>
            <a:srgbClr val="FFD7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880360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880360" y="3703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metrics — reconstruction accuracy, chemical validity, novelty rate</a:t>
            </a:r>
          </a:p>
          <a:p>
            <a:pPr marL="228600" indent="-228600">
              <a:buAutoNum type="arabicPeriod"/>
            </a:pPr>
            <a:endParaRPr lang="en-US" sz="11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End-to-end pipeline verification — BioBERT → JT-VAE → Features → GNN → Ranking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1386</Words>
  <Application>Microsoft Office PowerPoint</Application>
  <PresentationFormat>On-screen Show 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CompoundIQ Phase 3</dc:title>
  <dc:subject>PptxGenJS Presentation</dc:subject>
  <dc:creator>CompoundIQ Team 2</dc:creator>
  <cp:lastModifiedBy>oyinade.balogun-W215176113</cp:lastModifiedBy>
  <cp:revision>2</cp:revision>
  <dcterms:created xsi:type="dcterms:W3CDTF">2026-03-24T23:56:16Z</dcterms:created>
  <dcterms:modified xsi:type="dcterms:W3CDTF">2026-03-25T23:56:00Z</dcterms:modified>
</cp:coreProperties>
</file>