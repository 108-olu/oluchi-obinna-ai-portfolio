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5143500" cy="9144000"/>
  <p:embeddedFontLst>
    <p:embeddedFont>
      <p:font typeface="EB Garamond"/>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4037B53-7E40-4348-8719-8884F6AEF730}">
  <a:tblStyle styleId="{E4037B53-7E40-4348-8719-8884F6AEF73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BC8370DE-3B35-4972-80C1-57DEEA1FF4D5}"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EBGaramond-bold.fntdata"/><Relationship Id="rId11" Type="http://schemas.openxmlformats.org/officeDocument/2006/relationships/slide" Target="slides/slide6.xml"/><Relationship Id="rId22" Type="http://schemas.openxmlformats.org/officeDocument/2006/relationships/font" Target="fonts/EBGaramond-boldItalic.fntdata"/><Relationship Id="rId10" Type="http://schemas.openxmlformats.org/officeDocument/2006/relationships/slide" Target="slides/slide5.xml"/><Relationship Id="rId21" Type="http://schemas.openxmlformats.org/officeDocument/2006/relationships/font" Target="fonts/EBGaramon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EBGaramond-regular.fnt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 name="Google Shape;1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 name="Google Shape;1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g3c94df0045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g3c94df00450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 name="Google Shape;32;g3c94df00450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3c94df00450_0_23: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5" name="Google Shape;55;g3c94df00450_0_23: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 name="Google Shape;6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c94df00450_0_129: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c94df00450_0_129: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c94df00450_1_24: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c94df00450_1_24: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c94df00450_1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g3c94df00450_1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g3c94df00450_1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p3"/>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13" name="Google Shape;13;p3"/>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4" name="Google Shape;14;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dev.drugbank.com/guides/drugbank/citin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9" name="Shape 19"/>
        <p:cNvGrpSpPr/>
        <p:nvPr/>
      </p:nvGrpSpPr>
      <p:grpSpPr>
        <a:xfrm>
          <a:off x="0" y="0"/>
          <a:ext cx="0" cy="0"/>
          <a:chOff x="0" y="0"/>
          <a:chExt cx="0" cy="0"/>
        </a:xfrm>
      </p:grpSpPr>
      <p:sp>
        <p:nvSpPr>
          <p:cNvPr id="20" name="Google Shape;20;p4"/>
          <p:cNvSpPr/>
          <p:nvPr/>
        </p:nvSpPr>
        <p:spPr>
          <a:xfrm>
            <a:off x="0" y="0"/>
            <a:ext cx="164592" cy="5143500"/>
          </a:xfrm>
          <a:prstGeom prst="rect">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6858000" y="-731520"/>
            <a:ext cx="4114800" cy="4114800"/>
          </a:xfrm>
          <a:prstGeom prst="ellipse">
            <a:avLst/>
          </a:prstGeom>
          <a:solidFill>
            <a:srgbClr val="122B3E"/>
          </a:solidFill>
          <a:ln cap="flat" cmpd="sng" w="12700">
            <a:solidFill>
              <a:srgbClr val="122B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p:nvPr/>
        </p:nvSpPr>
        <p:spPr>
          <a:xfrm>
            <a:off x="7680960" y="2560320"/>
            <a:ext cx="2560320" cy="2560320"/>
          </a:xfrm>
          <a:prstGeom prst="ellipse">
            <a:avLst/>
          </a:prstGeom>
          <a:solidFill>
            <a:srgbClr val="0A3550"/>
          </a:solidFill>
          <a:ln cap="flat" cmpd="sng" w="12700">
            <a:solidFill>
              <a:srgbClr val="0A35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4"/>
          <p:cNvSpPr/>
          <p:nvPr/>
        </p:nvSpPr>
        <p:spPr>
          <a:xfrm>
            <a:off x="411480" y="1234440"/>
            <a:ext cx="1371600" cy="274320"/>
          </a:xfrm>
          <a:prstGeom prst="rect">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4"/>
          <p:cNvSpPr/>
          <p:nvPr/>
        </p:nvSpPr>
        <p:spPr>
          <a:xfrm>
            <a:off x="411480" y="1234440"/>
            <a:ext cx="13716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b="1" i="0" lang="en-US" sz="700" u="none" cap="none" strike="noStrike">
                <a:solidFill>
                  <a:srgbClr val="FFFFFF"/>
                </a:solidFill>
                <a:latin typeface="Calibri"/>
                <a:ea typeface="Calibri"/>
                <a:cs typeface="Calibri"/>
                <a:sym typeface="Calibri"/>
              </a:rPr>
              <a:t>ITAI 2277 · SPRING 2026</a:t>
            </a:r>
            <a:endParaRPr b="0" i="0" sz="700" u="none" cap="none" strike="noStrike">
              <a:solidFill>
                <a:schemeClr val="dk1"/>
              </a:solidFill>
              <a:latin typeface="Calibri"/>
              <a:ea typeface="Calibri"/>
              <a:cs typeface="Calibri"/>
              <a:sym typeface="Calibri"/>
            </a:endParaRPr>
          </a:p>
        </p:txBody>
      </p:sp>
      <p:sp>
        <p:nvSpPr>
          <p:cNvPr id="25" name="Google Shape;25;p4"/>
          <p:cNvSpPr/>
          <p:nvPr/>
        </p:nvSpPr>
        <p:spPr>
          <a:xfrm>
            <a:off x="411480" y="1645920"/>
            <a:ext cx="68580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800"/>
              <a:buFont typeface="Calibri"/>
              <a:buNone/>
            </a:pPr>
            <a:r>
              <a:rPr b="1" i="0" lang="en-US" sz="4800" u="none" cap="none" strike="noStrike">
                <a:solidFill>
                  <a:srgbClr val="FFFFFF"/>
                </a:solidFill>
                <a:latin typeface="Calibri"/>
                <a:ea typeface="Calibri"/>
                <a:cs typeface="Calibri"/>
                <a:sym typeface="Calibri"/>
              </a:rPr>
              <a:t>CompoundIQ</a:t>
            </a:r>
            <a:endParaRPr b="0" i="0" sz="4800" u="none" cap="none" strike="noStrike">
              <a:solidFill>
                <a:schemeClr val="dk1"/>
              </a:solidFill>
              <a:latin typeface="Calibri"/>
              <a:ea typeface="Calibri"/>
              <a:cs typeface="Calibri"/>
              <a:sym typeface="Calibri"/>
            </a:endParaRPr>
          </a:p>
        </p:txBody>
      </p:sp>
      <p:sp>
        <p:nvSpPr>
          <p:cNvPr id="26" name="Google Shape;26;p4"/>
          <p:cNvSpPr/>
          <p:nvPr/>
        </p:nvSpPr>
        <p:spPr>
          <a:xfrm>
            <a:off x="411480" y="2560320"/>
            <a:ext cx="68580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EFF7"/>
              </a:buClr>
              <a:buSzPts val="2000"/>
              <a:buFont typeface="Calibri"/>
              <a:buNone/>
            </a:pPr>
            <a:r>
              <a:rPr b="0" i="0" lang="en-US" sz="2000" u="none" cap="none" strike="noStrike">
                <a:solidFill>
                  <a:srgbClr val="C8EFF7"/>
                </a:solidFill>
                <a:latin typeface="Calibri"/>
                <a:ea typeface="Calibri"/>
                <a:cs typeface="Calibri"/>
                <a:sym typeface="Calibri"/>
              </a:rPr>
              <a:t>Phase 2: Data Pipeline &amp; Exploratory Analysis</a:t>
            </a:r>
            <a:endParaRPr b="0" i="0" sz="2000" u="none" cap="none" strike="noStrike">
              <a:solidFill>
                <a:schemeClr val="dk1"/>
              </a:solidFill>
              <a:latin typeface="Calibri"/>
              <a:ea typeface="Calibri"/>
              <a:cs typeface="Calibri"/>
              <a:sym typeface="Calibri"/>
            </a:endParaRPr>
          </a:p>
        </p:txBody>
      </p:sp>
      <p:sp>
        <p:nvSpPr>
          <p:cNvPr id="27" name="Google Shape;27;p4"/>
          <p:cNvSpPr/>
          <p:nvPr/>
        </p:nvSpPr>
        <p:spPr>
          <a:xfrm>
            <a:off x="411480" y="3200400"/>
            <a:ext cx="64008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AFC4"/>
              </a:buClr>
              <a:buSzPts val="1200"/>
              <a:buFont typeface="Calibri"/>
              <a:buNone/>
            </a:pPr>
            <a:r>
              <a:rPr b="0" i="1" lang="en-US" sz="1200" u="none" cap="none" strike="noStrike">
                <a:solidFill>
                  <a:srgbClr val="7AAFC4"/>
                </a:solidFill>
                <a:latin typeface="Calibri"/>
                <a:ea typeface="Calibri"/>
                <a:cs typeface="Calibri"/>
                <a:sym typeface="Calibri"/>
              </a:rPr>
              <a:t>Weeks 4 – 6  |  Drug Combination Safety Analysis</a:t>
            </a:r>
            <a:endParaRPr b="0" i="0" sz="1200" u="none" cap="none" strike="noStrike">
              <a:solidFill>
                <a:schemeClr val="dk1"/>
              </a:solidFill>
              <a:latin typeface="Calibri"/>
              <a:ea typeface="Calibri"/>
              <a:cs typeface="Calibri"/>
              <a:sym typeface="Calibri"/>
            </a:endParaRPr>
          </a:p>
        </p:txBody>
      </p:sp>
      <p:sp>
        <p:nvSpPr>
          <p:cNvPr id="28" name="Google Shape;28;p4"/>
          <p:cNvSpPr/>
          <p:nvPr/>
        </p:nvSpPr>
        <p:spPr>
          <a:xfrm>
            <a:off x="411480" y="448056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8FA8"/>
              </a:buClr>
              <a:buSzPts val="1000"/>
              <a:buFont typeface="Calibri"/>
              <a:buNone/>
            </a:pPr>
            <a:r>
              <a:rPr b="0" i="0" lang="en-US" sz="1000" u="none" cap="none" strike="noStrike">
                <a:solidFill>
                  <a:srgbClr val="5A8FA8"/>
                </a:solidFill>
                <a:latin typeface="Calibri"/>
                <a:ea typeface="Calibri"/>
                <a:cs typeface="Calibri"/>
                <a:sym typeface="Calibri"/>
              </a:rPr>
              <a:t>Nicole Marcial  ·  Oluchi Obinna  ·  Oyinade Balogun  ·  Sharise Griggs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AFB"/>
        </a:solidFill>
      </p:bgPr>
    </p:bg>
    <p:spTree>
      <p:nvGrpSpPr>
        <p:cNvPr id="33" name="Shape 33"/>
        <p:cNvGrpSpPr/>
        <p:nvPr/>
      </p:nvGrpSpPr>
      <p:grpSpPr>
        <a:xfrm>
          <a:off x="0" y="0"/>
          <a:ext cx="0" cy="0"/>
          <a:chOff x="0" y="0"/>
          <a:chExt cx="0" cy="0"/>
        </a:xfrm>
      </p:grpSpPr>
      <p:sp>
        <p:nvSpPr>
          <p:cNvPr id="34" name="Google Shape;34;p5"/>
          <p:cNvSpPr/>
          <p:nvPr/>
        </p:nvSpPr>
        <p:spPr>
          <a:xfrm>
            <a:off x="0" y="0"/>
            <a:ext cx="9144000" cy="6585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a:off x="365760" y="0"/>
            <a:ext cx="8229600" cy="658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Phase 2 Overview</a:t>
            </a:r>
            <a:endParaRPr b="0" i="0" sz="2200" u="none" cap="none" strike="noStrike">
              <a:solidFill>
                <a:schemeClr val="dk1"/>
              </a:solidFill>
              <a:latin typeface="Calibri"/>
              <a:ea typeface="Calibri"/>
              <a:cs typeface="Calibri"/>
              <a:sym typeface="Calibri"/>
            </a:endParaRPr>
          </a:p>
        </p:txBody>
      </p:sp>
      <p:sp>
        <p:nvSpPr>
          <p:cNvPr id="36" name="Google Shape;36;p5"/>
          <p:cNvSpPr/>
          <p:nvPr/>
        </p:nvSpPr>
        <p:spPr>
          <a:xfrm>
            <a:off x="228600" y="822960"/>
            <a:ext cx="2743200" cy="3977700"/>
          </a:xfrm>
          <a:prstGeom prst="rect">
            <a:avLst/>
          </a:prstGeom>
          <a:solidFill>
            <a:srgbClr val="FFFFFF"/>
          </a:solidFill>
          <a:ln cap="flat" cmpd="sng" w="12700">
            <a:solidFill>
              <a:srgbClr val="D1E8F0"/>
            </a:solidFill>
            <a:prstDash val="solid"/>
            <a:round/>
            <a:headEnd len="sm" w="sm" type="none"/>
            <a:tailEnd len="sm" w="sm" type="none"/>
          </a:ln>
          <a:effectLst>
            <a:outerShdw blurRad="76200" rotWithShape="0" algn="bl" dir="81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5"/>
          <p:cNvSpPr/>
          <p:nvPr/>
        </p:nvSpPr>
        <p:spPr>
          <a:xfrm>
            <a:off x="228600" y="822960"/>
            <a:ext cx="2743200" cy="457200"/>
          </a:xfrm>
          <a:prstGeom prst="rect">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p:nvPr/>
        </p:nvSpPr>
        <p:spPr>
          <a:xfrm>
            <a:off x="228600" y="822960"/>
            <a:ext cx="2743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WEEK 4</a:t>
            </a:r>
            <a:endParaRPr b="0" i="0" sz="1100" u="none" cap="none" strike="noStrike">
              <a:solidFill>
                <a:schemeClr val="dk1"/>
              </a:solidFill>
              <a:latin typeface="Calibri"/>
              <a:ea typeface="Calibri"/>
              <a:cs typeface="Calibri"/>
              <a:sym typeface="Calibri"/>
            </a:endParaRPr>
          </a:p>
        </p:txBody>
      </p:sp>
      <p:sp>
        <p:nvSpPr>
          <p:cNvPr id="39" name="Google Shape;39;p5"/>
          <p:cNvSpPr/>
          <p:nvPr/>
        </p:nvSpPr>
        <p:spPr>
          <a:xfrm>
            <a:off x="338328" y="1325880"/>
            <a:ext cx="2523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100"/>
              <a:buFont typeface="Calibri"/>
              <a:buNone/>
            </a:pPr>
            <a:r>
              <a:rPr b="1" i="0" lang="en-US" sz="1100" u="none" cap="none" strike="noStrike">
                <a:solidFill>
                  <a:srgbClr val="0D1B2A"/>
                </a:solidFill>
                <a:latin typeface="Calibri"/>
                <a:ea typeface="Calibri"/>
                <a:cs typeface="Calibri"/>
                <a:sym typeface="Calibri"/>
              </a:rPr>
              <a:t>Data Acquisition &amp; Collection</a:t>
            </a:r>
            <a:endParaRPr b="0" i="0" sz="1100" u="none" cap="none" strike="noStrike">
              <a:solidFill>
                <a:schemeClr val="dk1"/>
              </a:solidFill>
              <a:latin typeface="Calibri"/>
              <a:ea typeface="Calibri"/>
              <a:cs typeface="Calibri"/>
              <a:sym typeface="Calibri"/>
            </a:endParaRPr>
          </a:p>
        </p:txBody>
      </p:sp>
      <p:sp>
        <p:nvSpPr>
          <p:cNvPr id="40" name="Google Shape;40;p5"/>
          <p:cNvSpPr/>
          <p:nvPr/>
        </p:nvSpPr>
        <p:spPr>
          <a:xfrm>
            <a:off x="338328" y="1783080"/>
            <a:ext cx="2523600" cy="27432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Identify &amp; access data sources</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Implement data collection methods</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Data storage &amp; organization</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Privacy &amp; ethical considerations</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Begin data documentation</a:t>
            </a:r>
            <a:endParaRPr b="0" i="0" sz="950" u="none" cap="none" strike="noStrike">
              <a:solidFill>
                <a:schemeClr val="dk1"/>
              </a:solidFill>
              <a:latin typeface="Calibri"/>
              <a:ea typeface="Calibri"/>
              <a:cs typeface="Calibri"/>
              <a:sym typeface="Calibri"/>
            </a:endParaRPr>
          </a:p>
        </p:txBody>
      </p:sp>
      <p:sp>
        <p:nvSpPr>
          <p:cNvPr id="41" name="Google Shape;41;p5"/>
          <p:cNvSpPr/>
          <p:nvPr/>
        </p:nvSpPr>
        <p:spPr>
          <a:xfrm>
            <a:off x="3200400" y="822960"/>
            <a:ext cx="2743200" cy="3977700"/>
          </a:xfrm>
          <a:prstGeom prst="rect">
            <a:avLst/>
          </a:prstGeom>
          <a:solidFill>
            <a:srgbClr val="FFFFFF"/>
          </a:solidFill>
          <a:ln cap="flat" cmpd="sng" w="12700">
            <a:solidFill>
              <a:srgbClr val="D1E8F0"/>
            </a:solidFill>
            <a:prstDash val="solid"/>
            <a:round/>
            <a:headEnd len="sm" w="sm" type="none"/>
            <a:tailEnd len="sm" w="sm" type="none"/>
          </a:ln>
          <a:effectLst>
            <a:outerShdw blurRad="76200" rotWithShape="0" algn="bl" dir="81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5"/>
          <p:cNvSpPr/>
          <p:nvPr/>
        </p:nvSpPr>
        <p:spPr>
          <a:xfrm>
            <a:off x="3200400" y="822960"/>
            <a:ext cx="2743200" cy="457200"/>
          </a:xfrm>
          <a:prstGeom prst="rect">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5"/>
          <p:cNvSpPr/>
          <p:nvPr/>
        </p:nvSpPr>
        <p:spPr>
          <a:xfrm>
            <a:off x="3200400" y="822960"/>
            <a:ext cx="2743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WEEK 5</a:t>
            </a:r>
            <a:endParaRPr b="0" i="0" sz="1100" u="none" cap="none" strike="noStrike">
              <a:solidFill>
                <a:schemeClr val="dk1"/>
              </a:solidFill>
              <a:latin typeface="Calibri"/>
              <a:ea typeface="Calibri"/>
              <a:cs typeface="Calibri"/>
              <a:sym typeface="Calibri"/>
            </a:endParaRPr>
          </a:p>
        </p:txBody>
      </p:sp>
      <p:sp>
        <p:nvSpPr>
          <p:cNvPr id="44" name="Google Shape;44;p5"/>
          <p:cNvSpPr/>
          <p:nvPr/>
        </p:nvSpPr>
        <p:spPr>
          <a:xfrm>
            <a:off x="3310128" y="1325880"/>
            <a:ext cx="2523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100"/>
              <a:buFont typeface="Calibri"/>
              <a:buNone/>
            </a:pPr>
            <a:r>
              <a:rPr b="1" i="0" lang="en-US" sz="1100" u="none" cap="none" strike="noStrike">
                <a:solidFill>
                  <a:srgbClr val="0D1B2A"/>
                </a:solidFill>
                <a:latin typeface="Calibri"/>
                <a:ea typeface="Calibri"/>
                <a:cs typeface="Calibri"/>
                <a:sym typeface="Calibri"/>
              </a:rPr>
              <a:t>Preprocessing &amp; Feature Engineering</a:t>
            </a:r>
            <a:endParaRPr b="0" i="0" sz="1100" u="none" cap="none" strike="noStrike">
              <a:solidFill>
                <a:schemeClr val="dk1"/>
              </a:solidFill>
              <a:latin typeface="Calibri"/>
              <a:ea typeface="Calibri"/>
              <a:cs typeface="Calibri"/>
              <a:sym typeface="Calibri"/>
            </a:endParaRPr>
          </a:p>
        </p:txBody>
      </p:sp>
      <p:sp>
        <p:nvSpPr>
          <p:cNvPr id="45" name="Google Shape;45;p5"/>
          <p:cNvSpPr/>
          <p:nvPr/>
        </p:nvSpPr>
        <p:spPr>
          <a:xfrm>
            <a:off x="3310128" y="1783080"/>
            <a:ext cx="2523600" cy="27432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Data cleaning &amp; quality assessment</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Feature engineering for project needs</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Data transformation pipelines</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Train / Validation / Test splitting</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Continue documentation</a:t>
            </a:r>
            <a:endParaRPr b="0" i="0" sz="950" u="none" cap="none" strike="noStrike">
              <a:solidFill>
                <a:schemeClr val="dk1"/>
              </a:solidFill>
              <a:latin typeface="Calibri"/>
              <a:ea typeface="Calibri"/>
              <a:cs typeface="Calibri"/>
              <a:sym typeface="Calibri"/>
            </a:endParaRPr>
          </a:p>
        </p:txBody>
      </p:sp>
      <p:sp>
        <p:nvSpPr>
          <p:cNvPr id="46" name="Google Shape;46;p5"/>
          <p:cNvSpPr/>
          <p:nvPr/>
        </p:nvSpPr>
        <p:spPr>
          <a:xfrm>
            <a:off x="6172200" y="822960"/>
            <a:ext cx="2743200" cy="3977700"/>
          </a:xfrm>
          <a:prstGeom prst="rect">
            <a:avLst/>
          </a:prstGeom>
          <a:solidFill>
            <a:srgbClr val="FFFFFF"/>
          </a:solidFill>
          <a:ln cap="flat" cmpd="sng" w="12700">
            <a:solidFill>
              <a:srgbClr val="D1E8F0"/>
            </a:solidFill>
            <a:prstDash val="solid"/>
            <a:round/>
            <a:headEnd len="sm" w="sm" type="none"/>
            <a:tailEnd len="sm" w="sm" type="none"/>
          </a:ln>
          <a:effectLst>
            <a:outerShdw blurRad="76200" rotWithShape="0" algn="bl" dir="81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5"/>
          <p:cNvSpPr/>
          <p:nvPr/>
        </p:nvSpPr>
        <p:spPr>
          <a:xfrm>
            <a:off x="6172200" y="822960"/>
            <a:ext cx="2743200" cy="457200"/>
          </a:xfrm>
          <a:prstGeom prst="rect">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5"/>
          <p:cNvSpPr/>
          <p:nvPr/>
        </p:nvSpPr>
        <p:spPr>
          <a:xfrm>
            <a:off x="6172200" y="822960"/>
            <a:ext cx="2743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WEEK 6</a:t>
            </a:r>
            <a:endParaRPr b="0" i="0" sz="1100" u="none" cap="none" strike="noStrike">
              <a:solidFill>
                <a:schemeClr val="dk1"/>
              </a:solidFill>
              <a:latin typeface="Calibri"/>
              <a:ea typeface="Calibri"/>
              <a:cs typeface="Calibri"/>
              <a:sym typeface="Calibri"/>
            </a:endParaRPr>
          </a:p>
        </p:txBody>
      </p:sp>
      <p:sp>
        <p:nvSpPr>
          <p:cNvPr id="49" name="Google Shape;49;p5"/>
          <p:cNvSpPr/>
          <p:nvPr/>
        </p:nvSpPr>
        <p:spPr>
          <a:xfrm>
            <a:off x="6281928" y="1325880"/>
            <a:ext cx="2523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100"/>
              <a:buFont typeface="Calibri"/>
              <a:buNone/>
            </a:pPr>
            <a:r>
              <a:rPr b="1" i="0" lang="en-US" sz="1100" u="none" cap="none" strike="noStrike">
                <a:solidFill>
                  <a:srgbClr val="0D1B2A"/>
                </a:solidFill>
                <a:latin typeface="Calibri"/>
                <a:ea typeface="Calibri"/>
                <a:cs typeface="Calibri"/>
                <a:sym typeface="Calibri"/>
              </a:rPr>
              <a:t>Exploratory Data Analysis</a:t>
            </a:r>
            <a:endParaRPr b="0" i="0" sz="1100" u="none" cap="none" strike="noStrike">
              <a:solidFill>
                <a:schemeClr val="dk1"/>
              </a:solidFill>
              <a:latin typeface="Calibri"/>
              <a:ea typeface="Calibri"/>
              <a:cs typeface="Calibri"/>
              <a:sym typeface="Calibri"/>
            </a:endParaRPr>
          </a:p>
        </p:txBody>
      </p:sp>
      <p:sp>
        <p:nvSpPr>
          <p:cNvPr id="50" name="Google Shape;50;p5"/>
          <p:cNvSpPr/>
          <p:nvPr/>
        </p:nvSpPr>
        <p:spPr>
          <a:xfrm>
            <a:off x="6281928" y="1783080"/>
            <a:ext cx="2523600" cy="27432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Statistical analysis &amp; visualization</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Pattern identification</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Baseline model creation</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Insights documentation</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Prepare data milestone deliverable</a:t>
            </a:r>
            <a:endParaRPr b="0" i="0" sz="950" u="none" cap="none" strike="noStrike">
              <a:solidFill>
                <a:schemeClr val="dk1"/>
              </a:solidFill>
              <a:latin typeface="Calibri"/>
              <a:ea typeface="Calibri"/>
              <a:cs typeface="Calibri"/>
              <a:sym typeface="Calibri"/>
            </a:endParaRPr>
          </a:p>
        </p:txBody>
      </p:sp>
      <p:sp>
        <p:nvSpPr>
          <p:cNvPr id="51" name="Google Shape;51;p5"/>
          <p:cNvSpPr/>
          <p:nvPr/>
        </p:nvSpPr>
        <p:spPr>
          <a:xfrm>
            <a:off x="0" y="4754880"/>
            <a:ext cx="9144000" cy="384000"/>
          </a:xfrm>
          <a:prstGeom prst="rect">
            <a:avLst/>
          </a:prstGeom>
          <a:solidFill>
            <a:srgbClr val="C8EFF7"/>
          </a:solidFill>
          <a:ln cap="flat" cmpd="sng" w="12700">
            <a:solidFill>
              <a:srgbClr val="A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5"/>
          <p:cNvSpPr/>
          <p:nvPr/>
        </p:nvSpPr>
        <p:spPr>
          <a:xfrm>
            <a:off x="274320" y="4754880"/>
            <a:ext cx="85953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7EA4"/>
              </a:buClr>
              <a:buSzPts val="1000"/>
              <a:buFont typeface="Calibri"/>
              <a:buNone/>
            </a:pPr>
            <a:r>
              <a:rPr b="1" i="0" lang="en-US" sz="1000" u="none" cap="none" strike="noStrike">
                <a:solidFill>
                  <a:srgbClr val="0A7EA4"/>
                </a:solidFill>
                <a:latin typeface="Calibri"/>
                <a:ea typeface="Calibri"/>
                <a:cs typeface="Calibri"/>
                <a:sym typeface="Calibri"/>
              </a:rPr>
              <a:t>Datasets Used:  DrugBank (XML)   ·   TWOSIDES (NSIDES)   ·   SIDER   ·   ChEMBL   ·   ZINC</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AAFC4"/>
        </a:solidFill>
      </p:bgPr>
    </p:bg>
    <p:spTree>
      <p:nvGrpSpPr>
        <p:cNvPr id="56" name="Shape 56"/>
        <p:cNvGrpSpPr/>
        <p:nvPr/>
      </p:nvGrpSpPr>
      <p:grpSpPr>
        <a:xfrm>
          <a:off x="0" y="0"/>
          <a:ext cx="0" cy="0"/>
          <a:chOff x="0" y="0"/>
          <a:chExt cx="0" cy="0"/>
        </a:xfrm>
      </p:grpSpPr>
      <p:sp>
        <p:nvSpPr>
          <p:cNvPr id="57" name="Google Shape;57;p6"/>
          <p:cNvSpPr txBox="1"/>
          <p:nvPr>
            <p:ph type="title"/>
          </p:nvPr>
        </p:nvSpPr>
        <p:spPr>
          <a:xfrm>
            <a:off x="214375" y="149425"/>
            <a:ext cx="8520600" cy="572700"/>
          </a:xfrm>
          <a:prstGeom prst="rect">
            <a:avLst/>
          </a:prstGeom>
          <a:solidFill>
            <a:srgbClr val="C8EFF7"/>
          </a:solidFill>
        </p:spPr>
        <p:txBody>
          <a:bodyPr anchorCtr="0" anchor="ctr" bIns="91425" lIns="91425" spcFirstLastPara="1" rIns="91425" wrap="square" tIns="91425">
            <a:noAutofit/>
          </a:bodyPr>
          <a:lstStyle/>
          <a:p>
            <a:pPr indent="0" lvl="0" marL="0" rtl="0" algn="l">
              <a:spcBef>
                <a:spcPts val="0"/>
              </a:spcBef>
              <a:spcAft>
                <a:spcPts val="0"/>
              </a:spcAft>
              <a:buNone/>
            </a:pPr>
            <a:r>
              <a:rPr b="1" lang="en-US">
                <a:latin typeface="EB Garamond"/>
                <a:ea typeface="EB Garamond"/>
                <a:cs typeface="EB Garamond"/>
                <a:sym typeface="EB Garamond"/>
              </a:rPr>
              <a:t>DrugBank Dataset : Data Acquisition and Collection</a:t>
            </a:r>
            <a:endParaRPr b="1">
              <a:latin typeface="EB Garamond"/>
              <a:ea typeface="EB Garamond"/>
              <a:cs typeface="EB Garamond"/>
              <a:sym typeface="EB Garamond"/>
            </a:endParaRPr>
          </a:p>
        </p:txBody>
      </p:sp>
      <p:sp>
        <p:nvSpPr>
          <p:cNvPr id="58" name="Google Shape;58;p6"/>
          <p:cNvSpPr txBox="1"/>
          <p:nvPr/>
        </p:nvSpPr>
        <p:spPr>
          <a:xfrm>
            <a:off x="214375" y="1481350"/>
            <a:ext cx="2661900" cy="146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100">
                <a:solidFill>
                  <a:schemeClr val="dk1"/>
                </a:solidFill>
                <a:latin typeface="EB Garamond"/>
                <a:ea typeface="EB Garamond"/>
                <a:cs typeface="EB Garamond"/>
                <a:sym typeface="EB Garamond"/>
              </a:rPr>
              <a:t>Source provided as a </a:t>
            </a:r>
            <a:r>
              <a:rPr b="1" lang="en-US" sz="1100">
                <a:solidFill>
                  <a:schemeClr val="dk1"/>
                </a:solidFill>
                <a:latin typeface="EB Garamond"/>
                <a:ea typeface="EB Garamond"/>
                <a:cs typeface="EB Garamond"/>
                <a:sym typeface="EB Garamond"/>
              </a:rPr>
              <a:t>1.76 GB XML file, processed using structure parsing in Google Colab</a:t>
            </a:r>
            <a:endParaRPr b="1" sz="1100">
              <a:solidFill>
                <a:schemeClr val="dk1"/>
              </a:solidFill>
              <a:latin typeface="EB Garamond"/>
              <a:ea typeface="EB Garamond"/>
              <a:cs typeface="EB Garamond"/>
              <a:sym typeface="EB Garamond"/>
            </a:endParaRPr>
          </a:p>
          <a:p>
            <a:pPr indent="0" lvl="0" marL="0" rtl="0" algn="l">
              <a:lnSpc>
                <a:spcPct val="115000"/>
              </a:lnSpc>
              <a:spcBef>
                <a:spcPts val="600"/>
              </a:spcBef>
              <a:spcAft>
                <a:spcPts val="0"/>
              </a:spcAft>
              <a:buNone/>
            </a:pPr>
            <a:r>
              <a:rPr lang="en-US" sz="1200">
                <a:solidFill>
                  <a:srgbClr val="1F1F1F"/>
                </a:solidFill>
                <a:highlight>
                  <a:srgbClr val="FFFFFF"/>
                </a:highlight>
                <a:latin typeface="EB Garamond"/>
                <a:ea typeface="EB Garamond"/>
                <a:cs typeface="EB Garamond"/>
                <a:sym typeface="EB Garamond"/>
              </a:rPr>
              <a:t>Stream-parse the XML and extract ONLY what we need. This creates 4 compact tables that align with CompoundIQ needs</a:t>
            </a:r>
            <a:endParaRPr sz="1200">
              <a:solidFill>
                <a:srgbClr val="1F1F1F"/>
              </a:solidFill>
              <a:highlight>
                <a:srgbClr val="FFFFFF"/>
              </a:highlight>
              <a:latin typeface="EB Garamond"/>
              <a:ea typeface="EB Garamond"/>
              <a:cs typeface="EB Garamond"/>
              <a:sym typeface="EB Garamond"/>
            </a:endParaRPr>
          </a:p>
          <a:p>
            <a:pPr indent="0" lvl="0" marL="0" rtl="0" algn="l">
              <a:lnSpc>
                <a:spcPct val="115000"/>
              </a:lnSpc>
              <a:spcBef>
                <a:spcPts val="600"/>
              </a:spcBef>
              <a:spcAft>
                <a:spcPts val="0"/>
              </a:spcAft>
              <a:buNone/>
            </a:pPr>
            <a:r>
              <a:t/>
            </a:r>
            <a:endParaRPr sz="1200">
              <a:solidFill>
                <a:srgbClr val="1F1F1F"/>
              </a:solidFill>
              <a:highlight>
                <a:srgbClr val="FFFFFF"/>
              </a:highlight>
              <a:latin typeface="EB Garamond"/>
              <a:ea typeface="EB Garamond"/>
              <a:cs typeface="EB Garamond"/>
              <a:sym typeface="EB Garamond"/>
            </a:endParaRPr>
          </a:p>
          <a:p>
            <a:pPr indent="0" lvl="0" marL="0" rtl="0" algn="l">
              <a:spcBef>
                <a:spcPts val="600"/>
              </a:spcBef>
              <a:spcAft>
                <a:spcPts val="0"/>
              </a:spcAft>
              <a:buNone/>
            </a:pPr>
            <a:r>
              <a:t/>
            </a:r>
            <a:endParaRPr b="1" sz="1100">
              <a:solidFill>
                <a:schemeClr val="dk1"/>
              </a:solidFill>
              <a:latin typeface="EB Garamond"/>
              <a:ea typeface="EB Garamond"/>
              <a:cs typeface="EB Garamond"/>
              <a:sym typeface="EB Garamond"/>
            </a:endParaRPr>
          </a:p>
          <a:p>
            <a:pPr indent="0" lvl="0" marL="0" rtl="0" algn="l">
              <a:spcBef>
                <a:spcPts val="0"/>
              </a:spcBef>
              <a:spcAft>
                <a:spcPts val="0"/>
              </a:spcAft>
              <a:buNone/>
            </a:pPr>
            <a:r>
              <a:t/>
            </a:r>
            <a:endParaRPr b="1" sz="1100">
              <a:solidFill>
                <a:schemeClr val="dk1"/>
              </a:solidFill>
              <a:latin typeface="EB Garamond"/>
              <a:ea typeface="EB Garamond"/>
              <a:cs typeface="EB Garamond"/>
              <a:sym typeface="EB Garamond"/>
            </a:endParaRPr>
          </a:p>
        </p:txBody>
      </p:sp>
      <p:sp>
        <p:nvSpPr>
          <p:cNvPr id="59" name="Google Shape;59;p6"/>
          <p:cNvSpPr txBox="1"/>
          <p:nvPr/>
        </p:nvSpPr>
        <p:spPr>
          <a:xfrm>
            <a:off x="5743400" y="941400"/>
            <a:ext cx="2661900" cy="127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1500">
                <a:solidFill>
                  <a:schemeClr val="dk2"/>
                </a:solidFill>
                <a:latin typeface="EB Garamond"/>
                <a:ea typeface="EB Garamond"/>
                <a:cs typeface="EB Garamond"/>
                <a:sym typeface="EB Garamond"/>
              </a:rPr>
              <a:t>Raw biomedical XML successfully transformed into structured, reusable datasets.</a:t>
            </a:r>
            <a:br>
              <a:rPr lang="en-US" sz="1500">
                <a:solidFill>
                  <a:schemeClr val="dk2"/>
                </a:solidFill>
                <a:latin typeface="EB Garamond"/>
                <a:ea typeface="EB Garamond"/>
                <a:cs typeface="EB Garamond"/>
                <a:sym typeface="EB Garamond"/>
              </a:rPr>
            </a:br>
            <a:endParaRPr sz="1500">
              <a:solidFill>
                <a:schemeClr val="dk2"/>
              </a:solidFill>
              <a:latin typeface="EB Garamond"/>
              <a:ea typeface="EB Garamond"/>
              <a:cs typeface="EB Garamond"/>
              <a:sym typeface="EB Garamond"/>
            </a:endParaRPr>
          </a:p>
          <a:p>
            <a:pPr indent="0" lvl="0" marL="0" rtl="0" algn="l">
              <a:spcBef>
                <a:spcPts val="0"/>
              </a:spcBef>
              <a:spcAft>
                <a:spcPts val="0"/>
              </a:spcAft>
              <a:buNone/>
            </a:pPr>
            <a:r>
              <a:t/>
            </a:r>
            <a:endParaRPr sz="1500">
              <a:solidFill>
                <a:schemeClr val="dk2"/>
              </a:solidFill>
              <a:latin typeface="EB Garamond"/>
              <a:ea typeface="EB Garamond"/>
              <a:cs typeface="EB Garamond"/>
              <a:sym typeface="EB Garamond"/>
            </a:endParaRPr>
          </a:p>
        </p:txBody>
      </p:sp>
      <p:graphicFrame>
        <p:nvGraphicFramePr>
          <p:cNvPr id="60" name="Google Shape;60;p6"/>
          <p:cNvGraphicFramePr/>
          <p:nvPr/>
        </p:nvGraphicFramePr>
        <p:xfrm>
          <a:off x="4572000" y="2266675"/>
          <a:ext cx="3000000" cy="3000000"/>
        </p:xfrm>
        <a:graphic>
          <a:graphicData uri="http://schemas.openxmlformats.org/drawingml/2006/table">
            <a:tbl>
              <a:tblPr>
                <a:noFill/>
                <a:tableStyleId>{E4037B53-7E40-4348-8719-8884F6AEF730}</a:tableStyleId>
              </a:tblPr>
              <a:tblGrid>
                <a:gridCol w="941900"/>
                <a:gridCol w="941900"/>
                <a:gridCol w="941900"/>
                <a:gridCol w="941900"/>
              </a:tblGrid>
              <a:tr h="245350">
                <a:tc>
                  <a:txBody>
                    <a:bodyPr/>
                    <a:lstStyle/>
                    <a:p>
                      <a:pPr indent="0" lvl="0" marL="0" rtl="0" algn="l">
                        <a:spcBef>
                          <a:spcPts val="0"/>
                        </a:spcBef>
                        <a:spcAft>
                          <a:spcPts val="0"/>
                        </a:spcAft>
                        <a:buNone/>
                      </a:pPr>
                      <a:r>
                        <a:rPr lang="en-US" sz="700">
                          <a:latin typeface="EB Garamond"/>
                          <a:ea typeface="EB Garamond"/>
                          <a:cs typeface="EB Garamond"/>
                          <a:sym typeface="EB Garamond"/>
                        </a:rPr>
                        <a:t>TABLE</a:t>
                      </a:r>
                      <a:endParaRPr sz="700">
                        <a:latin typeface="EB Garamond"/>
                        <a:ea typeface="EB Garamond"/>
                        <a:cs typeface="EB Garamond"/>
                        <a:sym typeface="EB Garamo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700">
                          <a:latin typeface="EB Garamond"/>
                          <a:ea typeface="EB Garamond"/>
                          <a:cs typeface="EB Garamond"/>
                          <a:sym typeface="EB Garamond"/>
                        </a:rPr>
                        <a:t>ROWS</a:t>
                      </a:r>
                      <a:endParaRPr sz="700">
                        <a:latin typeface="EB Garamond"/>
                        <a:ea typeface="EB Garamond"/>
                        <a:cs typeface="EB Garamond"/>
                        <a:sym typeface="EB Garamo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700">
                          <a:latin typeface="EB Garamond"/>
                          <a:ea typeface="EB Garamond"/>
                          <a:cs typeface="EB Garamond"/>
                          <a:sym typeface="EB Garamond"/>
                        </a:rPr>
                        <a:t>SIZE</a:t>
                      </a:r>
                      <a:endParaRPr sz="700">
                        <a:latin typeface="EB Garamond"/>
                        <a:ea typeface="EB Garamond"/>
                        <a:cs typeface="EB Garamond"/>
                        <a:sym typeface="EB Garamo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700">
                          <a:latin typeface="EB Garamond"/>
                          <a:ea typeface="EB Garamond"/>
                          <a:cs typeface="EB Garamond"/>
                          <a:sym typeface="EB Garamond"/>
                        </a:rPr>
                        <a:t>PURPOSE</a:t>
                      </a:r>
                      <a:endParaRPr sz="700">
                        <a:latin typeface="EB Garamond"/>
                        <a:ea typeface="EB Garamond"/>
                        <a:cs typeface="EB Garamond"/>
                        <a:sym typeface="EB Garamo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41725">
                <a:tc>
                  <a:txBody>
                    <a:bodyPr/>
                    <a:lstStyle/>
                    <a:p>
                      <a:pPr indent="0" lvl="0" marL="0" rtl="0" algn="l">
                        <a:spcBef>
                          <a:spcPts val="0"/>
                        </a:spcBef>
                        <a:spcAft>
                          <a:spcPts val="0"/>
                        </a:spcAft>
                        <a:buNone/>
                      </a:pPr>
                      <a:r>
                        <a:rPr lang="en-US" sz="700">
                          <a:latin typeface="EB Garamond"/>
                          <a:ea typeface="EB Garamond"/>
                          <a:cs typeface="EB Garamond"/>
                          <a:sym typeface="EB Garamond"/>
                        </a:rPr>
                        <a:t>drugs.parquet</a:t>
                      </a:r>
                      <a:endParaRPr sz="700">
                        <a:latin typeface="EB Garamond"/>
                        <a:ea typeface="EB Garamond"/>
                        <a:cs typeface="EB Garamond"/>
                        <a:sym typeface="EB Garamo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700">
                          <a:latin typeface="EB Garamond"/>
                          <a:ea typeface="EB Garamond"/>
                          <a:cs typeface="EB Garamond"/>
                          <a:sym typeface="EB Garamond"/>
                        </a:rPr>
                        <a:t>1,014,348</a:t>
                      </a:r>
                      <a:endParaRPr sz="700">
                        <a:latin typeface="EB Garamond"/>
                        <a:ea typeface="EB Garamond"/>
                        <a:cs typeface="EB Garamond"/>
                        <a:sym typeface="EB Garamo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700">
                          <a:latin typeface="EB Garamond"/>
                          <a:ea typeface="EB Garamond"/>
                          <a:cs typeface="EB Garamond"/>
                          <a:sym typeface="EB Garamond"/>
                        </a:rPr>
                        <a:t>5.31 MB</a:t>
                      </a:r>
                      <a:endParaRPr sz="700">
                        <a:latin typeface="EB Garamond"/>
                        <a:ea typeface="EB Garamond"/>
                        <a:cs typeface="EB Garamond"/>
                        <a:sym typeface="EB Garamo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700">
                          <a:latin typeface="EB Garamond"/>
                          <a:ea typeface="EB Garamond"/>
                          <a:cs typeface="EB Garamond"/>
                          <a:sym typeface="EB Garamond"/>
                        </a:rPr>
                        <a:t>Core drug metadata (from nested XML extraction)</a:t>
                      </a:r>
                      <a:endParaRPr sz="700">
                        <a:latin typeface="EB Garamond"/>
                        <a:ea typeface="EB Garamond"/>
                        <a:cs typeface="EB Garamond"/>
                        <a:sym typeface="EB Garamo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09600">
                <a:tc>
                  <a:txBody>
                    <a:bodyPr/>
                    <a:lstStyle/>
                    <a:p>
                      <a:pPr indent="0" lvl="0" marL="0" rtl="0" algn="l">
                        <a:spcBef>
                          <a:spcPts val="0"/>
                        </a:spcBef>
                        <a:spcAft>
                          <a:spcPts val="0"/>
                        </a:spcAft>
                        <a:buNone/>
                      </a:pPr>
                      <a:r>
                        <a:rPr lang="en-US" sz="700">
                          <a:latin typeface="EB Garamond"/>
                          <a:ea typeface="EB Garamond"/>
                          <a:cs typeface="EB Garamond"/>
                          <a:sym typeface="EB Garamond"/>
                        </a:rPr>
                        <a:t>drug_interactions.parquet</a:t>
                      </a:r>
                      <a:endParaRPr sz="700">
                        <a:latin typeface="EB Garamond"/>
                        <a:ea typeface="EB Garamond"/>
                        <a:cs typeface="EB Garamond"/>
                        <a:sym typeface="EB Garamo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700">
                          <a:latin typeface="EB Garamond"/>
                          <a:ea typeface="EB Garamond"/>
                          <a:cs typeface="EB Garamond"/>
                          <a:sym typeface="EB Garamond"/>
                        </a:rPr>
                        <a:t>2,910,010</a:t>
                      </a:r>
                      <a:endParaRPr sz="700">
                        <a:latin typeface="EB Garamond"/>
                        <a:ea typeface="EB Garamond"/>
                        <a:cs typeface="EB Garamond"/>
                        <a:sym typeface="EB Garamo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700">
                          <a:latin typeface="EB Garamond"/>
                          <a:ea typeface="EB Garamond"/>
                          <a:cs typeface="EB Garamond"/>
                          <a:sym typeface="EB Garamond"/>
                        </a:rPr>
                        <a:t>55.15 MB</a:t>
                      </a:r>
                      <a:endParaRPr sz="700">
                        <a:latin typeface="EB Garamond"/>
                        <a:ea typeface="EB Garamond"/>
                        <a:cs typeface="EB Garamond"/>
                        <a:sym typeface="EB Garamo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700">
                          <a:latin typeface="EB Garamond"/>
                          <a:ea typeface="EB Garamond"/>
                          <a:cs typeface="EB Garamond"/>
                          <a:sym typeface="EB Garamond"/>
                        </a:rPr>
                        <a:t>Drug-drug interaction relationships</a:t>
                      </a:r>
                      <a:endParaRPr sz="700">
                        <a:latin typeface="EB Garamond"/>
                        <a:ea typeface="EB Garamond"/>
                        <a:cs typeface="EB Garamond"/>
                        <a:sym typeface="EB Garamo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77475">
                <a:tc>
                  <a:txBody>
                    <a:bodyPr/>
                    <a:lstStyle/>
                    <a:p>
                      <a:pPr indent="0" lvl="0" marL="0" rtl="0" algn="l">
                        <a:spcBef>
                          <a:spcPts val="0"/>
                        </a:spcBef>
                        <a:spcAft>
                          <a:spcPts val="0"/>
                        </a:spcAft>
                        <a:buNone/>
                      </a:pPr>
                      <a:r>
                        <a:rPr lang="en-US" sz="700">
                          <a:latin typeface="EB Garamond"/>
                          <a:ea typeface="EB Garamond"/>
                          <a:cs typeface="EB Garamond"/>
                          <a:sym typeface="EB Garamond"/>
                        </a:rPr>
                        <a:t>targets.parquet</a:t>
                      </a:r>
                      <a:endParaRPr sz="700">
                        <a:latin typeface="EB Garamond"/>
                        <a:ea typeface="EB Garamond"/>
                        <a:cs typeface="EB Garamond"/>
                        <a:sym typeface="EB Garamo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700">
                          <a:latin typeface="EB Garamond"/>
                          <a:ea typeface="EB Garamond"/>
                          <a:cs typeface="EB Garamond"/>
                          <a:sym typeface="EB Garamond"/>
                        </a:rPr>
                        <a:t>24,231</a:t>
                      </a:r>
                      <a:endParaRPr sz="700">
                        <a:latin typeface="EB Garamond"/>
                        <a:ea typeface="EB Garamond"/>
                        <a:cs typeface="EB Garamond"/>
                        <a:sym typeface="EB Garamo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700">
                          <a:latin typeface="EB Garamond"/>
                          <a:ea typeface="EB Garamond"/>
                          <a:cs typeface="EB Garamond"/>
                          <a:sym typeface="EB Garamond"/>
                        </a:rPr>
                        <a:t>0.56 MB</a:t>
                      </a:r>
                      <a:endParaRPr sz="700">
                        <a:latin typeface="EB Garamond"/>
                        <a:ea typeface="EB Garamond"/>
                        <a:cs typeface="EB Garamond"/>
                        <a:sym typeface="EB Garamo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700">
                          <a:latin typeface="EB Garamond"/>
                          <a:ea typeface="EB Garamond"/>
                          <a:cs typeface="EB Garamond"/>
                          <a:sym typeface="EB Garamond"/>
                        </a:rPr>
                        <a:t>Drug-target associations</a:t>
                      </a:r>
                      <a:endParaRPr sz="700">
                        <a:latin typeface="EB Garamond"/>
                        <a:ea typeface="EB Garamond"/>
                        <a:cs typeface="EB Garamond"/>
                        <a:sym typeface="EB Garamo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09600">
                <a:tc>
                  <a:txBody>
                    <a:bodyPr/>
                    <a:lstStyle/>
                    <a:p>
                      <a:pPr indent="0" lvl="0" marL="0" rtl="0" algn="l">
                        <a:spcBef>
                          <a:spcPts val="0"/>
                        </a:spcBef>
                        <a:spcAft>
                          <a:spcPts val="0"/>
                        </a:spcAft>
                        <a:buNone/>
                      </a:pPr>
                      <a:r>
                        <a:rPr lang="en-US" sz="700">
                          <a:latin typeface="EB Garamond"/>
                          <a:ea typeface="EB Garamond"/>
                          <a:cs typeface="EB Garamond"/>
                          <a:sym typeface="EB Garamond"/>
                        </a:rPr>
                        <a:t>enzymes.parquet</a:t>
                      </a:r>
                      <a:endParaRPr sz="700">
                        <a:latin typeface="EB Garamond"/>
                        <a:ea typeface="EB Garamond"/>
                        <a:cs typeface="EB Garamond"/>
                        <a:sym typeface="EB Garamo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700">
                          <a:latin typeface="EB Garamond"/>
                          <a:ea typeface="EB Garamond"/>
                          <a:cs typeface="EB Garamond"/>
                          <a:sym typeface="EB Garamond"/>
                        </a:rPr>
                        <a:t>6,062</a:t>
                      </a:r>
                      <a:endParaRPr sz="700">
                        <a:latin typeface="EB Garamond"/>
                        <a:ea typeface="EB Garamond"/>
                        <a:cs typeface="EB Garamond"/>
                        <a:sym typeface="EB Garamo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700">
                          <a:latin typeface="EB Garamond"/>
                          <a:ea typeface="EB Garamond"/>
                          <a:cs typeface="EB Garamond"/>
                          <a:sym typeface="EB Garamond"/>
                        </a:rPr>
                        <a:t>0.08 MB</a:t>
                      </a:r>
                      <a:endParaRPr sz="700">
                        <a:latin typeface="EB Garamond"/>
                        <a:ea typeface="EB Garamond"/>
                        <a:cs typeface="EB Garamond"/>
                        <a:sym typeface="EB Garamo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700">
                          <a:latin typeface="EB Garamond"/>
                          <a:ea typeface="EB Garamond"/>
                          <a:cs typeface="EB Garamond"/>
                          <a:sym typeface="EB Garamond"/>
                        </a:rPr>
                        <a:t>Metabolic enzyme (CYP) data</a:t>
                      </a:r>
                      <a:endParaRPr sz="700">
                        <a:latin typeface="EB Garamond"/>
                        <a:ea typeface="EB Garamond"/>
                        <a:cs typeface="EB Garamond"/>
                        <a:sym typeface="EB Garamo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61" name="Google Shape;61;p6"/>
          <p:cNvSpPr txBox="1"/>
          <p:nvPr/>
        </p:nvSpPr>
        <p:spPr>
          <a:xfrm>
            <a:off x="339600" y="840138"/>
            <a:ext cx="2606100" cy="523200"/>
          </a:xfrm>
          <a:prstGeom prst="rect">
            <a:avLst/>
          </a:prstGeom>
          <a:noFill/>
          <a:ln>
            <a:noFill/>
          </a:ln>
        </p:spPr>
        <p:txBody>
          <a:bodyPr anchorCtr="0" anchor="t" bIns="91425" lIns="91425" spcFirstLastPara="1" rIns="91425" wrap="square" tIns="91425">
            <a:spAutoFit/>
          </a:bodyPr>
          <a:lstStyle/>
          <a:p>
            <a:pPr indent="0" lvl="0" marL="0" rtl="0" algn="l">
              <a:spcBef>
                <a:spcPts val="1200"/>
              </a:spcBef>
              <a:spcAft>
                <a:spcPts val="1200"/>
              </a:spcAft>
              <a:buNone/>
            </a:pPr>
            <a:r>
              <a:rPr lang="en-US" sz="1100">
                <a:solidFill>
                  <a:schemeClr val="dk1"/>
                </a:solidFill>
                <a:latin typeface="EB Garamond"/>
                <a:ea typeface="EB Garamond"/>
                <a:cs typeface="EB Garamond"/>
                <a:sym typeface="EB Garamond"/>
              </a:rPr>
              <a:t>Selected because it aligns with project goal: </a:t>
            </a:r>
            <a:r>
              <a:rPr b="1" lang="en-US" sz="1100">
                <a:solidFill>
                  <a:schemeClr val="dk1"/>
                </a:solidFill>
                <a:latin typeface="EB Garamond"/>
                <a:ea typeface="EB Garamond"/>
                <a:cs typeface="EB Garamond"/>
                <a:sym typeface="EB Garamond"/>
              </a:rPr>
              <a:t>drug combination safety analysis</a:t>
            </a:r>
            <a:endParaRPr/>
          </a:p>
        </p:txBody>
      </p:sp>
      <p:pic>
        <p:nvPicPr>
          <p:cNvPr id="62" name="Google Shape;62;p6"/>
          <p:cNvPicPr preferRelativeResize="0"/>
          <p:nvPr/>
        </p:nvPicPr>
        <p:blipFill rotWithShape="1">
          <a:blip r:embed="rId3">
            <a:alphaModFix/>
          </a:blip>
          <a:srcRect b="37352" l="12319" r="52045" t="13186"/>
          <a:stretch/>
        </p:blipFill>
        <p:spPr>
          <a:xfrm>
            <a:off x="1821025" y="2950550"/>
            <a:ext cx="2211499" cy="1662775"/>
          </a:xfrm>
          <a:prstGeom prst="rect">
            <a:avLst/>
          </a:prstGeom>
          <a:noFill/>
          <a:ln>
            <a:noFill/>
          </a:ln>
        </p:spPr>
      </p:pic>
      <p:pic>
        <p:nvPicPr>
          <p:cNvPr id="63" name="Google Shape;63;p6"/>
          <p:cNvPicPr preferRelativeResize="0"/>
          <p:nvPr/>
        </p:nvPicPr>
        <p:blipFill rotWithShape="1">
          <a:blip r:embed="rId4">
            <a:alphaModFix/>
          </a:blip>
          <a:srcRect b="82693" l="435" r="88818" t="12214"/>
          <a:stretch/>
        </p:blipFill>
        <p:spPr>
          <a:xfrm>
            <a:off x="2766499" y="1159935"/>
            <a:ext cx="2606098" cy="668938"/>
          </a:xfrm>
          <a:prstGeom prst="rect">
            <a:avLst/>
          </a:prstGeom>
          <a:noFill/>
          <a:ln>
            <a:noFill/>
          </a:ln>
        </p:spPr>
      </p:pic>
      <p:sp>
        <p:nvSpPr>
          <p:cNvPr id="64" name="Google Shape;64;p6"/>
          <p:cNvSpPr txBox="1"/>
          <p:nvPr/>
        </p:nvSpPr>
        <p:spPr>
          <a:xfrm>
            <a:off x="399075" y="3295725"/>
            <a:ext cx="1160100" cy="1317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600"/>
              </a:spcBef>
              <a:spcAft>
                <a:spcPts val="0"/>
              </a:spcAft>
              <a:buClr>
                <a:schemeClr val="dk1"/>
              </a:buClr>
              <a:buSzPts val="1100"/>
              <a:buFont typeface="Arial"/>
              <a:buNone/>
            </a:pPr>
            <a:r>
              <a:rPr lang="en-US" sz="1100">
                <a:solidFill>
                  <a:schemeClr val="dk1"/>
                </a:solidFill>
                <a:latin typeface="EB Garamond"/>
                <a:ea typeface="EB Garamond"/>
                <a:cs typeface="EB Garamond"/>
                <a:sym typeface="EB Garamond"/>
              </a:rPr>
              <a:t>Stored outputs as </a:t>
            </a:r>
            <a:r>
              <a:rPr b="1" lang="en-US" sz="1100">
                <a:solidFill>
                  <a:schemeClr val="dk1"/>
                </a:solidFill>
                <a:latin typeface="EB Garamond"/>
                <a:ea typeface="EB Garamond"/>
                <a:cs typeface="EB Garamond"/>
                <a:sym typeface="EB Garamond"/>
              </a:rPr>
              <a:t>Parquet files</a:t>
            </a:r>
            <a:r>
              <a:rPr lang="en-US" sz="1100">
                <a:solidFill>
                  <a:schemeClr val="dk1"/>
                </a:solidFill>
                <a:latin typeface="EB Garamond"/>
                <a:ea typeface="EB Garamond"/>
                <a:cs typeface="EB Garamond"/>
                <a:sym typeface="EB Garamond"/>
              </a:rPr>
              <a:t> for faster access and reduced storage.</a:t>
            </a:r>
            <a:endParaRPr sz="1200">
              <a:solidFill>
                <a:srgbClr val="1F1F1F"/>
              </a:solidFill>
              <a:highlight>
                <a:srgbClr val="FFFFFF"/>
              </a:highlight>
              <a:latin typeface="EB Garamond"/>
              <a:ea typeface="EB Garamond"/>
              <a:cs typeface="EB Garamond"/>
              <a:sym typeface="EB Garamond"/>
            </a:endParaRPr>
          </a:p>
          <a:p>
            <a:pPr indent="0" lvl="0" marL="0" rtl="0" algn="l">
              <a:spcBef>
                <a:spcPts val="600"/>
              </a:spcBef>
              <a:spcAft>
                <a:spcPts val="0"/>
              </a:spcAft>
              <a:buNone/>
            </a:pPr>
            <a:r>
              <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AFB"/>
        </a:solidFill>
      </p:bgPr>
    </p:bg>
    <p:spTree>
      <p:nvGrpSpPr>
        <p:cNvPr id="69" name="Shape 69"/>
        <p:cNvGrpSpPr/>
        <p:nvPr/>
      </p:nvGrpSpPr>
      <p:grpSpPr>
        <a:xfrm>
          <a:off x="0" y="0"/>
          <a:ext cx="0" cy="0"/>
          <a:chOff x="0" y="0"/>
          <a:chExt cx="0" cy="0"/>
        </a:xfrm>
      </p:grpSpPr>
      <p:sp>
        <p:nvSpPr>
          <p:cNvPr id="70" name="Google Shape;70;p7"/>
          <p:cNvSpPr/>
          <p:nvPr/>
        </p:nvSpPr>
        <p:spPr>
          <a:xfrm>
            <a:off x="0" y="0"/>
            <a:ext cx="9144000" cy="65836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7"/>
          <p:cNvSpPr/>
          <p:nvPr/>
        </p:nvSpPr>
        <p:spPr>
          <a:xfrm>
            <a:off x="365760" y="0"/>
            <a:ext cx="822960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Week 4  |  Data Acquisition &amp; Collection</a:t>
            </a:r>
            <a:endParaRPr b="0" i="0" sz="2000" u="none" cap="none" strike="noStrike">
              <a:solidFill>
                <a:schemeClr val="dk1"/>
              </a:solidFill>
              <a:latin typeface="Calibri"/>
              <a:ea typeface="Calibri"/>
              <a:cs typeface="Calibri"/>
              <a:sym typeface="Calibri"/>
            </a:endParaRPr>
          </a:p>
        </p:txBody>
      </p:sp>
      <p:sp>
        <p:nvSpPr>
          <p:cNvPr id="72" name="Google Shape;72;p7"/>
          <p:cNvSpPr/>
          <p:nvPr/>
        </p:nvSpPr>
        <p:spPr>
          <a:xfrm>
            <a:off x="7955280" y="164592"/>
            <a:ext cx="1051560" cy="292608"/>
          </a:xfrm>
          <a:prstGeom prst="roundRect">
            <a:avLst>
              <a:gd fmla="val 18750" name="adj"/>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7955280" y="164592"/>
            <a:ext cx="10515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WEEK 4</a:t>
            </a:r>
            <a:endParaRPr b="0" i="0" sz="900" u="none" cap="none" strike="noStrike">
              <a:solidFill>
                <a:schemeClr val="dk1"/>
              </a:solidFill>
              <a:latin typeface="Calibri"/>
              <a:ea typeface="Calibri"/>
              <a:cs typeface="Calibri"/>
              <a:sym typeface="Calibri"/>
            </a:endParaRPr>
          </a:p>
        </p:txBody>
      </p:sp>
      <p:sp>
        <p:nvSpPr>
          <p:cNvPr id="74" name="Google Shape;74;p7"/>
          <p:cNvSpPr/>
          <p:nvPr/>
        </p:nvSpPr>
        <p:spPr>
          <a:xfrm>
            <a:off x="228600" y="804672"/>
            <a:ext cx="4114800" cy="4114800"/>
          </a:xfrm>
          <a:prstGeom prst="rect">
            <a:avLst/>
          </a:prstGeom>
          <a:solidFill>
            <a:srgbClr val="FFFFFF"/>
          </a:solidFill>
          <a:ln cap="flat" cmpd="sng" w="12700">
            <a:solidFill>
              <a:srgbClr val="D1E8F0"/>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7"/>
          <p:cNvSpPr/>
          <p:nvPr/>
        </p:nvSpPr>
        <p:spPr>
          <a:xfrm>
            <a:off x="347472" y="896112"/>
            <a:ext cx="3840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7EA4"/>
              </a:buClr>
              <a:buSzPts val="1300"/>
              <a:buFont typeface="Calibri"/>
              <a:buNone/>
            </a:pPr>
            <a:r>
              <a:rPr b="1" i="0" lang="en-US" sz="1300" u="none" cap="none" strike="noStrike">
                <a:solidFill>
                  <a:srgbClr val="0A7EA4"/>
                </a:solidFill>
                <a:latin typeface="Calibri"/>
                <a:ea typeface="Calibri"/>
                <a:cs typeface="Calibri"/>
                <a:sym typeface="Calibri"/>
              </a:rPr>
              <a:t>DrugBank Dataset</a:t>
            </a:r>
            <a:endParaRPr b="0" i="0" sz="1300" u="none" cap="none" strike="noStrike">
              <a:solidFill>
                <a:schemeClr val="dk1"/>
              </a:solidFill>
              <a:latin typeface="Calibri"/>
              <a:ea typeface="Calibri"/>
              <a:cs typeface="Calibri"/>
              <a:sym typeface="Calibri"/>
            </a:endParaRPr>
          </a:p>
        </p:txBody>
      </p:sp>
      <p:sp>
        <p:nvSpPr>
          <p:cNvPr id="76" name="Google Shape;76;p7"/>
          <p:cNvSpPr/>
          <p:nvPr/>
        </p:nvSpPr>
        <p:spPr>
          <a:xfrm>
            <a:off x="347472" y="1234440"/>
            <a:ext cx="38404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Source: 1.76 GB XML file · Processed in Google Colab</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Stream-parsed into 4 compact Parquet tables</a:t>
            </a:r>
            <a:endParaRPr b="0" i="0" sz="950" u="none" cap="none" strike="noStrike">
              <a:solidFill>
                <a:schemeClr val="dk1"/>
              </a:solidFill>
              <a:latin typeface="Calibri"/>
              <a:ea typeface="Calibri"/>
              <a:cs typeface="Calibri"/>
              <a:sym typeface="Calibri"/>
            </a:endParaRPr>
          </a:p>
        </p:txBody>
      </p:sp>
      <p:graphicFrame>
        <p:nvGraphicFramePr>
          <p:cNvPr id="77" name="Google Shape;77;p7"/>
          <p:cNvGraphicFramePr/>
          <p:nvPr/>
        </p:nvGraphicFramePr>
        <p:xfrm>
          <a:off x="347472" y="1755648"/>
          <a:ext cx="3000000" cy="3000000"/>
        </p:xfrm>
        <a:graphic>
          <a:graphicData uri="http://schemas.openxmlformats.org/drawingml/2006/table">
            <a:tbl>
              <a:tblPr>
                <a:noFill/>
                <a:tableStyleId>{BC8370DE-3B35-4972-80C1-57DEEA1FF4D5}</a:tableStyleId>
              </a:tblPr>
              <a:tblGrid>
                <a:gridCol w="1463050"/>
                <a:gridCol w="777250"/>
                <a:gridCol w="713225"/>
                <a:gridCol w="914400"/>
              </a:tblGrid>
              <a:tr h="292600">
                <a:tc>
                  <a:txBody>
                    <a:bodyPr/>
                    <a:lstStyle/>
                    <a:p>
                      <a:pPr indent="0" lvl="0" marL="0" marR="0" rtl="0" algn="l">
                        <a:spcBef>
                          <a:spcPts val="0"/>
                        </a:spcBef>
                        <a:spcAft>
                          <a:spcPts val="0"/>
                        </a:spcAft>
                        <a:buClr>
                          <a:srgbClr val="FFFFFF"/>
                        </a:buClr>
                        <a:buSzPts val="850"/>
                        <a:buFont typeface="Calibri"/>
                        <a:buNone/>
                      </a:pPr>
                      <a:r>
                        <a:rPr b="1" lang="en-US" sz="850" u="none" cap="none" strike="noStrike">
                          <a:solidFill>
                            <a:srgbClr val="FFFFFF"/>
                          </a:solidFill>
                        </a:rPr>
                        <a:t>Table</a:t>
                      </a:r>
                      <a:endParaRPr sz="85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solidFill>
                      <a:srgbClr val="0A7EA4"/>
                    </a:solidFill>
                  </a:tcPr>
                </a:tc>
                <a:tc>
                  <a:txBody>
                    <a:bodyPr/>
                    <a:lstStyle/>
                    <a:p>
                      <a:pPr indent="0" lvl="0" marL="0" marR="0" rtl="0" algn="l">
                        <a:spcBef>
                          <a:spcPts val="0"/>
                        </a:spcBef>
                        <a:spcAft>
                          <a:spcPts val="0"/>
                        </a:spcAft>
                        <a:buClr>
                          <a:srgbClr val="FFFFFF"/>
                        </a:buClr>
                        <a:buSzPts val="850"/>
                        <a:buFont typeface="Calibri"/>
                        <a:buNone/>
                      </a:pPr>
                      <a:r>
                        <a:rPr b="1" lang="en-US" sz="850" u="none" cap="none" strike="noStrike">
                          <a:solidFill>
                            <a:srgbClr val="FFFFFF"/>
                          </a:solidFill>
                        </a:rPr>
                        <a:t>Rows</a:t>
                      </a:r>
                      <a:endParaRPr sz="85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solidFill>
                      <a:srgbClr val="0A7EA4"/>
                    </a:solidFill>
                  </a:tcPr>
                </a:tc>
                <a:tc>
                  <a:txBody>
                    <a:bodyPr/>
                    <a:lstStyle/>
                    <a:p>
                      <a:pPr indent="0" lvl="0" marL="0" marR="0" rtl="0" algn="l">
                        <a:spcBef>
                          <a:spcPts val="0"/>
                        </a:spcBef>
                        <a:spcAft>
                          <a:spcPts val="0"/>
                        </a:spcAft>
                        <a:buClr>
                          <a:srgbClr val="FFFFFF"/>
                        </a:buClr>
                        <a:buSzPts val="850"/>
                        <a:buFont typeface="Calibri"/>
                        <a:buNone/>
                      </a:pPr>
                      <a:r>
                        <a:rPr b="1" lang="en-US" sz="850" u="none" cap="none" strike="noStrike">
                          <a:solidFill>
                            <a:srgbClr val="FFFFFF"/>
                          </a:solidFill>
                        </a:rPr>
                        <a:t>Size</a:t>
                      </a:r>
                      <a:endParaRPr sz="85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solidFill>
                      <a:srgbClr val="0A7EA4"/>
                    </a:solidFill>
                  </a:tcPr>
                </a:tc>
                <a:tc>
                  <a:txBody>
                    <a:bodyPr/>
                    <a:lstStyle/>
                    <a:p>
                      <a:pPr indent="0" lvl="0" marL="0" marR="0" rtl="0" algn="l">
                        <a:spcBef>
                          <a:spcPts val="0"/>
                        </a:spcBef>
                        <a:spcAft>
                          <a:spcPts val="0"/>
                        </a:spcAft>
                        <a:buClr>
                          <a:srgbClr val="FFFFFF"/>
                        </a:buClr>
                        <a:buSzPts val="850"/>
                        <a:buFont typeface="Calibri"/>
                        <a:buNone/>
                      </a:pPr>
                      <a:r>
                        <a:rPr b="1" lang="en-US" sz="850" u="none" cap="none" strike="noStrike">
                          <a:solidFill>
                            <a:srgbClr val="FFFFFF"/>
                          </a:solidFill>
                        </a:rPr>
                        <a:t>Purpose</a:t>
                      </a:r>
                      <a:endParaRPr sz="85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solidFill>
                      <a:srgbClr val="0A7EA4"/>
                    </a:solidFill>
                  </a:tcPr>
                </a:tc>
              </a:tr>
              <a:tr h="292600">
                <a:tc>
                  <a:txBody>
                    <a:bodyPr/>
                    <a:lstStyle/>
                    <a:p>
                      <a:pPr indent="0" lvl="0" marL="0" marR="0" rtl="0" algn="l">
                        <a:spcBef>
                          <a:spcPts val="0"/>
                        </a:spcBef>
                        <a:spcAft>
                          <a:spcPts val="0"/>
                        </a:spcAft>
                        <a:buClr>
                          <a:srgbClr val="000000"/>
                        </a:buClr>
                        <a:buSzPts val="850"/>
                        <a:buFont typeface="Calibri"/>
                        <a:buNone/>
                      </a:pPr>
                      <a:r>
                        <a:rPr lang="en-US" sz="850" u="none" cap="none" strike="noStrike">
                          <a:solidFill>
                            <a:srgbClr val="000000"/>
                          </a:solidFill>
                        </a:rPr>
                        <a:t>drugs.parquet</a:t>
                      </a:r>
                      <a:endParaRPr sz="85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50"/>
                        <a:buFont typeface="Calibri"/>
                        <a:buNone/>
                      </a:pPr>
                      <a:r>
                        <a:rPr lang="en-US" sz="850" u="none" cap="none" strike="noStrike">
                          <a:solidFill>
                            <a:srgbClr val="000000"/>
                          </a:solidFill>
                        </a:rPr>
                        <a:t>1,014,348</a:t>
                      </a:r>
                      <a:endParaRPr sz="85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50"/>
                        <a:buFont typeface="Calibri"/>
                        <a:buNone/>
                      </a:pPr>
                      <a:r>
                        <a:rPr lang="en-US" sz="850" u="none" cap="none" strike="noStrike">
                          <a:solidFill>
                            <a:srgbClr val="000000"/>
                          </a:solidFill>
                        </a:rPr>
                        <a:t>5.31 MB</a:t>
                      </a:r>
                      <a:endParaRPr sz="85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50"/>
                        <a:buFont typeface="Calibri"/>
                        <a:buNone/>
                      </a:pPr>
                      <a:r>
                        <a:rPr lang="en-US" sz="850" u="none" cap="none" strike="noStrike">
                          <a:solidFill>
                            <a:srgbClr val="000000"/>
                          </a:solidFill>
                        </a:rPr>
                        <a:t>Core drug metadata</a:t>
                      </a:r>
                      <a:endParaRPr sz="85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r>
              <a:tr h="292600">
                <a:tc>
                  <a:txBody>
                    <a:bodyPr/>
                    <a:lstStyle/>
                    <a:p>
                      <a:pPr indent="0" lvl="0" marL="0" marR="0" rtl="0" algn="l">
                        <a:spcBef>
                          <a:spcPts val="0"/>
                        </a:spcBef>
                        <a:spcAft>
                          <a:spcPts val="0"/>
                        </a:spcAft>
                        <a:buClr>
                          <a:srgbClr val="000000"/>
                        </a:buClr>
                        <a:buSzPts val="850"/>
                        <a:buFont typeface="Calibri"/>
                        <a:buNone/>
                      </a:pPr>
                      <a:r>
                        <a:rPr lang="en-US" sz="850" u="none" cap="none" strike="noStrike">
                          <a:solidFill>
                            <a:srgbClr val="000000"/>
                          </a:solidFill>
                        </a:rPr>
                        <a:t>drug_interactions.parquet</a:t>
                      </a:r>
                      <a:endParaRPr sz="85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50"/>
                        <a:buFont typeface="Calibri"/>
                        <a:buNone/>
                      </a:pPr>
                      <a:r>
                        <a:rPr lang="en-US" sz="850" u="none" cap="none" strike="noStrike">
                          <a:solidFill>
                            <a:srgbClr val="000000"/>
                          </a:solidFill>
                        </a:rPr>
                        <a:t>2,910,010</a:t>
                      </a:r>
                      <a:endParaRPr sz="85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50"/>
                        <a:buFont typeface="Calibri"/>
                        <a:buNone/>
                      </a:pPr>
                      <a:r>
                        <a:rPr lang="en-US" sz="850" u="none" cap="none" strike="noStrike">
                          <a:solidFill>
                            <a:srgbClr val="000000"/>
                          </a:solidFill>
                        </a:rPr>
                        <a:t>55.15 MB</a:t>
                      </a:r>
                      <a:endParaRPr sz="85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50"/>
                        <a:buFont typeface="Calibri"/>
                        <a:buNone/>
                      </a:pPr>
                      <a:r>
                        <a:rPr lang="en-US" sz="850" u="none" cap="none" strike="noStrike">
                          <a:solidFill>
                            <a:srgbClr val="000000"/>
                          </a:solidFill>
                        </a:rPr>
                        <a:t>DDI relationships</a:t>
                      </a:r>
                      <a:endParaRPr sz="85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r>
              <a:tr h="292600">
                <a:tc>
                  <a:txBody>
                    <a:bodyPr/>
                    <a:lstStyle/>
                    <a:p>
                      <a:pPr indent="0" lvl="0" marL="0" marR="0" rtl="0" algn="l">
                        <a:spcBef>
                          <a:spcPts val="0"/>
                        </a:spcBef>
                        <a:spcAft>
                          <a:spcPts val="0"/>
                        </a:spcAft>
                        <a:buClr>
                          <a:srgbClr val="000000"/>
                        </a:buClr>
                        <a:buSzPts val="850"/>
                        <a:buFont typeface="Calibri"/>
                        <a:buNone/>
                      </a:pPr>
                      <a:r>
                        <a:rPr lang="en-US" sz="850" u="none" cap="none" strike="noStrike">
                          <a:solidFill>
                            <a:srgbClr val="000000"/>
                          </a:solidFill>
                        </a:rPr>
                        <a:t>targets.parquet</a:t>
                      </a:r>
                      <a:endParaRPr sz="85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50"/>
                        <a:buFont typeface="Calibri"/>
                        <a:buNone/>
                      </a:pPr>
                      <a:r>
                        <a:rPr lang="en-US" sz="850" u="none" cap="none" strike="noStrike">
                          <a:solidFill>
                            <a:srgbClr val="000000"/>
                          </a:solidFill>
                        </a:rPr>
                        <a:t>24,231</a:t>
                      </a:r>
                      <a:endParaRPr sz="85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50"/>
                        <a:buFont typeface="Calibri"/>
                        <a:buNone/>
                      </a:pPr>
                      <a:r>
                        <a:rPr lang="en-US" sz="850" u="none" cap="none" strike="noStrike">
                          <a:solidFill>
                            <a:srgbClr val="000000"/>
                          </a:solidFill>
                        </a:rPr>
                        <a:t>0.56 MB</a:t>
                      </a:r>
                      <a:endParaRPr sz="85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50"/>
                        <a:buFont typeface="Calibri"/>
                        <a:buNone/>
                      </a:pPr>
                      <a:r>
                        <a:rPr lang="en-US" sz="850" u="none" cap="none" strike="noStrike">
                          <a:solidFill>
                            <a:srgbClr val="000000"/>
                          </a:solidFill>
                        </a:rPr>
                        <a:t>Drug-target assoc.</a:t>
                      </a:r>
                      <a:endParaRPr sz="85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r>
              <a:tr h="292600">
                <a:tc>
                  <a:txBody>
                    <a:bodyPr/>
                    <a:lstStyle/>
                    <a:p>
                      <a:pPr indent="0" lvl="0" marL="0" marR="0" rtl="0" algn="l">
                        <a:spcBef>
                          <a:spcPts val="0"/>
                        </a:spcBef>
                        <a:spcAft>
                          <a:spcPts val="0"/>
                        </a:spcAft>
                        <a:buClr>
                          <a:srgbClr val="000000"/>
                        </a:buClr>
                        <a:buSzPts val="850"/>
                        <a:buFont typeface="Calibri"/>
                        <a:buNone/>
                      </a:pPr>
                      <a:r>
                        <a:rPr lang="en-US" sz="850" u="none" cap="none" strike="noStrike">
                          <a:solidFill>
                            <a:srgbClr val="000000"/>
                          </a:solidFill>
                        </a:rPr>
                        <a:t>enzymes.parquet</a:t>
                      </a:r>
                      <a:endParaRPr sz="85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50"/>
                        <a:buFont typeface="Calibri"/>
                        <a:buNone/>
                      </a:pPr>
                      <a:r>
                        <a:rPr lang="en-US" sz="850" u="none" cap="none" strike="noStrike">
                          <a:solidFill>
                            <a:srgbClr val="000000"/>
                          </a:solidFill>
                        </a:rPr>
                        <a:t>6,062</a:t>
                      </a:r>
                      <a:endParaRPr sz="85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50"/>
                        <a:buFont typeface="Calibri"/>
                        <a:buNone/>
                      </a:pPr>
                      <a:r>
                        <a:rPr lang="en-US" sz="850" u="none" cap="none" strike="noStrike">
                          <a:solidFill>
                            <a:srgbClr val="000000"/>
                          </a:solidFill>
                        </a:rPr>
                        <a:t>0.08 MB</a:t>
                      </a:r>
                      <a:endParaRPr sz="85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50"/>
                        <a:buFont typeface="Calibri"/>
                        <a:buNone/>
                      </a:pPr>
                      <a:r>
                        <a:rPr lang="en-US" sz="850" u="none" cap="none" strike="noStrike">
                          <a:solidFill>
                            <a:srgbClr val="000000"/>
                          </a:solidFill>
                        </a:rPr>
                        <a:t>CYP enzyme data</a:t>
                      </a:r>
                      <a:endParaRPr sz="85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r>
            </a:tbl>
          </a:graphicData>
        </a:graphic>
      </p:graphicFrame>
      <p:sp>
        <p:nvSpPr>
          <p:cNvPr id="78" name="Google Shape;78;p7"/>
          <p:cNvSpPr/>
          <p:nvPr/>
        </p:nvSpPr>
        <p:spPr>
          <a:xfrm>
            <a:off x="4572000" y="804672"/>
            <a:ext cx="4343400" cy="1920240"/>
          </a:xfrm>
          <a:prstGeom prst="rect">
            <a:avLst/>
          </a:prstGeom>
          <a:solidFill>
            <a:srgbClr val="FFFFFF"/>
          </a:solidFill>
          <a:ln cap="flat" cmpd="sng" w="12700">
            <a:solidFill>
              <a:srgbClr val="D1E8F0"/>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7"/>
          <p:cNvSpPr/>
          <p:nvPr/>
        </p:nvSpPr>
        <p:spPr>
          <a:xfrm>
            <a:off x="4681728" y="896112"/>
            <a:ext cx="40233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7EA4"/>
              </a:buClr>
              <a:buSzPts val="1300"/>
              <a:buFont typeface="Calibri"/>
              <a:buNone/>
            </a:pPr>
            <a:r>
              <a:rPr b="1" i="0" lang="en-US" sz="1300" u="none" cap="none" strike="noStrike">
                <a:solidFill>
                  <a:srgbClr val="0A7EA4"/>
                </a:solidFill>
                <a:latin typeface="Calibri"/>
                <a:ea typeface="Calibri"/>
                <a:cs typeface="Calibri"/>
                <a:sym typeface="Calibri"/>
              </a:rPr>
              <a:t>Additional Datasets</a:t>
            </a:r>
            <a:endParaRPr b="0" i="0" sz="1300" u="none" cap="none" strike="noStrike">
              <a:solidFill>
                <a:schemeClr val="dk1"/>
              </a:solidFill>
              <a:latin typeface="Calibri"/>
              <a:ea typeface="Calibri"/>
              <a:cs typeface="Calibri"/>
              <a:sym typeface="Calibri"/>
            </a:endParaRPr>
          </a:p>
        </p:txBody>
      </p:sp>
      <p:sp>
        <p:nvSpPr>
          <p:cNvPr id="80" name="Google Shape;80;p7"/>
          <p:cNvSpPr/>
          <p:nvPr/>
        </p:nvSpPr>
        <p:spPr>
          <a:xfrm>
            <a:off x="4681728" y="1261872"/>
            <a:ext cx="164592" cy="164592"/>
          </a:xfrm>
          <a:prstGeom prst="ellipse">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7"/>
          <p:cNvSpPr/>
          <p:nvPr/>
        </p:nvSpPr>
        <p:spPr>
          <a:xfrm>
            <a:off x="4919472" y="1234440"/>
            <a:ext cx="38404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900"/>
              <a:buFont typeface="Calibri"/>
              <a:buNone/>
            </a:pPr>
            <a:r>
              <a:rPr b="1" i="0" lang="en-US" sz="900" u="none" cap="none" strike="noStrike">
                <a:solidFill>
                  <a:srgbClr val="0D1B2A"/>
                </a:solidFill>
                <a:latin typeface="Calibri"/>
                <a:ea typeface="Calibri"/>
                <a:cs typeface="Calibri"/>
                <a:sym typeface="Calibri"/>
              </a:rPr>
              <a:t>TWOSIDES: </a:t>
            </a:r>
            <a:r>
              <a:rPr b="0" i="0" lang="en-US" sz="900" u="none" cap="none" strike="noStrike">
                <a:solidFill>
                  <a:srgbClr val="64748B"/>
                </a:solidFill>
                <a:latin typeface="Calibri"/>
                <a:ea typeface="Calibri"/>
                <a:cs typeface="Calibri"/>
                <a:sym typeface="Calibri"/>
              </a:rPr>
              <a:t>738 MB · Adverse drug event pairs (NSIDES)</a:t>
            </a:r>
            <a:endParaRPr b="0" i="0" sz="900" u="none" cap="none" strike="noStrike">
              <a:solidFill>
                <a:schemeClr val="dk1"/>
              </a:solidFill>
              <a:latin typeface="Calibri"/>
              <a:ea typeface="Calibri"/>
              <a:cs typeface="Calibri"/>
              <a:sym typeface="Calibri"/>
            </a:endParaRPr>
          </a:p>
        </p:txBody>
      </p:sp>
      <p:sp>
        <p:nvSpPr>
          <p:cNvPr id="82" name="Google Shape;82;p7"/>
          <p:cNvSpPr/>
          <p:nvPr/>
        </p:nvSpPr>
        <p:spPr>
          <a:xfrm>
            <a:off x="4681728" y="1609344"/>
            <a:ext cx="164592" cy="164592"/>
          </a:xfrm>
          <a:prstGeom prst="ellipse">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7"/>
          <p:cNvSpPr/>
          <p:nvPr/>
        </p:nvSpPr>
        <p:spPr>
          <a:xfrm>
            <a:off x="4919472" y="1581912"/>
            <a:ext cx="38404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900"/>
              <a:buFont typeface="Calibri"/>
              <a:buNone/>
            </a:pPr>
            <a:r>
              <a:rPr b="1" i="0" lang="en-US" sz="900" u="none" cap="none" strike="noStrike">
                <a:solidFill>
                  <a:srgbClr val="0D1B2A"/>
                </a:solidFill>
                <a:latin typeface="Calibri"/>
                <a:ea typeface="Calibri"/>
                <a:cs typeface="Calibri"/>
                <a:sym typeface="Calibri"/>
              </a:rPr>
              <a:t>SIDER: </a:t>
            </a:r>
            <a:r>
              <a:rPr b="0" i="0" lang="en-US" sz="900" u="none" cap="none" strike="noStrike">
                <a:solidFill>
                  <a:srgbClr val="64748B"/>
                </a:solidFill>
                <a:latin typeface="Calibri"/>
                <a:ea typeface="Calibri"/>
                <a:cs typeface="Calibri"/>
                <a:sym typeface="Calibri"/>
              </a:rPr>
              <a:t>309,849 records · Drug side effect database</a:t>
            </a:r>
            <a:endParaRPr b="0" i="0" sz="900" u="none" cap="none" strike="noStrike">
              <a:solidFill>
                <a:schemeClr val="dk1"/>
              </a:solidFill>
              <a:latin typeface="Calibri"/>
              <a:ea typeface="Calibri"/>
              <a:cs typeface="Calibri"/>
              <a:sym typeface="Calibri"/>
            </a:endParaRPr>
          </a:p>
        </p:txBody>
      </p:sp>
      <p:sp>
        <p:nvSpPr>
          <p:cNvPr id="84" name="Google Shape;84;p7"/>
          <p:cNvSpPr/>
          <p:nvPr/>
        </p:nvSpPr>
        <p:spPr>
          <a:xfrm>
            <a:off x="4681728" y="1956816"/>
            <a:ext cx="164592" cy="164592"/>
          </a:xfrm>
          <a:prstGeom prst="ellipse">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7"/>
          <p:cNvSpPr/>
          <p:nvPr/>
        </p:nvSpPr>
        <p:spPr>
          <a:xfrm>
            <a:off x="4919472" y="1929384"/>
            <a:ext cx="38404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900"/>
              <a:buFont typeface="Calibri"/>
              <a:buNone/>
            </a:pPr>
            <a:r>
              <a:rPr b="1" i="0" lang="en-US" sz="900" u="none" cap="none" strike="noStrike">
                <a:solidFill>
                  <a:srgbClr val="0D1B2A"/>
                </a:solidFill>
                <a:latin typeface="Calibri"/>
                <a:ea typeface="Calibri"/>
                <a:cs typeface="Calibri"/>
                <a:sym typeface="Calibri"/>
              </a:rPr>
              <a:t>ChEMBL: </a:t>
            </a:r>
            <a:r>
              <a:rPr b="0" i="0" lang="en-US" sz="900" u="none" cap="none" strike="noStrike">
                <a:solidFill>
                  <a:srgbClr val="64748B"/>
                </a:solidFill>
                <a:latin typeface="Calibri"/>
                <a:ea typeface="Calibri"/>
                <a:cs typeface="Calibri"/>
                <a:sym typeface="Calibri"/>
              </a:rPr>
              <a:t>50,000 records · Molecular bioactivity data</a:t>
            </a:r>
            <a:endParaRPr b="0" i="0" sz="900" u="none" cap="none" strike="noStrike">
              <a:solidFill>
                <a:schemeClr val="dk1"/>
              </a:solidFill>
              <a:latin typeface="Calibri"/>
              <a:ea typeface="Calibri"/>
              <a:cs typeface="Calibri"/>
              <a:sym typeface="Calibri"/>
            </a:endParaRPr>
          </a:p>
        </p:txBody>
      </p:sp>
      <p:sp>
        <p:nvSpPr>
          <p:cNvPr id="86" name="Google Shape;86;p7"/>
          <p:cNvSpPr/>
          <p:nvPr/>
        </p:nvSpPr>
        <p:spPr>
          <a:xfrm>
            <a:off x="4681728" y="2304288"/>
            <a:ext cx="164592" cy="164592"/>
          </a:xfrm>
          <a:prstGeom prst="ellipse">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7"/>
          <p:cNvSpPr/>
          <p:nvPr/>
        </p:nvSpPr>
        <p:spPr>
          <a:xfrm>
            <a:off x="4919472" y="2276856"/>
            <a:ext cx="38404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900"/>
              <a:buFont typeface="Calibri"/>
              <a:buNone/>
            </a:pPr>
            <a:r>
              <a:rPr b="1" i="0" lang="en-US" sz="900" u="none" cap="none" strike="noStrike">
                <a:solidFill>
                  <a:srgbClr val="0D1B2A"/>
                </a:solidFill>
                <a:latin typeface="Calibri"/>
                <a:ea typeface="Calibri"/>
                <a:cs typeface="Calibri"/>
                <a:sym typeface="Calibri"/>
              </a:rPr>
              <a:t>ZINC: </a:t>
            </a:r>
            <a:r>
              <a:rPr b="0" i="0" lang="en-US" sz="900" u="none" cap="none" strike="noStrike">
                <a:solidFill>
                  <a:srgbClr val="64748B"/>
                </a:solidFill>
                <a:latin typeface="Calibri"/>
                <a:ea typeface="Calibri"/>
                <a:cs typeface="Calibri"/>
                <a:sym typeface="Calibri"/>
              </a:rPr>
              <a:t>Drug-like molecules from clinical trials</a:t>
            </a:r>
            <a:endParaRPr b="0" i="0" sz="900" u="none" cap="none" strike="noStrike">
              <a:solidFill>
                <a:schemeClr val="dk1"/>
              </a:solidFill>
              <a:latin typeface="Calibri"/>
              <a:ea typeface="Calibri"/>
              <a:cs typeface="Calibri"/>
              <a:sym typeface="Calibri"/>
            </a:endParaRPr>
          </a:p>
        </p:txBody>
      </p:sp>
      <p:sp>
        <p:nvSpPr>
          <p:cNvPr id="88" name="Google Shape;88;p7"/>
          <p:cNvSpPr/>
          <p:nvPr/>
        </p:nvSpPr>
        <p:spPr>
          <a:xfrm>
            <a:off x="4572000" y="2852928"/>
            <a:ext cx="4343400" cy="2066544"/>
          </a:xfrm>
          <a:prstGeom prst="rect">
            <a:avLst/>
          </a:prstGeom>
          <a:solidFill>
            <a:srgbClr val="1E2D3D"/>
          </a:solidFill>
          <a:ln cap="flat" cmpd="sng" w="12700">
            <a:solidFill>
              <a:srgbClr val="0A40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7"/>
          <p:cNvSpPr/>
          <p:nvPr/>
        </p:nvSpPr>
        <p:spPr>
          <a:xfrm>
            <a:off x="4572000" y="2852928"/>
            <a:ext cx="54864" cy="2066544"/>
          </a:xfrm>
          <a:prstGeom prst="rect">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7"/>
          <p:cNvSpPr/>
          <p:nvPr/>
        </p:nvSpPr>
        <p:spPr>
          <a:xfrm>
            <a:off x="4681728" y="2926080"/>
            <a:ext cx="4178808" cy="195681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Download &amp; verify all datasets</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datasets = {</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'ChEMBL': 'data/raw/chembl_molecules.csv',</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'SIDER':  'data/raw/sider.csv',</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'ZINC':   'data/raw/zinc_druglike.smi'</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for name, path in datasets.items():</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size = os.path.getsize(path)/(1024*1024)</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df   = pd.read_csv(path)</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print(f"✅ {name} | {size:.1f}MB | {len(df):,} records")</a:t>
            </a:r>
            <a:endParaRPr b="0" i="0" sz="750" u="none" cap="none" strike="noStrike">
              <a:solidFill>
                <a:schemeClr val="dk1"/>
              </a:solidFill>
              <a:latin typeface="Calibri"/>
              <a:ea typeface="Calibri"/>
              <a:cs typeface="Calibri"/>
              <a:sym typeface="Calibri"/>
            </a:endParaRPr>
          </a:p>
        </p:txBody>
      </p:sp>
      <p:sp>
        <p:nvSpPr>
          <p:cNvPr id="91" name="Google Shape;91;p7"/>
          <p:cNvSpPr/>
          <p:nvPr/>
        </p:nvSpPr>
        <p:spPr>
          <a:xfrm>
            <a:off x="4572000" y="4919472"/>
            <a:ext cx="43434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750"/>
              <a:buFont typeface="Calibri"/>
              <a:buNone/>
            </a:pPr>
            <a:r>
              <a:rPr b="0" i="1" lang="en-US" sz="750" u="none" cap="none" strike="noStrike">
                <a:solidFill>
                  <a:srgbClr val="64748B"/>
                </a:solidFill>
                <a:latin typeface="Calibri"/>
                <a:ea typeface="Calibri"/>
                <a:cs typeface="Calibri"/>
                <a:sym typeface="Calibri"/>
              </a:rPr>
              <a:t>Data Collection Verification Script</a:t>
            </a:r>
            <a:endParaRPr b="0" i="0" sz="7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AFB"/>
        </a:solidFill>
      </p:bgPr>
    </p:bg>
    <p:spTree>
      <p:nvGrpSpPr>
        <p:cNvPr id="96" name="Shape 96"/>
        <p:cNvGrpSpPr/>
        <p:nvPr/>
      </p:nvGrpSpPr>
      <p:grpSpPr>
        <a:xfrm>
          <a:off x="0" y="0"/>
          <a:ext cx="0" cy="0"/>
          <a:chOff x="0" y="0"/>
          <a:chExt cx="0" cy="0"/>
        </a:xfrm>
      </p:grpSpPr>
      <p:sp>
        <p:nvSpPr>
          <p:cNvPr id="97" name="Google Shape;97;p8"/>
          <p:cNvSpPr/>
          <p:nvPr/>
        </p:nvSpPr>
        <p:spPr>
          <a:xfrm>
            <a:off x="0" y="0"/>
            <a:ext cx="9144000" cy="65836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8"/>
          <p:cNvSpPr/>
          <p:nvPr/>
        </p:nvSpPr>
        <p:spPr>
          <a:xfrm>
            <a:off x="365760" y="0"/>
            <a:ext cx="8229600" cy="658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Data Pipeline Architecture</a:t>
            </a:r>
            <a:endParaRPr b="0" i="0" sz="2000" u="none" cap="none" strike="noStrike">
              <a:solidFill>
                <a:schemeClr val="dk1"/>
              </a:solidFill>
              <a:latin typeface="Calibri"/>
              <a:ea typeface="Calibri"/>
              <a:cs typeface="Calibri"/>
              <a:sym typeface="Calibri"/>
            </a:endParaRPr>
          </a:p>
        </p:txBody>
      </p:sp>
      <p:sp>
        <p:nvSpPr>
          <p:cNvPr id="99" name="Google Shape;99;p8"/>
          <p:cNvSpPr/>
          <p:nvPr/>
        </p:nvSpPr>
        <p:spPr>
          <a:xfrm>
            <a:off x="7955280" y="164592"/>
            <a:ext cx="1051560" cy="292608"/>
          </a:xfrm>
          <a:prstGeom prst="roundRect">
            <a:avLst>
              <a:gd fmla="val 18750" name="adj"/>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8"/>
          <p:cNvSpPr/>
          <p:nvPr/>
        </p:nvSpPr>
        <p:spPr>
          <a:xfrm>
            <a:off x="7955280" y="164592"/>
            <a:ext cx="10515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WEEK 4</a:t>
            </a:r>
            <a:endParaRPr b="0" i="0" sz="900" u="none" cap="none" strike="noStrike">
              <a:solidFill>
                <a:schemeClr val="dk1"/>
              </a:solidFill>
              <a:latin typeface="Calibri"/>
              <a:ea typeface="Calibri"/>
              <a:cs typeface="Calibri"/>
              <a:sym typeface="Calibri"/>
            </a:endParaRPr>
          </a:p>
        </p:txBody>
      </p:sp>
      <p:sp>
        <p:nvSpPr>
          <p:cNvPr id="101" name="Google Shape;101;p8"/>
          <p:cNvSpPr/>
          <p:nvPr/>
        </p:nvSpPr>
        <p:spPr>
          <a:xfrm>
            <a:off x="2560320" y="868680"/>
            <a:ext cx="4023360" cy="658368"/>
          </a:xfrm>
          <a:prstGeom prst="rect">
            <a:avLst/>
          </a:prstGeom>
          <a:solidFill>
            <a:srgbClr val="1A3A5C"/>
          </a:solidFill>
          <a:ln cap="flat" cmpd="sng" w="12700">
            <a:solidFill>
              <a:srgbClr val="AACC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8"/>
          <p:cNvSpPr/>
          <p:nvPr/>
        </p:nvSpPr>
        <p:spPr>
          <a:xfrm>
            <a:off x="2560320" y="868680"/>
            <a:ext cx="4023360" cy="6583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DrugBank XML</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(1.76 GB)</a:t>
            </a:r>
            <a:endParaRPr b="0" i="0" sz="1100" u="none" cap="none" strike="noStrike">
              <a:solidFill>
                <a:schemeClr val="dk1"/>
              </a:solidFill>
              <a:latin typeface="Calibri"/>
              <a:ea typeface="Calibri"/>
              <a:cs typeface="Calibri"/>
              <a:sym typeface="Calibri"/>
            </a:endParaRPr>
          </a:p>
        </p:txBody>
      </p:sp>
      <p:cxnSp>
        <p:nvCxnSpPr>
          <p:cNvPr id="103" name="Google Shape;103;p8"/>
          <p:cNvCxnSpPr/>
          <p:nvPr/>
        </p:nvCxnSpPr>
        <p:spPr>
          <a:xfrm>
            <a:off x="4572000" y="1527048"/>
            <a:ext cx="0" cy="237744"/>
          </a:xfrm>
          <a:prstGeom prst="straightConnector1">
            <a:avLst/>
          </a:prstGeom>
          <a:noFill/>
          <a:ln cap="flat" cmpd="sng" w="25400">
            <a:solidFill>
              <a:srgbClr val="0A7EA4"/>
            </a:solidFill>
            <a:prstDash val="solid"/>
            <a:round/>
            <a:headEnd len="sm" w="sm" type="none"/>
            <a:tailEnd len="sm" w="sm" type="none"/>
          </a:ln>
        </p:spPr>
      </p:cxnSp>
      <p:sp>
        <p:nvSpPr>
          <p:cNvPr id="104" name="Google Shape;104;p8"/>
          <p:cNvSpPr/>
          <p:nvPr/>
        </p:nvSpPr>
        <p:spPr>
          <a:xfrm>
            <a:off x="4297680" y="1673352"/>
            <a:ext cx="54864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7EA4"/>
              </a:buClr>
              <a:buSzPts val="1000"/>
              <a:buFont typeface="Calibri"/>
              <a:buNone/>
            </a:pPr>
            <a:r>
              <a:rPr b="0" i="0" lang="en-US" sz="1000" u="none" cap="none" strike="noStrike">
                <a:solidFill>
                  <a:srgbClr val="0A7EA4"/>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105" name="Google Shape;105;p8"/>
          <p:cNvSpPr/>
          <p:nvPr/>
        </p:nvSpPr>
        <p:spPr>
          <a:xfrm>
            <a:off x="2560320" y="1737360"/>
            <a:ext cx="4023360" cy="658368"/>
          </a:xfrm>
          <a:prstGeom prst="rect">
            <a:avLst/>
          </a:prstGeom>
          <a:solidFill>
            <a:srgbClr val="0A7EA4"/>
          </a:solidFill>
          <a:ln cap="flat" cmpd="sng" w="12700">
            <a:solidFill>
              <a:srgbClr val="AACC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8"/>
          <p:cNvSpPr/>
          <p:nvPr/>
        </p:nvSpPr>
        <p:spPr>
          <a:xfrm>
            <a:off x="2560320" y="1737360"/>
            <a:ext cx="4023360" cy="6583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XML Parsing</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(Structured Extraction)</a:t>
            </a:r>
            <a:endParaRPr b="0" i="0" sz="1100" u="none" cap="none" strike="noStrike">
              <a:solidFill>
                <a:schemeClr val="dk1"/>
              </a:solidFill>
              <a:latin typeface="Calibri"/>
              <a:ea typeface="Calibri"/>
              <a:cs typeface="Calibri"/>
              <a:sym typeface="Calibri"/>
            </a:endParaRPr>
          </a:p>
        </p:txBody>
      </p:sp>
      <p:cxnSp>
        <p:nvCxnSpPr>
          <p:cNvPr id="107" name="Google Shape;107;p8"/>
          <p:cNvCxnSpPr/>
          <p:nvPr/>
        </p:nvCxnSpPr>
        <p:spPr>
          <a:xfrm>
            <a:off x="4572000" y="2395728"/>
            <a:ext cx="0" cy="237744"/>
          </a:xfrm>
          <a:prstGeom prst="straightConnector1">
            <a:avLst/>
          </a:prstGeom>
          <a:noFill/>
          <a:ln cap="flat" cmpd="sng" w="25400">
            <a:solidFill>
              <a:srgbClr val="0A7EA4"/>
            </a:solidFill>
            <a:prstDash val="solid"/>
            <a:round/>
            <a:headEnd len="sm" w="sm" type="none"/>
            <a:tailEnd len="sm" w="sm" type="none"/>
          </a:ln>
        </p:spPr>
      </p:cxnSp>
      <p:sp>
        <p:nvSpPr>
          <p:cNvPr id="108" name="Google Shape;108;p8"/>
          <p:cNvSpPr/>
          <p:nvPr/>
        </p:nvSpPr>
        <p:spPr>
          <a:xfrm>
            <a:off x="4297680" y="2542032"/>
            <a:ext cx="54864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7EA4"/>
              </a:buClr>
              <a:buSzPts val="1000"/>
              <a:buFont typeface="Calibri"/>
              <a:buNone/>
            </a:pPr>
            <a:r>
              <a:rPr b="0" i="0" lang="en-US" sz="1000" u="none" cap="none" strike="noStrike">
                <a:solidFill>
                  <a:srgbClr val="0A7EA4"/>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109" name="Google Shape;109;p8"/>
          <p:cNvSpPr/>
          <p:nvPr/>
        </p:nvSpPr>
        <p:spPr>
          <a:xfrm>
            <a:off x="2560320" y="2606040"/>
            <a:ext cx="4023360" cy="658368"/>
          </a:xfrm>
          <a:prstGeom prst="rect">
            <a:avLst/>
          </a:prstGeom>
          <a:solidFill>
            <a:srgbClr val="0A5A7C"/>
          </a:solidFill>
          <a:ln cap="flat" cmpd="sng" w="12700">
            <a:solidFill>
              <a:srgbClr val="AACC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8"/>
          <p:cNvSpPr/>
          <p:nvPr/>
        </p:nvSpPr>
        <p:spPr>
          <a:xfrm>
            <a:off x="2560320" y="2606040"/>
            <a:ext cx="4023360" cy="6583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Structured Parquet Tables</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drugs | interactions | targets | enzymes</a:t>
            </a:r>
            <a:endParaRPr b="0" i="0" sz="1100" u="none" cap="none" strike="noStrike">
              <a:solidFill>
                <a:schemeClr val="dk1"/>
              </a:solidFill>
              <a:latin typeface="Calibri"/>
              <a:ea typeface="Calibri"/>
              <a:cs typeface="Calibri"/>
              <a:sym typeface="Calibri"/>
            </a:endParaRPr>
          </a:p>
        </p:txBody>
      </p:sp>
      <p:cxnSp>
        <p:nvCxnSpPr>
          <p:cNvPr id="111" name="Google Shape;111;p8"/>
          <p:cNvCxnSpPr/>
          <p:nvPr/>
        </p:nvCxnSpPr>
        <p:spPr>
          <a:xfrm>
            <a:off x="4572000" y="3264408"/>
            <a:ext cx="0" cy="237744"/>
          </a:xfrm>
          <a:prstGeom prst="straightConnector1">
            <a:avLst/>
          </a:prstGeom>
          <a:noFill/>
          <a:ln cap="flat" cmpd="sng" w="25400">
            <a:solidFill>
              <a:srgbClr val="0A7EA4"/>
            </a:solidFill>
            <a:prstDash val="solid"/>
            <a:round/>
            <a:headEnd len="sm" w="sm" type="none"/>
            <a:tailEnd len="sm" w="sm" type="none"/>
          </a:ln>
        </p:spPr>
      </p:cxnSp>
      <p:sp>
        <p:nvSpPr>
          <p:cNvPr id="112" name="Google Shape;112;p8"/>
          <p:cNvSpPr/>
          <p:nvPr/>
        </p:nvSpPr>
        <p:spPr>
          <a:xfrm>
            <a:off x="4297680" y="3410712"/>
            <a:ext cx="54864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7EA4"/>
              </a:buClr>
              <a:buSzPts val="1000"/>
              <a:buFont typeface="Calibri"/>
              <a:buNone/>
            </a:pPr>
            <a:r>
              <a:rPr b="0" i="0" lang="en-US" sz="1000" u="none" cap="none" strike="noStrike">
                <a:solidFill>
                  <a:srgbClr val="0A7EA4"/>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113" name="Google Shape;113;p8"/>
          <p:cNvSpPr/>
          <p:nvPr/>
        </p:nvSpPr>
        <p:spPr>
          <a:xfrm>
            <a:off x="2560320" y="3611880"/>
            <a:ext cx="4023360" cy="658368"/>
          </a:xfrm>
          <a:prstGeom prst="rect">
            <a:avLst/>
          </a:prstGeom>
          <a:solidFill>
            <a:srgbClr val="145E4E"/>
          </a:solidFill>
          <a:ln cap="flat" cmpd="sng" w="12700">
            <a:solidFill>
              <a:srgbClr val="AACC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8"/>
          <p:cNvSpPr/>
          <p:nvPr/>
        </p:nvSpPr>
        <p:spPr>
          <a:xfrm>
            <a:off x="2560320" y="3611880"/>
            <a:ext cx="4023360" cy="6583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Organized Data Storage</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(Ready for Feature Engineering)</a:t>
            </a:r>
            <a:endParaRPr b="0" i="0" sz="1100" u="none" cap="none" strike="noStrike">
              <a:solidFill>
                <a:schemeClr val="dk1"/>
              </a:solidFill>
              <a:latin typeface="Calibri"/>
              <a:ea typeface="Calibri"/>
              <a:cs typeface="Calibri"/>
              <a:sym typeface="Calibri"/>
            </a:endParaRPr>
          </a:p>
        </p:txBody>
      </p:sp>
      <p:cxnSp>
        <p:nvCxnSpPr>
          <p:cNvPr id="115" name="Google Shape;115;p8"/>
          <p:cNvCxnSpPr/>
          <p:nvPr/>
        </p:nvCxnSpPr>
        <p:spPr>
          <a:xfrm>
            <a:off x="6601968" y="1188720"/>
            <a:ext cx="201168" cy="0"/>
          </a:xfrm>
          <a:prstGeom prst="straightConnector1">
            <a:avLst/>
          </a:prstGeom>
          <a:noFill/>
          <a:ln cap="flat" cmpd="sng" w="12700">
            <a:solidFill>
              <a:srgbClr val="0A7EA4"/>
            </a:solidFill>
            <a:prstDash val="dash"/>
            <a:round/>
            <a:headEnd len="sm" w="sm" type="none"/>
            <a:tailEnd len="sm" w="sm" type="none"/>
          </a:ln>
        </p:spPr>
      </p:cxnSp>
      <p:sp>
        <p:nvSpPr>
          <p:cNvPr id="116" name="Google Shape;116;p8"/>
          <p:cNvSpPr/>
          <p:nvPr/>
        </p:nvSpPr>
        <p:spPr>
          <a:xfrm>
            <a:off x="6812280" y="1024128"/>
            <a:ext cx="210312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850"/>
              <a:buFont typeface="Calibri"/>
              <a:buNone/>
            </a:pPr>
            <a:r>
              <a:rPr b="0" i="1" lang="en-US" sz="850" u="none" cap="none" strike="noStrike">
                <a:solidFill>
                  <a:srgbClr val="64748B"/>
                </a:solidFill>
                <a:latin typeface="Calibri"/>
                <a:ea typeface="Calibri"/>
                <a:cs typeface="Calibri"/>
                <a:sym typeface="Calibri"/>
              </a:rPr>
              <a:t>Stream-parsed to avoid</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850"/>
              <a:buFont typeface="Calibri"/>
              <a:buNone/>
            </a:pPr>
            <a:r>
              <a:rPr b="0" i="1" lang="en-US" sz="850" u="none" cap="none" strike="noStrike">
                <a:solidFill>
                  <a:srgbClr val="64748B"/>
                </a:solidFill>
                <a:latin typeface="Calibri"/>
                <a:ea typeface="Calibri"/>
                <a:cs typeface="Calibri"/>
                <a:sym typeface="Calibri"/>
              </a:rPr>
              <a:t>loading 1.76 GB into memory</a:t>
            </a:r>
            <a:endParaRPr b="0" i="0" sz="850" u="none" cap="none" strike="noStrike">
              <a:solidFill>
                <a:schemeClr val="dk1"/>
              </a:solidFill>
              <a:latin typeface="Calibri"/>
              <a:ea typeface="Calibri"/>
              <a:cs typeface="Calibri"/>
              <a:sym typeface="Calibri"/>
            </a:endParaRPr>
          </a:p>
        </p:txBody>
      </p:sp>
      <p:cxnSp>
        <p:nvCxnSpPr>
          <p:cNvPr id="117" name="Google Shape;117;p8"/>
          <p:cNvCxnSpPr/>
          <p:nvPr/>
        </p:nvCxnSpPr>
        <p:spPr>
          <a:xfrm>
            <a:off x="6601968" y="2084832"/>
            <a:ext cx="201168" cy="0"/>
          </a:xfrm>
          <a:prstGeom prst="straightConnector1">
            <a:avLst/>
          </a:prstGeom>
          <a:noFill/>
          <a:ln cap="flat" cmpd="sng" w="12700">
            <a:solidFill>
              <a:srgbClr val="0A7EA4"/>
            </a:solidFill>
            <a:prstDash val="dash"/>
            <a:round/>
            <a:headEnd len="sm" w="sm" type="none"/>
            <a:tailEnd len="sm" w="sm" type="none"/>
          </a:ln>
        </p:spPr>
      </p:cxnSp>
      <p:sp>
        <p:nvSpPr>
          <p:cNvPr id="118" name="Google Shape;118;p8"/>
          <p:cNvSpPr/>
          <p:nvPr/>
        </p:nvSpPr>
        <p:spPr>
          <a:xfrm>
            <a:off x="6812280" y="1920240"/>
            <a:ext cx="210312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850"/>
              <a:buFont typeface="Calibri"/>
              <a:buNone/>
            </a:pPr>
            <a:r>
              <a:rPr b="0" i="1" lang="en-US" sz="850" u="none" cap="none" strike="noStrike">
                <a:solidFill>
                  <a:srgbClr val="64748B"/>
                </a:solidFill>
                <a:latin typeface="Calibri"/>
                <a:ea typeface="Calibri"/>
                <a:cs typeface="Calibri"/>
                <a:sym typeface="Calibri"/>
              </a:rPr>
              <a:t>4 tables aligned to</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850"/>
              <a:buFont typeface="Calibri"/>
              <a:buNone/>
            </a:pPr>
            <a:r>
              <a:rPr b="0" i="1" lang="en-US" sz="850" u="none" cap="none" strike="noStrike">
                <a:solidFill>
                  <a:srgbClr val="64748B"/>
                </a:solidFill>
                <a:latin typeface="Calibri"/>
                <a:ea typeface="Calibri"/>
                <a:cs typeface="Calibri"/>
                <a:sym typeface="Calibri"/>
              </a:rPr>
              <a:t>CompoundIQ project goals</a:t>
            </a:r>
            <a:endParaRPr b="0" i="0" sz="850" u="none" cap="none" strike="noStrike">
              <a:solidFill>
                <a:schemeClr val="dk1"/>
              </a:solidFill>
              <a:latin typeface="Calibri"/>
              <a:ea typeface="Calibri"/>
              <a:cs typeface="Calibri"/>
              <a:sym typeface="Calibri"/>
            </a:endParaRPr>
          </a:p>
        </p:txBody>
      </p:sp>
      <p:cxnSp>
        <p:nvCxnSpPr>
          <p:cNvPr id="119" name="Google Shape;119;p8"/>
          <p:cNvCxnSpPr/>
          <p:nvPr/>
        </p:nvCxnSpPr>
        <p:spPr>
          <a:xfrm>
            <a:off x="6601968" y="2953512"/>
            <a:ext cx="201168" cy="0"/>
          </a:xfrm>
          <a:prstGeom prst="straightConnector1">
            <a:avLst/>
          </a:prstGeom>
          <a:noFill/>
          <a:ln cap="flat" cmpd="sng" w="12700">
            <a:solidFill>
              <a:srgbClr val="0A7EA4"/>
            </a:solidFill>
            <a:prstDash val="dash"/>
            <a:round/>
            <a:headEnd len="sm" w="sm" type="none"/>
            <a:tailEnd len="sm" w="sm" type="none"/>
          </a:ln>
        </p:spPr>
      </p:cxnSp>
      <p:sp>
        <p:nvSpPr>
          <p:cNvPr id="120" name="Google Shape;120;p8"/>
          <p:cNvSpPr/>
          <p:nvPr/>
        </p:nvSpPr>
        <p:spPr>
          <a:xfrm>
            <a:off x="6812280" y="2788920"/>
            <a:ext cx="210312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850"/>
              <a:buFont typeface="Calibri"/>
              <a:buNone/>
            </a:pPr>
            <a:r>
              <a:rPr b="0" i="1" lang="en-US" sz="850" u="none" cap="none" strike="noStrike">
                <a:solidFill>
                  <a:srgbClr val="64748B"/>
                </a:solidFill>
                <a:latin typeface="Calibri"/>
                <a:ea typeface="Calibri"/>
                <a:cs typeface="Calibri"/>
                <a:sym typeface="Calibri"/>
              </a:rPr>
              <a:t>Parquet format: faster</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850"/>
              <a:buFont typeface="Calibri"/>
              <a:buNone/>
            </a:pPr>
            <a:r>
              <a:rPr b="0" i="1" lang="en-US" sz="850" u="none" cap="none" strike="noStrike">
                <a:solidFill>
                  <a:srgbClr val="64748B"/>
                </a:solidFill>
                <a:latin typeface="Calibri"/>
                <a:ea typeface="Calibri"/>
                <a:cs typeface="Calibri"/>
                <a:sym typeface="Calibri"/>
              </a:rPr>
              <a:t>access, reduced storage</a:t>
            </a:r>
            <a:endParaRPr b="0" i="0" sz="850" u="none" cap="none" strike="noStrike">
              <a:solidFill>
                <a:schemeClr val="dk1"/>
              </a:solidFill>
              <a:latin typeface="Calibri"/>
              <a:ea typeface="Calibri"/>
              <a:cs typeface="Calibri"/>
              <a:sym typeface="Calibri"/>
            </a:endParaRPr>
          </a:p>
        </p:txBody>
      </p:sp>
      <p:cxnSp>
        <p:nvCxnSpPr>
          <p:cNvPr id="121" name="Google Shape;121;p8"/>
          <p:cNvCxnSpPr/>
          <p:nvPr/>
        </p:nvCxnSpPr>
        <p:spPr>
          <a:xfrm>
            <a:off x="6601968" y="3931920"/>
            <a:ext cx="201168" cy="0"/>
          </a:xfrm>
          <a:prstGeom prst="straightConnector1">
            <a:avLst/>
          </a:prstGeom>
          <a:noFill/>
          <a:ln cap="flat" cmpd="sng" w="12700">
            <a:solidFill>
              <a:srgbClr val="0A7EA4"/>
            </a:solidFill>
            <a:prstDash val="dash"/>
            <a:round/>
            <a:headEnd len="sm" w="sm" type="none"/>
            <a:tailEnd len="sm" w="sm" type="none"/>
          </a:ln>
        </p:spPr>
      </p:cxnSp>
      <p:sp>
        <p:nvSpPr>
          <p:cNvPr id="122" name="Google Shape;122;p8"/>
          <p:cNvSpPr/>
          <p:nvPr/>
        </p:nvSpPr>
        <p:spPr>
          <a:xfrm>
            <a:off x="6812280" y="3767328"/>
            <a:ext cx="21030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850"/>
              <a:buFont typeface="Calibri"/>
              <a:buNone/>
            </a:pPr>
            <a:r>
              <a:rPr b="0" i="1" lang="en-US" sz="850" u="none" cap="none" strike="noStrike">
                <a:solidFill>
                  <a:srgbClr val="64748B"/>
                </a:solidFill>
                <a:latin typeface="Calibri"/>
                <a:ea typeface="Calibri"/>
                <a:cs typeface="Calibri"/>
                <a:sym typeface="Calibri"/>
              </a:rPr>
              <a:t>Stored in Google Drive</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850"/>
              <a:buFont typeface="Calibri"/>
              <a:buNone/>
            </a:pPr>
            <a:r>
              <a:rPr b="0" i="1" lang="en-US" sz="850" u="none" cap="none" strike="noStrike">
                <a:solidFill>
                  <a:srgbClr val="64748B"/>
                </a:solidFill>
                <a:latin typeface="Calibri"/>
                <a:ea typeface="Calibri"/>
                <a:cs typeface="Calibri"/>
                <a:sym typeface="Calibri"/>
              </a:rPr>
              <a:t>for team collaboration</a:t>
            </a:r>
            <a:endParaRPr b="0" i="0" sz="850" u="none" cap="none" strike="noStrike">
              <a:solidFill>
                <a:schemeClr val="dk1"/>
              </a:solidFill>
              <a:latin typeface="Calibri"/>
              <a:ea typeface="Calibri"/>
              <a:cs typeface="Calibri"/>
              <a:sym typeface="Calibri"/>
            </a:endParaRPr>
          </a:p>
        </p:txBody>
      </p:sp>
      <p:sp>
        <p:nvSpPr>
          <p:cNvPr id="123" name="Google Shape;123;p8"/>
          <p:cNvSpPr/>
          <p:nvPr/>
        </p:nvSpPr>
        <p:spPr>
          <a:xfrm>
            <a:off x="228600" y="2286000"/>
            <a:ext cx="2194560" cy="1737360"/>
          </a:xfrm>
          <a:prstGeom prst="rect">
            <a:avLst/>
          </a:prstGeom>
          <a:solidFill>
            <a:srgbClr val="1E2D3D"/>
          </a:solidFill>
          <a:ln cap="flat" cmpd="sng" w="12700">
            <a:solidFill>
              <a:srgbClr val="0A40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a:off x="228600" y="2286000"/>
            <a:ext cx="54864" cy="1737360"/>
          </a:xfrm>
          <a:prstGeom prst="rect">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8"/>
          <p:cNvSpPr/>
          <p:nvPr/>
        </p:nvSpPr>
        <p:spPr>
          <a:xfrm>
            <a:off x="338328" y="2359152"/>
            <a:ext cx="2029968" cy="16276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url = "http://sideeffects.embl.de/media/download/meddra_all_se.tsv.gz"</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df_sider = pd.read_csv(url, sep='\t', compression='gzip',</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names=['stitch_id_flat','stitch_id_stereo',</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'umls_id','side_effect','meddra_type'])</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df_sider.to_csv('data/raw/sider.csv', index=False)</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 SIDER: 309,849 side effect records</a:t>
            </a:r>
            <a:endParaRPr b="0" i="0" sz="750" u="none" cap="none" strike="noStrike">
              <a:solidFill>
                <a:schemeClr val="dk1"/>
              </a:solidFill>
              <a:latin typeface="Calibri"/>
              <a:ea typeface="Calibri"/>
              <a:cs typeface="Calibri"/>
              <a:sym typeface="Calibri"/>
            </a:endParaRPr>
          </a:p>
        </p:txBody>
      </p:sp>
      <p:sp>
        <p:nvSpPr>
          <p:cNvPr id="126" name="Google Shape;126;p8"/>
          <p:cNvSpPr/>
          <p:nvPr/>
        </p:nvSpPr>
        <p:spPr>
          <a:xfrm>
            <a:off x="228600" y="4041648"/>
            <a:ext cx="219456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750"/>
              <a:buFont typeface="Calibri"/>
              <a:buNone/>
            </a:pPr>
            <a:r>
              <a:rPr b="0" i="1" lang="en-US" sz="750" u="none" cap="none" strike="noStrike">
                <a:solidFill>
                  <a:srgbClr val="64748B"/>
                </a:solidFill>
                <a:latin typeface="Calibri"/>
                <a:ea typeface="Calibri"/>
                <a:cs typeface="Calibri"/>
                <a:sym typeface="Calibri"/>
              </a:rPr>
              <a:t>SIDER Download Code</a:t>
            </a:r>
            <a:endParaRPr b="0" i="0" sz="7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AFB"/>
        </a:solidFill>
      </p:bgPr>
    </p:bg>
    <p:spTree>
      <p:nvGrpSpPr>
        <p:cNvPr id="131" name="Shape 131"/>
        <p:cNvGrpSpPr/>
        <p:nvPr/>
      </p:nvGrpSpPr>
      <p:grpSpPr>
        <a:xfrm>
          <a:off x="0" y="0"/>
          <a:ext cx="0" cy="0"/>
          <a:chOff x="0" y="0"/>
          <a:chExt cx="0" cy="0"/>
        </a:xfrm>
      </p:grpSpPr>
      <p:sp>
        <p:nvSpPr>
          <p:cNvPr id="132" name="Google Shape;132;p9"/>
          <p:cNvSpPr/>
          <p:nvPr/>
        </p:nvSpPr>
        <p:spPr>
          <a:xfrm>
            <a:off x="0" y="0"/>
            <a:ext cx="9144000" cy="65836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9"/>
          <p:cNvSpPr/>
          <p:nvPr/>
        </p:nvSpPr>
        <p:spPr>
          <a:xfrm>
            <a:off x="365760" y="0"/>
            <a:ext cx="822960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Week 5  |  Data Preprocessing &amp; Feature Engineering</a:t>
            </a:r>
            <a:endParaRPr b="0" i="0" sz="2000" u="none" cap="none" strike="noStrike">
              <a:solidFill>
                <a:schemeClr val="dk1"/>
              </a:solidFill>
              <a:latin typeface="Calibri"/>
              <a:ea typeface="Calibri"/>
              <a:cs typeface="Calibri"/>
              <a:sym typeface="Calibri"/>
            </a:endParaRPr>
          </a:p>
        </p:txBody>
      </p:sp>
      <p:sp>
        <p:nvSpPr>
          <p:cNvPr id="134" name="Google Shape;134;p9"/>
          <p:cNvSpPr/>
          <p:nvPr/>
        </p:nvSpPr>
        <p:spPr>
          <a:xfrm>
            <a:off x="7955280" y="164592"/>
            <a:ext cx="1051560" cy="292608"/>
          </a:xfrm>
          <a:prstGeom prst="roundRect">
            <a:avLst>
              <a:gd fmla="val 18750" name="adj"/>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9"/>
          <p:cNvSpPr/>
          <p:nvPr/>
        </p:nvSpPr>
        <p:spPr>
          <a:xfrm>
            <a:off x="7955280" y="164592"/>
            <a:ext cx="10515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WEEK 5</a:t>
            </a:r>
            <a:endParaRPr b="0" i="0" sz="900" u="none" cap="none" strike="noStrike">
              <a:solidFill>
                <a:schemeClr val="dk1"/>
              </a:solidFill>
              <a:latin typeface="Calibri"/>
              <a:ea typeface="Calibri"/>
              <a:cs typeface="Calibri"/>
              <a:sym typeface="Calibri"/>
            </a:endParaRPr>
          </a:p>
        </p:txBody>
      </p:sp>
      <p:sp>
        <p:nvSpPr>
          <p:cNvPr id="136" name="Google Shape;136;p9"/>
          <p:cNvSpPr/>
          <p:nvPr/>
        </p:nvSpPr>
        <p:spPr>
          <a:xfrm>
            <a:off x="228600" y="804672"/>
            <a:ext cx="2743200" cy="2194560"/>
          </a:xfrm>
          <a:prstGeom prst="rect">
            <a:avLst/>
          </a:prstGeom>
          <a:solidFill>
            <a:srgbClr val="FFFFFF"/>
          </a:solidFill>
          <a:ln cap="flat" cmpd="sng" w="12700">
            <a:solidFill>
              <a:srgbClr val="D1E8F0"/>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9"/>
          <p:cNvSpPr/>
          <p:nvPr/>
        </p:nvSpPr>
        <p:spPr>
          <a:xfrm>
            <a:off x="228600" y="804672"/>
            <a:ext cx="54864" cy="219456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9"/>
          <p:cNvSpPr/>
          <p:nvPr/>
        </p:nvSpPr>
        <p:spPr>
          <a:xfrm>
            <a:off x="411480" y="896112"/>
            <a:ext cx="24231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Data Cleaning</a:t>
            </a:r>
            <a:endParaRPr b="0" i="0" sz="1300" u="none" cap="none" strike="noStrike">
              <a:solidFill>
                <a:schemeClr val="dk1"/>
              </a:solidFill>
              <a:latin typeface="Calibri"/>
              <a:ea typeface="Calibri"/>
              <a:cs typeface="Calibri"/>
              <a:sym typeface="Calibri"/>
            </a:endParaRPr>
          </a:p>
        </p:txBody>
      </p:sp>
      <p:sp>
        <p:nvSpPr>
          <p:cNvPr id="139" name="Google Shape;139;p9"/>
          <p:cNvSpPr/>
          <p:nvPr/>
        </p:nvSpPr>
        <p:spPr>
          <a:xfrm>
            <a:off x="411480" y="1261872"/>
            <a:ext cx="2423160" cy="155448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64748B"/>
              </a:buClr>
              <a:buSzPts val="900"/>
              <a:buFont typeface="Calibri"/>
              <a:buChar char="•"/>
            </a:pPr>
            <a:r>
              <a:rPr b="0" i="0" lang="en-US" sz="900" u="none" cap="none" strike="noStrike">
                <a:solidFill>
                  <a:srgbClr val="64748B"/>
                </a:solidFill>
                <a:latin typeface="Calibri"/>
                <a:ea typeface="Calibri"/>
                <a:cs typeface="Calibri"/>
                <a:sym typeface="Calibri"/>
              </a:rPr>
              <a:t>Initial extraction: ~1M rows (duplicated entries from XML parsing)</a:t>
            </a:r>
            <a:endParaRPr b="0" i="0" sz="9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00"/>
              <a:buFont typeface="Calibri"/>
              <a:buChar char="•"/>
            </a:pPr>
            <a:r>
              <a:rPr b="0" i="0" lang="en-US" sz="900" u="none" cap="none" strike="noStrike">
                <a:solidFill>
                  <a:srgbClr val="64748B"/>
                </a:solidFill>
                <a:latin typeface="Calibri"/>
                <a:ea typeface="Calibri"/>
                <a:cs typeface="Calibri"/>
                <a:sym typeface="Calibri"/>
              </a:rPr>
              <a:t>Reduced to ~19K unique drugs (one row per DrugBank ID)</a:t>
            </a:r>
            <a:endParaRPr b="0" i="0" sz="9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00"/>
              <a:buFont typeface="Calibri"/>
              <a:buChar char="•"/>
            </a:pPr>
            <a:r>
              <a:rPr b="0" i="0" lang="en-US" sz="900" u="none" cap="none" strike="noStrike">
                <a:solidFill>
                  <a:srgbClr val="64748B"/>
                </a:solidFill>
                <a:latin typeface="Calibri"/>
                <a:ea typeface="Calibri"/>
                <a:cs typeface="Calibri"/>
                <a:sym typeface="Calibri"/>
              </a:rPr>
              <a:t>Standardized data types &amp; handled missing values</a:t>
            </a:r>
            <a:endParaRPr b="0" i="0" sz="900" u="none" cap="none" strike="noStrike">
              <a:solidFill>
                <a:schemeClr val="dk1"/>
              </a:solidFill>
              <a:latin typeface="Calibri"/>
              <a:ea typeface="Calibri"/>
              <a:cs typeface="Calibri"/>
              <a:sym typeface="Calibri"/>
            </a:endParaRPr>
          </a:p>
        </p:txBody>
      </p:sp>
      <p:sp>
        <p:nvSpPr>
          <p:cNvPr id="140" name="Google Shape;140;p9"/>
          <p:cNvSpPr/>
          <p:nvPr/>
        </p:nvSpPr>
        <p:spPr>
          <a:xfrm>
            <a:off x="3200400" y="804672"/>
            <a:ext cx="1828800" cy="2194560"/>
          </a:xfrm>
          <a:prstGeom prst="rect">
            <a:avLst/>
          </a:prstGeom>
          <a:solidFill>
            <a:srgbClr val="FFFFFF"/>
          </a:solidFill>
          <a:ln cap="flat" cmpd="sng" w="12700">
            <a:solidFill>
              <a:srgbClr val="D1E8F0"/>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9"/>
          <p:cNvSpPr/>
          <p:nvPr/>
        </p:nvSpPr>
        <p:spPr>
          <a:xfrm>
            <a:off x="3200400" y="804672"/>
            <a:ext cx="1828800" cy="347472"/>
          </a:xfrm>
          <a:prstGeom prst="rect">
            <a:avLst/>
          </a:prstGeom>
          <a:solidFill>
            <a:srgbClr val="1A6A8C"/>
          </a:solidFill>
          <a:ln cap="flat" cmpd="sng" w="12700">
            <a:solidFill>
              <a:srgbClr val="1A6A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9"/>
          <p:cNvSpPr/>
          <p:nvPr/>
        </p:nvSpPr>
        <p:spPr>
          <a:xfrm>
            <a:off x="3200400" y="804672"/>
            <a:ext cx="182880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Interaction Features</a:t>
            </a:r>
            <a:endParaRPr b="0" i="0" sz="900" u="none" cap="none" strike="noStrike">
              <a:solidFill>
                <a:schemeClr val="dk1"/>
              </a:solidFill>
              <a:latin typeface="Calibri"/>
              <a:ea typeface="Calibri"/>
              <a:cs typeface="Calibri"/>
              <a:sym typeface="Calibri"/>
            </a:endParaRPr>
          </a:p>
        </p:txBody>
      </p:sp>
      <p:sp>
        <p:nvSpPr>
          <p:cNvPr id="143" name="Google Shape;143;p9"/>
          <p:cNvSpPr/>
          <p:nvPr/>
        </p:nvSpPr>
        <p:spPr>
          <a:xfrm>
            <a:off x="3291840" y="1207008"/>
            <a:ext cx="1664208" cy="1627632"/>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64748B"/>
              </a:buClr>
              <a:buSzPts val="850"/>
              <a:buFont typeface="Calibri"/>
              <a:buChar char="•"/>
            </a:pPr>
            <a:r>
              <a:rPr b="0" i="0" lang="en-US" sz="850" u="none" cap="none" strike="noStrike">
                <a:solidFill>
                  <a:srgbClr val="64748B"/>
                </a:solidFill>
                <a:latin typeface="Calibri"/>
                <a:ea typeface="Calibri"/>
                <a:cs typeface="Calibri"/>
                <a:sym typeface="Calibri"/>
              </a:rPr>
              <a:t>No. of interactions as subject</a:t>
            </a:r>
            <a:endParaRPr b="0" i="0" sz="8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850"/>
              <a:buFont typeface="Calibri"/>
              <a:buChar char="•"/>
            </a:pPr>
            <a:r>
              <a:rPr b="0" i="0" lang="en-US" sz="850" u="none" cap="none" strike="noStrike">
                <a:solidFill>
                  <a:srgbClr val="64748B"/>
                </a:solidFill>
                <a:latin typeface="Calibri"/>
                <a:ea typeface="Calibri"/>
                <a:cs typeface="Calibri"/>
                <a:sym typeface="Calibri"/>
              </a:rPr>
              <a:t>No. of interactions as affected drug</a:t>
            </a:r>
            <a:endParaRPr b="0" i="0" sz="8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850"/>
              <a:buFont typeface="Calibri"/>
              <a:buChar char="•"/>
            </a:pPr>
            <a:r>
              <a:rPr b="0" i="0" lang="en-US" sz="850" u="none" cap="none" strike="noStrike">
                <a:solidFill>
                  <a:srgbClr val="64748B"/>
                </a:solidFill>
                <a:latin typeface="Calibri"/>
                <a:ea typeface="Calibri"/>
                <a:cs typeface="Calibri"/>
                <a:sym typeface="Calibri"/>
              </a:rPr>
              <a:t>Total interaction degree</a:t>
            </a:r>
            <a:endParaRPr b="0" i="0" sz="850" u="none" cap="none" strike="noStrike">
              <a:solidFill>
                <a:schemeClr val="dk1"/>
              </a:solidFill>
              <a:latin typeface="Calibri"/>
              <a:ea typeface="Calibri"/>
              <a:cs typeface="Calibri"/>
              <a:sym typeface="Calibri"/>
            </a:endParaRPr>
          </a:p>
        </p:txBody>
      </p:sp>
      <p:sp>
        <p:nvSpPr>
          <p:cNvPr id="144" name="Google Shape;144;p9"/>
          <p:cNvSpPr/>
          <p:nvPr/>
        </p:nvSpPr>
        <p:spPr>
          <a:xfrm>
            <a:off x="5166360" y="804672"/>
            <a:ext cx="1828800" cy="2194560"/>
          </a:xfrm>
          <a:prstGeom prst="rect">
            <a:avLst/>
          </a:prstGeom>
          <a:solidFill>
            <a:srgbClr val="FFFFFF"/>
          </a:solidFill>
          <a:ln cap="flat" cmpd="sng" w="12700">
            <a:solidFill>
              <a:srgbClr val="D1E8F0"/>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9"/>
          <p:cNvSpPr/>
          <p:nvPr/>
        </p:nvSpPr>
        <p:spPr>
          <a:xfrm>
            <a:off x="5166360" y="804672"/>
            <a:ext cx="1828800" cy="347472"/>
          </a:xfrm>
          <a:prstGeom prst="rect">
            <a:avLst/>
          </a:prstGeom>
          <a:solidFill>
            <a:srgbClr val="145E4E"/>
          </a:solidFill>
          <a:ln cap="flat" cmpd="sng" w="12700">
            <a:solidFill>
              <a:srgbClr val="145E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9"/>
          <p:cNvSpPr/>
          <p:nvPr/>
        </p:nvSpPr>
        <p:spPr>
          <a:xfrm>
            <a:off x="5166360" y="804672"/>
            <a:ext cx="182880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Metabolic (CYP) Features</a:t>
            </a:r>
            <a:endParaRPr b="0" i="0" sz="900" u="none" cap="none" strike="noStrike">
              <a:solidFill>
                <a:schemeClr val="dk1"/>
              </a:solidFill>
              <a:latin typeface="Calibri"/>
              <a:ea typeface="Calibri"/>
              <a:cs typeface="Calibri"/>
              <a:sym typeface="Calibri"/>
            </a:endParaRPr>
          </a:p>
        </p:txBody>
      </p:sp>
      <p:sp>
        <p:nvSpPr>
          <p:cNvPr id="147" name="Google Shape;147;p9"/>
          <p:cNvSpPr/>
          <p:nvPr/>
        </p:nvSpPr>
        <p:spPr>
          <a:xfrm>
            <a:off x="5257800" y="1207008"/>
            <a:ext cx="1664208" cy="1627632"/>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64748B"/>
              </a:buClr>
              <a:buSzPts val="850"/>
              <a:buFont typeface="Calibri"/>
              <a:buChar char="•"/>
            </a:pPr>
            <a:r>
              <a:rPr b="0" i="0" lang="en-US" sz="850" u="none" cap="none" strike="noStrike">
                <a:solidFill>
                  <a:srgbClr val="64748B"/>
                </a:solidFill>
                <a:latin typeface="Calibri"/>
                <a:ea typeface="Calibri"/>
                <a:cs typeface="Calibri"/>
                <a:sym typeface="Calibri"/>
              </a:rPr>
              <a:t>Number of enzyme records</a:t>
            </a:r>
            <a:endParaRPr b="0" i="0" sz="8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850"/>
              <a:buFont typeface="Calibri"/>
              <a:buChar char="•"/>
            </a:pPr>
            <a:r>
              <a:rPr b="0" i="0" lang="en-US" sz="850" u="none" cap="none" strike="noStrike">
                <a:solidFill>
                  <a:srgbClr val="64748B"/>
                </a:solidFill>
                <a:latin typeface="Calibri"/>
                <a:ea typeface="Calibri"/>
                <a:cs typeface="Calibri"/>
                <a:sym typeface="Calibri"/>
              </a:rPr>
              <a:t>Number of CYP-associated records</a:t>
            </a:r>
            <a:endParaRPr b="0" i="0" sz="8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850"/>
              <a:buFont typeface="Calibri"/>
              <a:buChar char="•"/>
            </a:pPr>
            <a:r>
              <a:rPr b="0" i="0" lang="en-US" sz="850" u="none" cap="none" strike="noStrike">
                <a:solidFill>
                  <a:srgbClr val="64748B"/>
                </a:solidFill>
                <a:latin typeface="Calibri"/>
                <a:ea typeface="Calibri"/>
                <a:cs typeface="Calibri"/>
                <a:sym typeface="Calibri"/>
              </a:rPr>
              <a:t>Unique CYP enzymes per drug</a:t>
            </a:r>
            <a:endParaRPr b="0" i="0" sz="850" u="none" cap="none" strike="noStrike">
              <a:solidFill>
                <a:schemeClr val="dk1"/>
              </a:solidFill>
              <a:latin typeface="Calibri"/>
              <a:ea typeface="Calibri"/>
              <a:cs typeface="Calibri"/>
              <a:sym typeface="Calibri"/>
            </a:endParaRPr>
          </a:p>
        </p:txBody>
      </p:sp>
      <p:sp>
        <p:nvSpPr>
          <p:cNvPr id="148" name="Google Shape;148;p9"/>
          <p:cNvSpPr/>
          <p:nvPr/>
        </p:nvSpPr>
        <p:spPr>
          <a:xfrm>
            <a:off x="7132320" y="804672"/>
            <a:ext cx="1828800" cy="2194560"/>
          </a:xfrm>
          <a:prstGeom prst="rect">
            <a:avLst/>
          </a:prstGeom>
          <a:solidFill>
            <a:srgbClr val="FFFFFF"/>
          </a:solidFill>
          <a:ln cap="flat" cmpd="sng" w="12700">
            <a:solidFill>
              <a:srgbClr val="D1E8F0"/>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9"/>
          <p:cNvSpPr/>
          <p:nvPr/>
        </p:nvSpPr>
        <p:spPr>
          <a:xfrm>
            <a:off x="7132320" y="804672"/>
            <a:ext cx="1828800" cy="347472"/>
          </a:xfrm>
          <a:prstGeom prst="rect">
            <a:avLst/>
          </a:prstGeom>
          <a:solidFill>
            <a:srgbClr val="7B3FA0"/>
          </a:solidFill>
          <a:ln cap="flat" cmpd="sng" w="12700">
            <a:solidFill>
              <a:srgbClr val="7B3F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9"/>
          <p:cNvSpPr/>
          <p:nvPr/>
        </p:nvSpPr>
        <p:spPr>
          <a:xfrm>
            <a:off x="7132320" y="804672"/>
            <a:ext cx="182880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Safety Complexity Score</a:t>
            </a:r>
            <a:endParaRPr b="0" i="0" sz="900" u="none" cap="none" strike="noStrike">
              <a:solidFill>
                <a:schemeClr val="dk1"/>
              </a:solidFill>
              <a:latin typeface="Calibri"/>
              <a:ea typeface="Calibri"/>
              <a:cs typeface="Calibri"/>
              <a:sym typeface="Calibri"/>
            </a:endParaRPr>
          </a:p>
        </p:txBody>
      </p:sp>
      <p:sp>
        <p:nvSpPr>
          <p:cNvPr id="151" name="Google Shape;151;p9"/>
          <p:cNvSpPr/>
          <p:nvPr/>
        </p:nvSpPr>
        <p:spPr>
          <a:xfrm>
            <a:off x="7223760" y="1207008"/>
            <a:ext cx="1664208" cy="1627632"/>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64748B"/>
              </a:buClr>
              <a:buSzPts val="850"/>
              <a:buFont typeface="Calibri"/>
              <a:buChar char="•"/>
            </a:pPr>
            <a:r>
              <a:rPr b="0" i="0" lang="en-US" sz="850" u="none" cap="none" strike="noStrike">
                <a:solidFill>
                  <a:srgbClr val="64748B"/>
                </a:solidFill>
                <a:latin typeface="Calibri"/>
                <a:ea typeface="Calibri"/>
                <a:cs typeface="Calibri"/>
                <a:sym typeface="Calibri"/>
              </a:rPr>
              <a:t>Combines interaction + metabolic complexity</a:t>
            </a:r>
            <a:endParaRPr b="0" i="0" sz="8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850"/>
              <a:buFont typeface="Calibri"/>
              <a:buChar char="•"/>
            </a:pPr>
            <a:r>
              <a:rPr b="0" i="0" lang="en-US" sz="850" u="none" cap="none" strike="noStrike">
                <a:solidFill>
                  <a:srgbClr val="64748B"/>
                </a:solidFill>
                <a:latin typeface="Calibri"/>
                <a:ea typeface="Calibri"/>
                <a:cs typeface="Calibri"/>
                <a:sym typeface="Calibri"/>
              </a:rPr>
              <a:t>Single interpretable composite feature</a:t>
            </a:r>
            <a:endParaRPr b="0" i="0" sz="8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850"/>
              <a:buFont typeface="Calibri"/>
              <a:buChar char="•"/>
            </a:pPr>
            <a:r>
              <a:rPr b="0" i="0" lang="en-US" sz="850" u="none" cap="none" strike="noStrike">
                <a:solidFill>
                  <a:srgbClr val="64748B"/>
                </a:solidFill>
                <a:latin typeface="Calibri"/>
                <a:ea typeface="Calibri"/>
                <a:cs typeface="Calibri"/>
                <a:sym typeface="Calibri"/>
              </a:rPr>
              <a:t>Validated against known pharmacology</a:t>
            </a:r>
            <a:endParaRPr b="0" i="0" sz="850" u="none" cap="none" strike="noStrike">
              <a:solidFill>
                <a:schemeClr val="dk1"/>
              </a:solidFill>
              <a:latin typeface="Calibri"/>
              <a:ea typeface="Calibri"/>
              <a:cs typeface="Calibri"/>
              <a:sym typeface="Calibri"/>
            </a:endParaRPr>
          </a:p>
        </p:txBody>
      </p:sp>
      <p:sp>
        <p:nvSpPr>
          <p:cNvPr id="152" name="Google Shape;152;p9"/>
          <p:cNvSpPr/>
          <p:nvPr/>
        </p:nvSpPr>
        <p:spPr>
          <a:xfrm>
            <a:off x="228600" y="3154680"/>
            <a:ext cx="5029200" cy="1920240"/>
          </a:xfrm>
          <a:prstGeom prst="rect">
            <a:avLst/>
          </a:prstGeom>
          <a:solidFill>
            <a:srgbClr val="1E2D3D"/>
          </a:solidFill>
          <a:ln cap="flat" cmpd="sng" w="12700">
            <a:solidFill>
              <a:srgbClr val="0A40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9"/>
          <p:cNvSpPr/>
          <p:nvPr/>
        </p:nvSpPr>
        <p:spPr>
          <a:xfrm>
            <a:off x="228600" y="3154680"/>
            <a:ext cx="54864" cy="1920240"/>
          </a:xfrm>
          <a:prstGeom prst="rect">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9"/>
          <p:cNvSpPr/>
          <p:nvPr/>
        </p:nvSpPr>
        <p:spPr>
          <a:xfrm>
            <a:off x="338328" y="3227832"/>
            <a:ext cx="4864608" cy="18105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Feature engineering: safety complexity score</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df['safety_complexity_score'] = (</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np.log1p(df['total_interactions']) +</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df['n_unique_cyp']</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750"/>
              <a:buFont typeface="Calibri"/>
              <a:buNone/>
            </a:pPr>
            <a:r>
              <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Dataset splits</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from sklearn.model_selection import train_test_split</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train, temp = train_test_split(df, test_size=0.30,</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random_state=42)</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val, test  = train_test_split(temp, test_size=0.50,</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random_state=42)</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Train: 70%  |  Val: 15%  |  Test: 15%</a:t>
            </a:r>
            <a:endParaRPr b="0" i="0" sz="750" u="none" cap="none" strike="noStrike">
              <a:solidFill>
                <a:schemeClr val="dk1"/>
              </a:solidFill>
              <a:latin typeface="Calibri"/>
              <a:ea typeface="Calibri"/>
              <a:cs typeface="Calibri"/>
              <a:sym typeface="Calibri"/>
            </a:endParaRPr>
          </a:p>
        </p:txBody>
      </p:sp>
      <p:sp>
        <p:nvSpPr>
          <p:cNvPr id="155" name="Google Shape;155;p9"/>
          <p:cNvSpPr/>
          <p:nvPr/>
        </p:nvSpPr>
        <p:spPr>
          <a:xfrm>
            <a:off x="5440680" y="3154680"/>
            <a:ext cx="3474720" cy="1920240"/>
          </a:xfrm>
          <a:prstGeom prst="rect">
            <a:avLst/>
          </a:prstGeom>
          <a:solidFill>
            <a:srgbClr val="E8F4F8"/>
          </a:solidFill>
          <a:ln cap="flat" cmpd="sng" w="12700">
            <a:solidFill>
              <a:srgbClr val="D1E8F0"/>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9"/>
          <p:cNvSpPr/>
          <p:nvPr/>
        </p:nvSpPr>
        <p:spPr>
          <a:xfrm>
            <a:off x="5577840" y="3246120"/>
            <a:ext cx="3200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100"/>
              <a:buFont typeface="Calibri"/>
              <a:buNone/>
            </a:pPr>
            <a:r>
              <a:rPr b="1" i="0" lang="en-US" sz="1100" u="none" cap="none" strike="noStrike">
                <a:solidFill>
                  <a:srgbClr val="0D1B2A"/>
                </a:solidFill>
                <a:latin typeface="Calibri"/>
                <a:ea typeface="Calibri"/>
                <a:cs typeface="Calibri"/>
                <a:sym typeface="Calibri"/>
              </a:rPr>
              <a:t>Pipeline Results</a:t>
            </a:r>
            <a:endParaRPr b="0" i="0" sz="1100" u="none" cap="none" strike="noStrike">
              <a:solidFill>
                <a:schemeClr val="dk1"/>
              </a:solidFill>
              <a:latin typeface="Calibri"/>
              <a:ea typeface="Calibri"/>
              <a:cs typeface="Calibri"/>
              <a:sym typeface="Calibri"/>
            </a:endParaRPr>
          </a:p>
        </p:txBody>
      </p:sp>
      <p:sp>
        <p:nvSpPr>
          <p:cNvPr id="157" name="Google Shape;157;p9"/>
          <p:cNvSpPr/>
          <p:nvPr/>
        </p:nvSpPr>
        <p:spPr>
          <a:xfrm>
            <a:off x="5577840" y="3566160"/>
            <a:ext cx="16459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Full Dataset:</a:t>
            </a:r>
            <a:endParaRPr b="0" i="0" sz="900" u="none" cap="none" strike="noStrike">
              <a:solidFill>
                <a:schemeClr val="dk1"/>
              </a:solidFill>
              <a:latin typeface="Calibri"/>
              <a:ea typeface="Calibri"/>
              <a:cs typeface="Calibri"/>
              <a:sym typeface="Calibri"/>
            </a:endParaRPr>
          </a:p>
        </p:txBody>
      </p:sp>
      <p:sp>
        <p:nvSpPr>
          <p:cNvPr id="158" name="Google Shape;158;p9"/>
          <p:cNvSpPr/>
          <p:nvPr/>
        </p:nvSpPr>
        <p:spPr>
          <a:xfrm>
            <a:off x="7223760" y="3566160"/>
            <a:ext cx="155448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0A7EA4"/>
              </a:buClr>
              <a:buSzPts val="900"/>
              <a:buFont typeface="Calibri"/>
              <a:buNone/>
            </a:pPr>
            <a:r>
              <a:rPr b="1" i="0" lang="en-US" sz="900" u="none" cap="none" strike="noStrike">
                <a:solidFill>
                  <a:srgbClr val="0A7EA4"/>
                </a:solidFill>
                <a:latin typeface="Calibri"/>
                <a:ea typeface="Calibri"/>
                <a:cs typeface="Calibri"/>
                <a:sym typeface="Calibri"/>
              </a:rPr>
              <a:t>19,830 drugs</a:t>
            </a:r>
            <a:endParaRPr b="0" i="0" sz="900" u="none" cap="none" strike="noStrike">
              <a:solidFill>
                <a:schemeClr val="dk1"/>
              </a:solidFill>
              <a:latin typeface="Calibri"/>
              <a:ea typeface="Calibri"/>
              <a:cs typeface="Calibri"/>
              <a:sym typeface="Calibri"/>
            </a:endParaRPr>
          </a:p>
        </p:txBody>
      </p:sp>
      <p:sp>
        <p:nvSpPr>
          <p:cNvPr id="159" name="Google Shape;159;p9"/>
          <p:cNvSpPr/>
          <p:nvPr/>
        </p:nvSpPr>
        <p:spPr>
          <a:xfrm>
            <a:off x="5577840" y="3840480"/>
            <a:ext cx="16459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Active Subset:</a:t>
            </a:r>
            <a:endParaRPr b="0" i="0" sz="900" u="none" cap="none" strike="noStrike">
              <a:solidFill>
                <a:schemeClr val="dk1"/>
              </a:solidFill>
              <a:latin typeface="Calibri"/>
              <a:ea typeface="Calibri"/>
              <a:cs typeface="Calibri"/>
              <a:sym typeface="Calibri"/>
            </a:endParaRPr>
          </a:p>
        </p:txBody>
      </p:sp>
      <p:sp>
        <p:nvSpPr>
          <p:cNvPr id="160" name="Google Shape;160;p9"/>
          <p:cNvSpPr/>
          <p:nvPr/>
        </p:nvSpPr>
        <p:spPr>
          <a:xfrm>
            <a:off x="7223760" y="3840480"/>
            <a:ext cx="155448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0A7EA4"/>
              </a:buClr>
              <a:buSzPts val="900"/>
              <a:buFont typeface="Calibri"/>
              <a:buNone/>
            </a:pPr>
            <a:r>
              <a:rPr b="1" i="0" lang="en-US" sz="900" u="none" cap="none" strike="noStrike">
                <a:solidFill>
                  <a:srgbClr val="0A7EA4"/>
                </a:solidFill>
                <a:latin typeface="Calibri"/>
                <a:ea typeface="Calibri"/>
                <a:cs typeface="Calibri"/>
                <a:sym typeface="Calibri"/>
              </a:rPr>
              <a:t>4,657 drugs</a:t>
            </a:r>
            <a:endParaRPr b="0" i="0" sz="900" u="none" cap="none" strike="noStrike">
              <a:solidFill>
                <a:schemeClr val="dk1"/>
              </a:solidFill>
              <a:latin typeface="Calibri"/>
              <a:ea typeface="Calibri"/>
              <a:cs typeface="Calibri"/>
              <a:sym typeface="Calibri"/>
            </a:endParaRPr>
          </a:p>
        </p:txBody>
      </p:sp>
      <p:sp>
        <p:nvSpPr>
          <p:cNvPr id="161" name="Google Shape;161;p9"/>
          <p:cNvSpPr/>
          <p:nvPr/>
        </p:nvSpPr>
        <p:spPr>
          <a:xfrm>
            <a:off x="5577840" y="4114800"/>
            <a:ext cx="16459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Train Split:</a:t>
            </a:r>
            <a:endParaRPr b="0" i="0" sz="900" u="none" cap="none" strike="noStrike">
              <a:solidFill>
                <a:schemeClr val="dk1"/>
              </a:solidFill>
              <a:latin typeface="Calibri"/>
              <a:ea typeface="Calibri"/>
              <a:cs typeface="Calibri"/>
              <a:sym typeface="Calibri"/>
            </a:endParaRPr>
          </a:p>
        </p:txBody>
      </p:sp>
      <p:sp>
        <p:nvSpPr>
          <p:cNvPr id="162" name="Google Shape;162;p9"/>
          <p:cNvSpPr/>
          <p:nvPr/>
        </p:nvSpPr>
        <p:spPr>
          <a:xfrm>
            <a:off x="7223760" y="4114800"/>
            <a:ext cx="155448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0A7EA4"/>
              </a:buClr>
              <a:buSzPts val="900"/>
              <a:buFont typeface="Calibri"/>
              <a:buNone/>
            </a:pPr>
            <a:r>
              <a:rPr b="1" i="0" lang="en-US" sz="900" u="none" cap="none" strike="noStrike">
                <a:solidFill>
                  <a:srgbClr val="0A7EA4"/>
                </a:solidFill>
                <a:latin typeface="Calibri"/>
                <a:ea typeface="Calibri"/>
                <a:cs typeface="Calibri"/>
                <a:sym typeface="Calibri"/>
              </a:rPr>
              <a:t>70%</a:t>
            </a:r>
            <a:endParaRPr b="0" i="0" sz="900" u="none" cap="none" strike="noStrike">
              <a:solidFill>
                <a:schemeClr val="dk1"/>
              </a:solidFill>
              <a:latin typeface="Calibri"/>
              <a:ea typeface="Calibri"/>
              <a:cs typeface="Calibri"/>
              <a:sym typeface="Calibri"/>
            </a:endParaRPr>
          </a:p>
        </p:txBody>
      </p:sp>
      <p:sp>
        <p:nvSpPr>
          <p:cNvPr id="163" name="Google Shape;163;p9"/>
          <p:cNvSpPr/>
          <p:nvPr/>
        </p:nvSpPr>
        <p:spPr>
          <a:xfrm>
            <a:off x="5577840" y="4389120"/>
            <a:ext cx="16459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Val / Test:</a:t>
            </a:r>
            <a:endParaRPr b="0" i="0" sz="900" u="none" cap="none" strike="noStrike">
              <a:solidFill>
                <a:schemeClr val="dk1"/>
              </a:solidFill>
              <a:latin typeface="Calibri"/>
              <a:ea typeface="Calibri"/>
              <a:cs typeface="Calibri"/>
              <a:sym typeface="Calibri"/>
            </a:endParaRPr>
          </a:p>
        </p:txBody>
      </p:sp>
      <p:sp>
        <p:nvSpPr>
          <p:cNvPr id="164" name="Google Shape;164;p9"/>
          <p:cNvSpPr/>
          <p:nvPr/>
        </p:nvSpPr>
        <p:spPr>
          <a:xfrm>
            <a:off x="7223760" y="4389120"/>
            <a:ext cx="155448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0A7EA4"/>
              </a:buClr>
              <a:buSzPts val="900"/>
              <a:buFont typeface="Calibri"/>
              <a:buNone/>
            </a:pPr>
            <a:r>
              <a:rPr b="1" i="0" lang="en-US" sz="900" u="none" cap="none" strike="noStrike">
                <a:solidFill>
                  <a:srgbClr val="0A7EA4"/>
                </a:solidFill>
                <a:latin typeface="Calibri"/>
                <a:ea typeface="Calibri"/>
                <a:cs typeface="Calibri"/>
                <a:sym typeface="Calibri"/>
              </a:rPr>
              <a:t>15% / 15%</a:t>
            </a:r>
            <a:endParaRPr b="0" i="0" sz="900" u="none" cap="none" strike="noStrike">
              <a:solidFill>
                <a:schemeClr val="dk1"/>
              </a:solidFill>
              <a:latin typeface="Calibri"/>
              <a:ea typeface="Calibri"/>
              <a:cs typeface="Calibri"/>
              <a:sym typeface="Calibri"/>
            </a:endParaRPr>
          </a:p>
        </p:txBody>
      </p:sp>
      <p:sp>
        <p:nvSpPr>
          <p:cNvPr id="165" name="Google Shape;165;p9"/>
          <p:cNvSpPr/>
          <p:nvPr/>
        </p:nvSpPr>
        <p:spPr>
          <a:xfrm>
            <a:off x="5577840" y="4663440"/>
            <a:ext cx="16459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Max Interactions:</a:t>
            </a:r>
            <a:endParaRPr b="0" i="0" sz="900" u="none" cap="none" strike="noStrike">
              <a:solidFill>
                <a:schemeClr val="dk1"/>
              </a:solidFill>
              <a:latin typeface="Calibri"/>
              <a:ea typeface="Calibri"/>
              <a:cs typeface="Calibri"/>
              <a:sym typeface="Calibri"/>
            </a:endParaRPr>
          </a:p>
        </p:txBody>
      </p:sp>
      <p:sp>
        <p:nvSpPr>
          <p:cNvPr id="166" name="Google Shape;166;p9"/>
          <p:cNvSpPr/>
          <p:nvPr/>
        </p:nvSpPr>
        <p:spPr>
          <a:xfrm>
            <a:off x="7223760" y="4663440"/>
            <a:ext cx="155448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0A7EA4"/>
              </a:buClr>
              <a:buSzPts val="900"/>
              <a:buFont typeface="Calibri"/>
              <a:buNone/>
            </a:pPr>
            <a:r>
              <a:rPr b="1" i="0" lang="en-US" sz="900" u="none" cap="none" strike="noStrike">
                <a:solidFill>
                  <a:srgbClr val="0A7EA4"/>
                </a:solidFill>
                <a:latin typeface="Calibri"/>
                <a:ea typeface="Calibri"/>
                <a:cs typeface="Calibri"/>
                <a:sym typeface="Calibri"/>
              </a:rPr>
              <a:t>5,272</a:t>
            </a:r>
            <a:endParaRPr b="0" i="0" sz="900" u="none" cap="none" strike="noStrike">
              <a:solidFill>
                <a:schemeClr val="dk1"/>
              </a:solidFill>
              <a:latin typeface="Calibri"/>
              <a:ea typeface="Calibri"/>
              <a:cs typeface="Calibri"/>
              <a:sym typeface="Calibri"/>
            </a:endParaRPr>
          </a:p>
        </p:txBody>
      </p:sp>
      <p:sp>
        <p:nvSpPr>
          <p:cNvPr id="167" name="Google Shape;167;p9"/>
          <p:cNvSpPr/>
          <p:nvPr/>
        </p:nvSpPr>
        <p:spPr>
          <a:xfrm>
            <a:off x="5577840" y="4937760"/>
            <a:ext cx="16459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Max Unique CYP:</a:t>
            </a:r>
            <a:endParaRPr b="0" i="0" sz="900" u="none" cap="none" strike="noStrike">
              <a:solidFill>
                <a:schemeClr val="dk1"/>
              </a:solidFill>
              <a:latin typeface="Calibri"/>
              <a:ea typeface="Calibri"/>
              <a:cs typeface="Calibri"/>
              <a:sym typeface="Calibri"/>
            </a:endParaRPr>
          </a:p>
        </p:txBody>
      </p:sp>
      <p:sp>
        <p:nvSpPr>
          <p:cNvPr id="168" name="Google Shape;168;p9"/>
          <p:cNvSpPr/>
          <p:nvPr/>
        </p:nvSpPr>
        <p:spPr>
          <a:xfrm>
            <a:off x="7223760" y="4937760"/>
            <a:ext cx="155448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0A7EA4"/>
              </a:buClr>
              <a:buSzPts val="900"/>
              <a:buFont typeface="Calibri"/>
              <a:buNone/>
            </a:pPr>
            <a:r>
              <a:rPr b="1" i="0" lang="en-US" sz="900" u="none" cap="none" strike="noStrike">
                <a:solidFill>
                  <a:srgbClr val="0A7EA4"/>
                </a:solidFill>
                <a:latin typeface="Calibri"/>
                <a:ea typeface="Calibri"/>
                <a:cs typeface="Calibri"/>
                <a:sym typeface="Calibri"/>
              </a:rPr>
              <a:t>14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2" name="Shape 172"/>
        <p:cNvGrpSpPr/>
        <p:nvPr/>
      </p:nvGrpSpPr>
      <p:grpSpPr>
        <a:xfrm>
          <a:off x="0" y="0"/>
          <a:ext cx="0" cy="0"/>
          <a:chOff x="0" y="0"/>
          <a:chExt cx="0" cy="0"/>
        </a:xfrm>
      </p:grpSpPr>
      <p:pic>
        <p:nvPicPr>
          <p:cNvPr id="173" name="Google Shape;173;p10"/>
          <p:cNvPicPr preferRelativeResize="0"/>
          <p:nvPr/>
        </p:nvPicPr>
        <p:blipFill rotWithShape="1">
          <a:blip r:embed="rId3">
            <a:alphaModFix/>
          </a:blip>
          <a:srcRect b="30297" l="12474" r="6782" t="30602"/>
          <a:stretch/>
        </p:blipFill>
        <p:spPr>
          <a:xfrm>
            <a:off x="281250" y="1739628"/>
            <a:ext cx="4135800" cy="2169622"/>
          </a:xfrm>
          <a:prstGeom prst="rect">
            <a:avLst/>
          </a:prstGeom>
          <a:noFill/>
          <a:ln>
            <a:noFill/>
          </a:ln>
        </p:spPr>
      </p:pic>
      <p:sp>
        <p:nvSpPr>
          <p:cNvPr id="174" name="Google Shape;174;p10"/>
          <p:cNvSpPr txBox="1"/>
          <p:nvPr/>
        </p:nvSpPr>
        <p:spPr>
          <a:xfrm>
            <a:off x="399225" y="755000"/>
            <a:ext cx="4135800" cy="805500"/>
          </a:xfrm>
          <a:prstGeom prst="rect">
            <a:avLst/>
          </a:prstGeom>
          <a:solidFill>
            <a:srgbClr val="A8D8E8"/>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00">
                <a:solidFill>
                  <a:schemeClr val="dk2"/>
                </a:solidFill>
                <a:latin typeface="EB Garamond"/>
                <a:ea typeface="EB Garamond"/>
                <a:cs typeface="EB Garamond"/>
                <a:sym typeface="EB Garamond"/>
              </a:rPr>
              <a:t>“Top Safety Complexity (not intrinsic danger)”</a:t>
            </a:r>
            <a:endParaRPr b="1" sz="1800">
              <a:solidFill>
                <a:schemeClr val="dk2"/>
              </a:solidFill>
              <a:latin typeface="EB Garamond"/>
              <a:ea typeface="EB Garamond"/>
              <a:cs typeface="EB Garamond"/>
              <a:sym typeface="EB Garamond"/>
            </a:endParaRPr>
          </a:p>
        </p:txBody>
      </p:sp>
      <p:sp>
        <p:nvSpPr>
          <p:cNvPr id="175" name="Google Shape;175;p10"/>
          <p:cNvSpPr txBox="1"/>
          <p:nvPr/>
        </p:nvSpPr>
        <p:spPr>
          <a:xfrm>
            <a:off x="4900675" y="1678750"/>
            <a:ext cx="3910200" cy="1661700"/>
          </a:xfrm>
          <a:prstGeom prst="rect">
            <a:avLst/>
          </a:prstGeom>
          <a:solidFill>
            <a:srgbClr val="0A7EA4"/>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2"/>
                </a:solidFill>
                <a:latin typeface="EB Garamond"/>
                <a:ea typeface="EB Garamond"/>
                <a:cs typeface="EB Garamond"/>
                <a:sym typeface="EB Garamond"/>
              </a:rPr>
              <a:t>The highest scoring drugs correspond to well-known interaction-heavy medications, suggesting the engineered safety complexity score aligns with real pharmacological knowledge.</a:t>
            </a:r>
            <a:endParaRPr sz="1800">
              <a:solidFill>
                <a:schemeClr val="dk2"/>
              </a:solidFill>
              <a:latin typeface="EB Garamond"/>
              <a:ea typeface="EB Garamond"/>
              <a:cs typeface="EB Garamond"/>
              <a:sym typeface="EB Garamon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9" name="Shape 179"/>
        <p:cNvGrpSpPr/>
        <p:nvPr/>
      </p:nvGrpSpPr>
      <p:grpSpPr>
        <a:xfrm>
          <a:off x="0" y="0"/>
          <a:ext cx="0" cy="0"/>
          <a:chOff x="0" y="0"/>
          <a:chExt cx="0" cy="0"/>
        </a:xfrm>
      </p:grpSpPr>
      <p:sp>
        <p:nvSpPr>
          <p:cNvPr id="180" name="Google Shape;180;p11"/>
          <p:cNvSpPr txBox="1"/>
          <p:nvPr>
            <p:ph type="title"/>
          </p:nvPr>
        </p:nvSpPr>
        <p:spPr>
          <a:xfrm>
            <a:off x="311700" y="445025"/>
            <a:ext cx="8520600" cy="572700"/>
          </a:xfrm>
          <a:prstGeom prst="rect">
            <a:avLst/>
          </a:prstGeom>
          <a:solidFill>
            <a:srgbClr val="0A5A7C"/>
          </a:solidFill>
        </p:spPr>
        <p:txBody>
          <a:bodyPr anchorCtr="0" anchor="ctr" bIns="91425" lIns="91425" spcFirstLastPara="1" rIns="91425" wrap="square" tIns="91425">
            <a:noAutofit/>
          </a:bodyPr>
          <a:lstStyle/>
          <a:p>
            <a:pPr indent="0" lvl="0" marL="0" rtl="0" algn="l">
              <a:spcBef>
                <a:spcPts val="0"/>
              </a:spcBef>
              <a:spcAft>
                <a:spcPts val="0"/>
              </a:spcAft>
              <a:buNone/>
            </a:pPr>
            <a:r>
              <a:rPr lang="en-US">
                <a:latin typeface="EB Garamond"/>
                <a:ea typeface="EB Garamond"/>
                <a:cs typeface="EB Garamond"/>
                <a:sym typeface="EB Garamond"/>
              </a:rPr>
              <a:t>DrugBank Dataset : Data Preprocessing and Feature Engineering</a:t>
            </a:r>
            <a:endParaRPr>
              <a:latin typeface="EB Garamond"/>
              <a:ea typeface="EB Garamond"/>
              <a:cs typeface="EB Garamond"/>
              <a:sym typeface="EB Garamond"/>
            </a:endParaRPr>
          </a:p>
          <a:p>
            <a:pPr indent="0" lvl="0" marL="0" rtl="0" algn="l">
              <a:spcBef>
                <a:spcPts val="0"/>
              </a:spcBef>
              <a:spcAft>
                <a:spcPts val="0"/>
              </a:spcAft>
              <a:buNone/>
            </a:pPr>
            <a:r>
              <a:t/>
            </a:r>
            <a:endParaRPr>
              <a:latin typeface="EB Garamond"/>
              <a:ea typeface="EB Garamond"/>
              <a:cs typeface="EB Garamond"/>
              <a:sym typeface="EB Garamond"/>
            </a:endParaRPr>
          </a:p>
        </p:txBody>
      </p:sp>
      <p:sp>
        <p:nvSpPr>
          <p:cNvPr id="181" name="Google Shape;181;p11"/>
          <p:cNvSpPr txBox="1"/>
          <p:nvPr/>
        </p:nvSpPr>
        <p:spPr>
          <a:xfrm>
            <a:off x="156500" y="1723799"/>
            <a:ext cx="2692200" cy="540600"/>
          </a:xfrm>
          <a:prstGeom prst="rect">
            <a:avLst/>
          </a:prstGeom>
          <a:solidFill>
            <a:srgbClr val="7AAFC4"/>
          </a:solidFill>
          <a:ln cap="flat" cmpd="sng" w="14900">
            <a:solidFill>
              <a:srgbClr val="000000"/>
            </a:solidFill>
            <a:prstDash val="solid"/>
            <a:round/>
            <a:headEnd len="sm" w="sm" type="none"/>
            <a:tailEnd len="sm" w="sm" type="none"/>
          </a:ln>
        </p:spPr>
        <p:txBody>
          <a:bodyPr anchorCtr="0" anchor="t" bIns="71475" lIns="71475" spcFirstLastPara="1" rIns="71475" wrap="square" tIns="71475">
            <a:noAutofit/>
          </a:bodyPr>
          <a:lstStyle/>
          <a:p>
            <a:pPr indent="0" lvl="0" marL="0" rtl="0" algn="l">
              <a:spcBef>
                <a:spcPts val="0"/>
              </a:spcBef>
              <a:spcAft>
                <a:spcPts val="0"/>
              </a:spcAft>
              <a:buNone/>
            </a:pPr>
            <a:r>
              <a:rPr lang="en-US" sz="1407">
                <a:solidFill>
                  <a:schemeClr val="dk2"/>
                </a:solidFill>
                <a:latin typeface="EB Garamond"/>
                <a:ea typeface="EB Garamond"/>
                <a:cs typeface="EB Garamond"/>
                <a:sym typeface="EB Garamond"/>
              </a:rPr>
              <a:t>Final merged feature table → 19,830 drugs</a:t>
            </a:r>
            <a:endParaRPr sz="1407">
              <a:solidFill>
                <a:schemeClr val="dk2"/>
              </a:solidFill>
              <a:latin typeface="EB Garamond"/>
              <a:ea typeface="EB Garamond"/>
              <a:cs typeface="EB Garamond"/>
              <a:sym typeface="EB Garamond"/>
            </a:endParaRPr>
          </a:p>
          <a:p>
            <a:pPr indent="0" lvl="0" marL="0" rtl="0" algn="l">
              <a:spcBef>
                <a:spcPts val="0"/>
              </a:spcBef>
              <a:spcAft>
                <a:spcPts val="0"/>
              </a:spcAft>
              <a:buNone/>
            </a:pPr>
            <a:r>
              <a:t/>
            </a:r>
            <a:endParaRPr sz="1407">
              <a:solidFill>
                <a:schemeClr val="dk2"/>
              </a:solidFill>
            </a:endParaRPr>
          </a:p>
        </p:txBody>
      </p:sp>
      <p:sp>
        <p:nvSpPr>
          <p:cNvPr id="182" name="Google Shape;182;p11"/>
          <p:cNvSpPr txBox="1"/>
          <p:nvPr/>
        </p:nvSpPr>
        <p:spPr>
          <a:xfrm>
            <a:off x="156500" y="2429214"/>
            <a:ext cx="2692200" cy="540600"/>
          </a:xfrm>
          <a:prstGeom prst="rect">
            <a:avLst/>
          </a:prstGeom>
          <a:solidFill>
            <a:srgbClr val="7AAFC4"/>
          </a:solidFill>
          <a:ln cap="flat" cmpd="sng" w="14900">
            <a:solidFill>
              <a:srgbClr val="000000"/>
            </a:solidFill>
            <a:prstDash val="solid"/>
            <a:round/>
            <a:headEnd len="sm" w="sm" type="none"/>
            <a:tailEnd len="sm" w="sm" type="none"/>
          </a:ln>
        </p:spPr>
        <p:txBody>
          <a:bodyPr anchorCtr="0" anchor="t" bIns="71475" lIns="71475" spcFirstLastPara="1" rIns="71475" wrap="square" tIns="71475">
            <a:noAutofit/>
          </a:bodyPr>
          <a:lstStyle/>
          <a:p>
            <a:pPr indent="0" lvl="0" marL="0" rtl="0" algn="l">
              <a:spcBef>
                <a:spcPts val="0"/>
              </a:spcBef>
              <a:spcAft>
                <a:spcPts val="0"/>
              </a:spcAft>
              <a:buNone/>
            </a:pPr>
            <a:r>
              <a:rPr lang="en-US" sz="1407">
                <a:solidFill>
                  <a:schemeClr val="dk2"/>
                </a:solidFill>
                <a:latin typeface="EB Garamond"/>
                <a:ea typeface="EB Garamond"/>
                <a:cs typeface="EB Garamond"/>
                <a:sym typeface="EB Garamond"/>
              </a:rPr>
              <a:t>Active subset (interaction OR CYP info) → 4,657 drugs</a:t>
            </a:r>
            <a:endParaRPr sz="1407">
              <a:solidFill>
                <a:schemeClr val="dk2"/>
              </a:solidFill>
              <a:latin typeface="EB Garamond"/>
              <a:ea typeface="EB Garamond"/>
              <a:cs typeface="EB Garamond"/>
              <a:sym typeface="EB Garamond"/>
            </a:endParaRPr>
          </a:p>
          <a:p>
            <a:pPr indent="0" lvl="0" marL="0" rtl="0" algn="l">
              <a:spcBef>
                <a:spcPts val="0"/>
              </a:spcBef>
              <a:spcAft>
                <a:spcPts val="0"/>
              </a:spcAft>
              <a:buNone/>
            </a:pPr>
            <a:r>
              <a:t/>
            </a:r>
            <a:endParaRPr sz="1407">
              <a:solidFill>
                <a:schemeClr val="dk2"/>
              </a:solidFill>
            </a:endParaRPr>
          </a:p>
        </p:txBody>
      </p:sp>
      <p:sp>
        <p:nvSpPr>
          <p:cNvPr id="183" name="Google Shape;183;p11"/>
          <p:cNvSpPr txBox="1"/>
          <p:nvPr/>
        </p:nvSpPr>
        <p:spPr>
          <a:xfrm>
            <a:off x="156500" y="3193396"/>
            <a:ext cx="2739600" cy="540600"/>
          </a:xfrm>
          <a:prstGeom prst="rect">
            <a:avLst/>
          </a:prstGeom>
          <a:solidFill>
            <a:srgbClr val="7AAFC4"/>
          </a:solidFill>
          <a:ln cap="flat" cmpd="sng" w="14900">
            <a:solidFill>
              <a:srgbClr val="000000"/>
            </a:solidFill>
            <a:prstDash val="solid"/>
            <a:round/>
            <a:headEnd len="sm" w="sm" type="none"/>
            <a:tailEnd len="sm" w="sm" type="none"/>
          </a:ln>
        </p:spPr>
        <p:txBody>
          <a:bodyPr anchorCtr="0" anchor="t" bIns="71475" lIns="71475" spcFirstLastPara="1" rIns="71475" wrap="square" tIns="71475">
            <a:noAutofit/>
          </a:bodyPr>
          <a:lstStyle/>
          <a:p>
            <a:pPr indent="0" lvl="0" marL="0" rtl="0" algn="l">
              <a:spcBef>
                <a:spcPts val="0"/>
              </a:spcBef>
              <a:spcAft>
                <a:spcPts val="0"/>
              </a:spcAft>
              <a:buNone/>
            </a:pPr>
            <a:r>
              <a:rPr lang="en-US" sz="1407">
                <a:solidFill>
                  <a:schemeClr val="dk2"/>
                </a:solidFill>
                <a:latin typeface="EB Garamond"/>
                <a:ea typeface="EB Garamond"/>
                <a:cs typeface="EB Garamond"/>
                <a:sym typeface="EB Garamond"/>
              </a:rPr>
              <a:t>Train / Validation / Test split (70 / 15 / 15)</a:t>
            </a:r>
            <a:endParaRPr sz="1407">
              <a:solidFill>
                <a:schemeClr val="dk2"/>
              </a:solidFill>
              <a:latin typeface="EB Garamond"/>
              <a:ea typeface="EB Garamond"/>
              <a:cs typeface="EB Garamond"/>
              <a:sym typeface="EB Garamond"/>
            </a:endParaRPr>
          </a:p>
        </p:txBody>
      </p:sp>
      <p:cxnSp>
        <p:nvCxnSpPr>
          <p:cNvPr id="184" name="Google Shape;184;p11"/>
          <p:cNvCxnSpPr>
            <a:endCxn id="182" idx="0"/>
          </p:cNvCxnSpPr>
          <p:nvPr/>
        </p:nvCxnSpPr>
        <p:spPr>
          <a:xfrm>
            <a:off x="1437800" y="2229414"/>
            <a:ext cx="64800" cy="199800"/>
          </a:xfrm>
          <a:prstGeom prst="straightConnector1">
            <a:avLst/>
          </a:prstGeom>
          <a:noFill/>
          <a:ln cap="flat" cmpd="sng" w="7425">
            <a:solidFill>
              <a:schemeClr val="dk2"/>
            </a:solidFill>
            <a:prstDash val="solid"/>
            <a:round/>
            <a:headEnd len="med" w="med" type="none"/>
            <a:tailEnd len="med" w="med" type="triangle"/>
          </a:ln>
        </p:spPr>
      </p:cxnSp>
      <p:cxnSp>
        <p:nvCxnSpPr>
          <p:cNvPr id="185" name="Google Shape;185;p11"/>
          <p:cNvCxnSpPr>
            <a:endCxn id="183" idx="0"/>
          </p:cNvCxnSpPr>
          <p:nvPr/>
        </p:nvCxnSpPr>
        <p:spPr>
          <a:xfrm>
            <a:off x="1520600" y="2958196"/>
            <a:ext cx="5700" cy="235200"/>
          </a:xfrm>
          <a:prstGeom prst="straightConnector1">
            <a:avLst/>
          </a:prstGeom>
          <a:noFill/>
          <a:ln cap="flat" cmpd="sng" w="7425">
            <a:solidFill>
              <a:schemeClr val="dk2"/>
            </a:solidFill>
            <a:prstDash val="solid"/>
            <a:round/>
            <a:headEnd len="med" w="med" type="none"/>
            <a:tailEnd len="med" w="med" type="triangle"/>
          </a:ln>
        </p:spPr>
      </p:cxnSp>
      <p:pic>
        <p:nvPicPr>
          <p:cNvPr id="186" name="Google Shape;186;p11"/>
          <p:cNvPicPr preferRelativeResize="0"/>
          <p:nvPr/>
        </p:nvPicPr>
        <p:blipFill rotWithShape="1">
          <a:blip r:embed="rId3">
            <a:alphaModFix/>
          </a:blip>
          <a:srcRect b="32324" l="6087" r="62471" t="25651"/>
          <a:stretch/>
        </p:blipFill>
        <p:spPr>
          <a:xfrm>
            <a:off x="3124825" y="1278375"/>
            <a:ext cx="2451211" cy="1774700"/>
          </a:xfrm>
          <a:prstGeom prst="rect">
            <a:avLst/>
          </a:prstGeom>
          <a:noFill/>
          <a:ln>
            <a:noFill/>
          </a:ln>
        </p:spPr>
      </p:pic>
      <p:pic>
        <p:nvPicPr>
          <p:cNvPr id="187" name="Google Shape;187;p11"/>
          <p:cNvPicPr preferRelativeResize="0"/>
          <p:nvPr/>
        </p:nvPicPr>
        <p:blipFill rotWithShape="1">
          <a:blip r:embed="rId4">
            <a:alphaModFix/>
          </a:blip>
          <a:srcRect b="35191" l="6068" r="62474" t="23147"/>
          <a:stretch/>
        </p:blipFill>
        <p:spPr>
          <a:xfrm>
            <a:off x="5911275" y="1230325"/>
            <a:ext cx="2692200" cy="1931400"/>
          </a:xfrm>
          <a:prstGeom prst="rect">
            <a:avLst/>
          </a:prstGeom>
          <a:noFill/>
          <a:ln>
            <a:noFill/>
          </a:ln>
        </p:spPr>
      </p:pic>
      <p:sp>
        <p:nvSpPr>
          <p:cNvPr id="188" name="Google Shape;188;p11"/>
          <p:cNvSpPr txBox="1"/>
          <p:nvPr>
            <p:ph type="title"/>
          </p:nvPr>
        </p:nvSpPr>
        <p:spPr>
          <a:xfrm>
            <a:off x="4051075" y="3532075"/>
            <a:ext cx="3871200" cy="572700"/>
          </a:xfrm>
          <a:prstGeom prst="rect">
            <a:avLst/>
          </a:prstGeom>
          <a:solidFill>
            <a:srgbClr val="7AAFC4"/>
          </a:solidFill>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US" sz="2020">
                <a:latin typeface="EB Garamond"/>
                <a:ea typeface="EB Garamond"/>
                <a:cs typeface="EB Garamond"/>
                <a:sym typeface="EB Garamond"/>
              </a:rPr>
              <a:t>FULL dataset vs ACTIVE dataset</a:t>
            </a:r>
            <a:endParaRPr sz="2020">
              <a:latin typeface="EB Garamond"/>
              <a:ea typeface="EB Garamond"/>
              <a:cs typeface="EB Garamond"/>
              <a:sym typeface="EB Garamon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AFB"/>
        </a:solidFill>
      </p:bgPr>
    </p:bg>
    <p:spTree>
      <p:nvGrpSpPr>
        <p:cNvPr id="193" name="Shape 193"/>
        <p:cNvGrpSpPr/>
        <p:nvPr/>
      </p:nvGrpSpPr>
      <p:grpSpPr>
        <a:xfrm>
          <a:off x="0" y="0"/>
          <a:ext cx="0" cy="0"/>
          <a:chOff x="0" y="0"/>
          <a:chExt cx="0" cy="0"/>
        </a:xfrm>
      </p:grpSpPr>
      <p:sp>
        <p:nvSpPr>
          <p:cNvPr id="194" name="Google Shape;194;p12"/>
          <p:cNvSpPr/>
          <p:nvPr/>
        </p:nvSpPr>
        <p:spPr>
          <a:xfrm>
            <a:off x="0" y="0"/>
            <a:ext cx="9144000" cy="65836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2"/>
          <p:cNvSpPr/>
          <p:nvPr/>
        </p:nvSpPr>
        <p:spPr>
          <a:xfrm>
            <a:off x="365760" y="0"/>
            <a:ext cx="822960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Week 6  |  Exploratory Data Analysis</a:t>
            </a:r>
            <a:endParaRPr b="0" i="0" sz="2000" u="none" cap="none" strike="noStrike">
              <a:solidFill>
                <a:schemeClr val="dk1"/>
              </a:solidFill>
              <a:latin typeface="Calibri"/>
              <a:ea typeface="Calibri"/>
              <a:cs typeface="Calibri"/>
              <a:sym typeface="Calibri"/>
            </a:endParaRPr>
          </a:p>
        </p:txBody>
      </p:sp>
      <p:sp>
        <p:nvSpPr>
          <p:cNvPr id="196" name="Google Shape;196;p12"/>
          <p:cNvSpPr/>
          <p:nvPr/>
        </p:nvSpPr>
        <p:spPr>
          <a:xfrm>
            <a:off x="7955280" y="164592"/>
            <a:ext cx="1051560" cy="292608"/>
          </a:xfrm>
          <a:prstGeom prst="roundRect">
            <a:avLst>
              <a:gd fmla="val 18750" name="adj"/>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2"/>
          <p:cNvSpPr/>
          <p:nvPr/>
        </p:nvSpPr>
        <p:spPr>
          <a:xfrm>
            <a:off x="7955280" y="164592"/>
            <a:ext cx="10515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WEEK 6</a:t>
            </a:r>
            <a:endParaRPr b="0" i="0" sz="900" u="none" cap="none" strike="noStrike">
              <a:solidFill>
                <a:schemeClr val="dk1"/>
              </a:solidFill>
              <a:latin typeface="Calibri"/>
              <a:ea typeface="Calibri"/>
              <a:cs typeface="Calibri"/>
              <a:sym typeface="Calibri"/>
            </a:endParaRPr>
          </a:p>
        </p:txBody>
      </p:sp>
      <p:sp>
        <p:nvSpPr>
          <p:cNvPr id="198" name="Google Shape;198;p12"/>
          <p:cNvSpPr/>
          <p:nvPr/>
        </p:nvSpPr>
        <p:spPr>
          <a:xfrm>
            <a:off x="201168" y="804672"/>
            <a:ext cx="2788920" cy="3017520"/>
          </a:xfrm>
          <a:prstGeom prst="rect">
            <a:avLst/>
          </a:prstGeom>
          <a:solidFill>
            <a:srgbClr val="FFFFFF"/>
          </a:solidFill>
          <a:ln cap="flat" cmpd="sng" w="12700">
            <a:solidFill>
              <a:srgbClr val="D1E8F0"/>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2"/>
          <p:cNvSpPr/>
          <p:nvPr/>
        </p:nvSpPr>
        <p:spPr>
          <a:xfrm>
            <a:off x="292608" y="868680"/>
            <a:ext cx="26060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000"/>
              <a:buFont typeface="Calibri"/>
              <a:buNone/>
            </a:pPr>
            <a:r>
              <a:rPr b="1" i="0" lang="en-US" sz="1000" u="none" cap="none" strike="noStrike">
                <a:solidFill>
                  <a:srgbClr val="0D1B2A"/>
                </a:solidFill>
                <a:latin typeface="Calibri"/>
                <a:ea typeface="Calibri"/>
                <a:cs typeface="Calibri"/>
                <a:sym typeface="Calibri"/>
              </a:rPr>
              <a:t>Drug Interaction Distribution</a:t>
            </a:r>
            <a:endParaRPr b="0" i="0" sz="1000" u="none" cap="none" strike="noStrike">
              <a:solidFill>
                <a:schemeClr val="dk1"/>
              </a:solidFill>
              <a:latin typeface="Calibri"/>
              <a:ea typeface="Calibri"/>
              <a:cs typeface="Calibri"/>
              <a:sym typeface="Calibri"/>
            </a:endParaRPr>
          </a:p>
        </p:txBody>
      </p:sp>
      <p:pic>
        <p:nvPicPr>
          <p:cNvPr id="200" name="Google Shape;200;p12"/>
          <p:cNvPicPr preferRelativeResize="0"/>
          <p:nvPr/>
        </p:nvPicPr>
        <p:blipFill rotWithShape="1">
          <a:blip r:embed="rId3">
            <a:alphaModFix/>
          </a:blip>
          <a:srcRect b="0" l="0" r="0" t="0"/>
          <a:stretch/>
        </p:blipFill>
        <p:spPr>
          <a:xfrm>
            <a:off x="246888" y="1170432"/>
            <a:ext cx="2697480" cy="1645920"/>
          </a:xfrm>
          <a:prstGeom prst="rect">
            <a:avLst/>
          </a:prstGeom>
          <a:noFill/>
          <a:ln>
            <a:noFill/>
          </a:ln>
        </p:spPr>
      </p:pic>
      <p:sp>
        <p:nvSpPr>
          <p:cNvPr id="201" name="Google Shape;201;p12"/>
          <p:cNvSpPr/>
          <p:nvPr/>
        </p:nvSpPr>
        <p:spPr>
          <a:xfrm>
            <a:off x="292608" y="2834640"/>
            <a:ext cx="26060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850"/>
              <a:buFont typeface="Calibri"/>
              <a:buNone/>
            </a:pPr>
            <a:r>
              <a:rPr b="0" i="1" lang="en-US" sz="850" u="none" cap="none" strike="noStrike">
                <a:solidFill>
                  <a:srgbClr val="64748B"/>
                </a:solidFill>
                <a:latin typeface="Calibri"/>
                <a:ea typeface="Calibri"/>
                <a:cs typeface="Calibri"/>
                <a:sym typeface="Calibri"/>
              </a:rPr>
              <a:t>Most drugs have zero or few interactions; a small subset is highly connected — classic long-tail behavior.</a:t>
            </a:r>
            <a:endParaRPr b="0" i="0" sz="850" u="none" cap="none" strike="noStrike">
              <a:solidFill>
                <a:schemeClr val="dk1"/>
              </a:solidFill>
              <a:latin typeface="Calibri"/>
              <a:ea typeface="Calibri"/>
              <a:cs typeface="Calibri"/>
              <a:sym typeface="Calibri"/>
            </a:endParaRPr>
          </a:p>
        </p:txBody>
      </p:sp>
      <p:sp>
        <p:nvSpPr>
          <p:cNvPr id="202" name="Google Shape;202;p12"/>
          <p:cNvSpPr/>
          <p:nvPr/>
        </p:nvSpPr>
        <p:spPr>
          <a:xfrm>
            <a:off x="3172968" y="804672"/>
            <a:ext cx="2788920" cy="3017520"/>
          </a:xfrm>
          <a:prstGeom prst="rect">
            <a:avLst/>
          </a:prstGeom>
          <a:solidFill>
            <a:srgbClr val="FFFFFF"/>
          </a:solidFill>
          <a:ln cap="flat" cmpd="sng" w="12700">
            <a:solidFill>
              <a:srgbClr val="D1E8F0"/>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2"/>
          <p:cNvSpPr/>
          <p:nvPr/>
        </p:nvSpPr>
        <p:spPr>
          <a:xfrm>
            <a:off x="3264408" y="868680"/>
            <a:ext cx="26060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000"/>
              <a:buFont typeface="Calibri"/>
              <a:buNone/>
            </a:pPr>
            <a:r>
              <a:rPr b="1" i="0" lang="en-US" sz="1000" u="none" cap="none" strike="noStrike">
                <a:solidFill>
                  <a:srgbClr val="0D1B2A"/>
                </a:solidFill>
                <a:latin typeface="Calibri"/>
                <a:ea typeface="Calibri"/>
                <a:cs typeface="Calibri"/>
                <a:sym typeface="Calibri"/>
              </a:rPr>
              <a:t>CYP Enzyme Diversity</a:t>
            </a:r>
            <a:endParaRPr b="0" i="0" sz="1000" u="none" cap="none" strike="noStrike">
              <a:solidFill>
                <a:schemeClr val="dk1"/>
              </a:solidFill>
              <a:latin typeface="Calibri"/>
              <a:ea typeface="Calibri"/>
              <a:cs typeface="Calibri"/>
              <a:sym typeface="Calibri"/>
            </a:endParaRPr>
          </a:p>
        </p:txBody>
      </p:sp>
      <p:pic>
        <p:nvPicPr>
          <p:cNvPr id="204" name="Google Shape;204;p12"/>
          <p:cNvPicPr preferRelativeResize="0"/>
          <p:nvPr/>
        </p:nvPicPr>
        <p:blipFill rotWithShape="1">
          <a:blip r:embed="rId4">
            <a:alphaModFix/>
          </a:blip>
          <a:srcRect b="0" l="0" r="0" t="0"/>
          <a:stretch/>
        </p:blipFill>
        <p:spPr>
          <a:xfrm>
            <a:off x="3218688" y="1170432"/>
            <a:ext cx="2697480" cy="1645920"/>
          </a:xfrm>
          <a:prstGeom prst="rect">
            <a:avLst/>
          </a:prstGeom>
          <a:noFill/>
          <a:ln>
            <a:noFill/>
          </a:ln>
        </p:spPr>
      </p:pic>
      <p:sp>
        <p:nvSpPr>
          <p:cNvPr id="205" name="Google Shape;205;p12"/>
          <p:cNvSpPr/>
          <p:nvPr/>
        </p:nvSpPr>
        <p:spPr>
          <a:xfrm>
            <a:off x="3264408" y="2834640"/>
            <a:ext cx="26060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850"/>
              <a:buFont typeface="Calibri"/>
              <a:buNone/>
            </a:pPr>
            <a:r>
              <a:rPr b="0" i="1" lang="en-US" sz="850" u="none" cap="none" strike="noStrike">
                <a:solidFill>
                  <a:srgbClr val="64748B"/>
                </a:solidFill>
                <a:latin typeface="Calibri"/>
                <a:ea typeface="Calibri"/>
                <a:cs typeface="Calibri"/>
                <a:sym typeface="Calibri"/>
              </a:rPr>
              <a:t>Many drugs involve no CYP pathways. A smaller subset shows high metabolic complexity (up to 14 unique enzymes).</a:t>
            </a:r>
            <a:endParaRPr b="0" i="0" sz="850" u="none" cap="none" strike="noStrike">
              <a:solidFill>
                <a:schemeClr val="dk1"/>
              </a:solidFill>
              <a:latin typeface="Calibri"/>
              <a:ea typeface="Calibri"/>
              <a:cs typeface="Calibri"/>
              <a:sym typeface="Calibri"/>
            </a:endParaRPr>
          </a:p>
        </p:txBody>
      </p:sp>
      <p:sp>
        <p:nvSpPr>
          <p:cNvPr id="206" name="Google Shape;206;p12"/>
          <p:cNvSpPr/>
          <p:nvPr/>
        </p:nvSpPr>
        <p:spPr>
          <a:xfrm>
            <a:off x="6144768" y="804672"/>
            <a:ext cx="2788920" cy="3017520"/>
          </a:xfrm>
          <a:prstGeom prst="rect">
            <a:avLst/>
          </a:prstGeom>
          <a:solidFill>
            <a:srgbClr val="FFFFFF"/>
          </a:solidFill>
          <a:ln cap="flat" cmpd="sng" w="12700">
            <a:solidFill>
              <a:srgbClr val="D1E8F0"/>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2"/>
          <p:cNvSpPr/>
          <p:nvPr/>
        </p:nvSpPr>
        <p:spPr>
          <a:xfrm>
            <a:off x="6236208" y="868680"/>
            <a:ext cx="260604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000"/>
              <a:buFont typeface="Calibri"/>
              <a:buNone/>
            </a:pPr>
            <a:r>
              <a:rPr b="1" i="0" lang="en-US" sz="1000" u="none" cap="none" strike="noStrike">
                <a:solidFill>
                  <a:srgbClr val="0D1B2A"/>
                </a:solidFill>
                <a:latin typeface="Calibri"/>
                <a:ea typeface="Calibri"/>
                <a:cs typeface="Calibri"/>
                <a:sym typeface="Calibri"/>
              </a:rPr>
              <a:t>Safety Complexity Score</a:t>
            </a:r>
            <a:endParaRPr b="0" i="0" sz="1000" u="none" cap="none" strike="noStrike">
              <a:solidFill>
                <a:schemeClr val="dk1"/>
              </a:solidFill>
              <a:latin typeface="Calibri"/>
              <a:ea typeface="Calibri"/>
              <a:cs typeface="Calibri"/>
              <a:sym typeface="Calibri"/>
            </a:endParaRPr>
          </a:p>
        </p:txBody>
      </p:sp>
      <p:pic>
        <p:nvPicPr>
          <p:cNvPr id="208" name="Google Shape;208;p12"/>
          <p:cNvPicPr preferRelativeResize="0"/>
          <p:nvPr/>
        </p:nvPicPr>
        <p:blipFill rotWithShape="1">
          <a:blip r:embed="rId5">
            <a:alphaModFix/>
          </a:blip>
          <a:srcRect b="0" l="0" r="0" t="0"/>
          <a:stretch/>
        </p:blipFill>
        <p:spPr>
          <a:xfrm>
            <a:off x="6190488" y="1170432"/>
            <a:ext cx="2697480" cy="1645920"/>
          </a:xfrm>
          <a:prstGeom prst="rect">
            <a:avLst/>
          </a:prstGeom>
          <a:noFill/>
          <a:ln>
            <a:noFill/>
          </a:ln>
        </p:spPr>
      </p:pic>
      <p:sp>
        <p:nvSpPr>
          <p:cNvPr id="209" name="Google Shape;209;p12"/>
          <p:cNvSpPr/>
          <p:nvPr/>
        </p:nvSpPr>
        <p:spPr>
          <a:xfrm>
            <a:off x="6236208" y="2834640"/>
            <a:ext cx="26060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850"/>
              <a:buFont typeface="Calibri"/>
              <a:buNone/>
            </a:pPr>
            <a:r>
              <a:rPr b="0" i="1" lang="en-US" sz="850" u="none" cap="none" strike="noStrike">
                <a:solidFill>
                  <a:srgbClr val="64748B"/>
                </a:solidFill>
                <a:latin typeface="Calibri"/>
                <a:ea typeface="Calibri"/>
                <a:cs typeface="Calibri"/>
                <a:sym typeface="Calibri"/>
              </a:rPr>
              <a:t>Combined feature cleanly separates high-complexity drugs (e.g., Cannabidiol, Ketoconazole) from the majority.</a:t>
            </a:r>
            <a:endParaRPr b="0" i="0" sz="850" u="none" cap="none" strike="noStrike">
              <a:solidFill>
                <a:schemeClr val="dk1"/>
              </a:solidFill>
              <a:latin typeface="Calibri"/>
              <a:ea typeface="Calibri"/>
              <a:cs typeface="Calibri"/>
              <a:sym typeface="Calibri"/>
            </a:endParaRPr>
          </a:p>
        </p:txBody>
      </p:sp>
      <p:sp>
        <p:nvSpPr>
          <p:cNvPr id="210" name="Google Shape;210;p12"/>
          <p:cNvSpPr/>
          <p:nvPr/>
        </p:nvSpPr>
        <p:spPr>
          <a:xfrm>
            <a:off x="201168" y="3950208"/>
            <a:ext cx="8741664" cy="1005840"/>
          </a:xfrm>
          <a:prstGeom prst="rect">
            <a:avLst/>
          </a:prstGeom>
          <a:solidFill>
            <a:srgbClr val="FFFFFF"/>
          </a:solidFill>
          <a:ln cap="flat" cmpd="sng" w="12700">
            <a:solidFill>
              <a:srgbClr val="D1E8F0"/>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2"/>
          <p:cNvSpPr/>
          <p:nvPr/>
        </p:nvSpPr>
        <p:spPr>
          <a:xfrm>
            <a:off x="320040" y="4005072"/>
            <a:ext cx="85039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950"/>
              <a:buFont typeface="Calibri"/>
              <a:buNone/>
            </a:pPr>
            <a:r>
              <a:rPr b="1" i="0" lang="en-US" sz="950" u="none" cap="none" strike="noStrike">
                <a:solidFill>
                  <a:srgbClr val="0D1B2A"/>
                </a:solidFill>
                <a:latin typeface="Calibri"/>
                <a:ea typeface="Calibri"/>
                <a:cs typeface="Calibri"/>
                <a:sym typeface="Calibri"/>
              </a:rPr>
              <a:t>Top Safety Complexity Drugs  (not intrinsic danger — reflects interaction &amp; CYP breadth)</a:t>
            </a:r>
            <a:endParaRPr b="0" i="0" sz="950" u="none" cap="none" strike="noStrike">
              <a:solidFill>
                <a:schemeClr val="dk1"/>
              </a:solidFill>
              <a:latin typeface="Calibri"/>
              <a:ea typeface="Calibri"/>
              <a:cs typeface="Calibri"/>
              <a:sym typeface="Calibri"/>
            </a:endParaRPr>
          </a:p>
        </p:txBody>
      </p:sp>
      <p:graphicFrame>
        <p:nvGraphicFramePr>
          <p:cNvPr id="212" name="Google Shape;212;p12"/>
          <p:cNvGraphicFramePr/>
          <p:nvPr/>
        </p:nvGraphicFramePr>
        <p:xfrm>
          <a:off x="320040" y="4279392"/>
          <a:ext cx="3000000" cy="3000000"/>
        </p:xfrm>
        <a:graphic>
          <a:graphicData uri="http://schemas.openxmlformats.org/drawingml/2006/table">
            <a:tbl>
              <a:tblPr>
                <a:noFill/>
                <a:tableStyleId>{BC8370DE-3B35-4972-80C1-57DEEA1FF4D5}</a:tableStyleId>
              </a:tblPr>
              <a:tblGrid>
                <a:gridCol w="2011675"/>
                <a:gridCol w="1371600"/>
                <a:gridCol w="2011675"/>
                <a:gridCol w="1371600"/>
                <a:gridCol w="1737350"/>
              </a:tblGrid>
              <a:tr h="219450">
                <a:tc>
                  <a:txBody>
                    <a:bodyPr/>
                    <a:lstStyle/>
                    <a:p>
                      <a:pPr indent="0" lvl="0" marL="0" marR="0" rtl="0" algn="l">
                        <a:spcBef>
                          <a:spcPts val="0"/>
                        </a:spcBef>
                        <a:spcAft>
                          <a:spcPts val="0"/>
                        </a:spcAft>
                        <a:buClr>
                          <a:srgbClr val="FFFFFF"/>
                        </a:buClr>
                        <a:buSzPts val="800"/>
                        <a:buFont typeface="Calibri"/>
                        <a:buNone/>
                      </a:pPr>
                      <a:r>
                        <a:rPr b="1" lang="en-US" sz="800" u="none" cap="none" strike="noStrike">
                          <a:solidFill>
                            <a:srgbClr val="FFFFFF"/>
                          </a:solidFill>
                        </a:rPr>
                        <a:t>Drug</a:t>
                      </a:r>
                      <a:endParaRPr sz="80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solidFill>
                      <a:srgbClr val="0A7EA4"/>
                    </a:solidFill>
                  </a:tcPr>
                </a:tc>
                <a:tc>
                  <a:txBody>
                    <a:bodyPr/>
                    <a:lstStyle/>
                    <a:p>
                      <a:pPr indent="0" lvl="0" marL="0" marR="0" rtl="0" algn="l">
                        <a:spcBef>
                          <a:spcPts val="0"/>
                        </a:spcBef>
                        <a:spcAft>
                          <a:spcPts val="0"/>
                        </a:spcAft>
                        <a:buClr>
                          <a:srgbClr val="FFFFFF"/>
                        </a:buClr>
                        <a:buSzPts val="800"/>
                        <a:buFont typeface="Calibri"/>
                        <a:buNone/>
                      </a:pPr>
                      <a:r>
                        <a:rPr b="1" lang="en-US" sz="800" u="none" cap="none" strike="noStrike">
                          <a:solidFill>
                            <a:srgbClr val="FFFFFF"/>
                          </a:solidFill>
                        </a:rPr>
                        <a:t>DrugBank ID</a:t>
                      </a:r>
                      <a:endParaRPr sz="80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solidFill>
                      <a:srgbClr val="0A7EA4"/>
                    </a:solidFill>
                  </a:tcPr>
                </a:tc>
                <a:tc>
                  <a:txBody>
                    <a:bodyPr/>
                    <a:lstStyle/>
                    <a:p>
                      <a:pPr indent="0" lvl="0" marL="0" marR="0" rtl="0" algn="l">
                        <a:spcBef>
                          <a:spcPts val="0"/>
                        </a:spcBef>
                        <a:spcAft>
                          <a:spcPts val="0"/>
                        </a:spcAft>
                        <a:buClr>
                          <a:srgbClr val="FFFFFF"/>
                        </a:buClr>
                        <a:buSzPts val="800"/>
                        <a:buFont typeface="Calibri"/>
                        <a:buNone/>
                      </a:pPr>
                      <a:r>
                        <a:rPr b="1" lang="en-US" sz="800" u="none" cap="none" strike="noStrike">
                          <a:solidFill>
                            <a:srgbClr val="FFFFFF"/>
                          </a:solidFill>
                        </a:rPr>
                        <a:t>Total Interactions</a:t>
                      </a:r>
                      <a:endParaRPr sz="80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solidFill>
                      <a:srgbClr val="0A7EA4"/>
                    </a:solidFill>
                  </a:tcPr>
                </a:tc>
                <a:tc>
                  <a:txBody>
                    <a:bodyPr/>
                    <a:lstStyle/>
                    <a:p>
                      <a:pPr indent="0" lvl="0" marL="0" marR="0" rtl="0" algn="l">
                        <a:spcBef>
                          <a:spcPts val="0"/>
                        </a:spcBef>
                        <a:spcAft>
                          <a:spcPts val="0"/>
                        </a:spcAft>
                        <a:buClr>
                          <a:srgbClr val="FFFFFF"/>
                        </a:buClr>
                        <a:buSzPts val="800"/>
                        <a:buFont typeface="Calibri"/>
                        <a:buNone/>
                      </a:pPr>
                      <a:r>
                        <a:rPr b="1" lang="en-US" sz="800" u="none" cap="none" strike="noStrike">
                          <a:solidFill>
                            <a:srgbClr val="FFFFFF"/>
                          </a:solidFill>
                        </a:rPr>
                        <a:t>Unique CYP</a:t>
                      </a:r>
                      <a:endParaRPr sz="80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solidFill>
                      <a:srgbClr val="0A7EA4"/>
                    </a:solidFill>
                  </a:tcPr>
                </a:tc>
                <a:tc>
                  <a:txBody>
                    <a:bodyPr/>
                    <a:lstStyle/>
                    <a:p>
                      <a:pPr indent="0" lvl="0" marL="0" marR="0" rtl="0" algn="l">
                        <a:spcBef>
                          <a:spcPts val="0"/>
                        </a:spcBef>
                        <a:spcAft>
                          <a:spcPts val="0"/>
                        </a:spcAft>
                        <a:buClr>
                          <a:srgbClr val="FFFFFF"/>
                        </a:buClr>
                        <a:buSzPts val="800"/>
                        <a:buFont typeface="Calibri"/>
                        <a:buNone/>
                      </a:pPr>
                      <a:r>
                        <a:rPr b="1" lang="en-US" sz="800" u="none" cap="none" strike="noStrike">
                          <a:solidFill>
                            <a:srgbClr val="FFFFFF"/>
                          </a:solidFill>
                        </a:rPr>
                        <a:t>Safety Score</a:t>
                      </a:r>
                      <a:endParaRPr sz="80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solidFill>
                      <a:srgbClr val="0A7EA4"/>
                    </a:solidFill>
                  </a:tcPr>
                </a:tc>
              </a:tr>
              <a:tr h="219450">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rPr>
                        <a:t>Cannabidiol</a:t>
                      </a:r>
                      <a:endParaRPr sz="80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rPr>
                        <a:t>DB09061</a:t>
                      </a:r>
                      <a:endParaRPr sz="80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rPr>
                        <a:t>3,636</a:t>
                      </a:r>
                      <a:endParaRPr sz="80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rPr>
                        <a:t>14</a:t>
                      </a:r>
                      <a:endParaRPr sz="80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rPr>
                        <a:t>15.20</a:t>
                      </a:r>
                      <a:endParaRPr sz="80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r>
              <a:tr h="219450">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rPr>
                        <a:t>Ketoconazole</a:t>
                      </a:r>
                      <a:endParaRPr sz="80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rPr>
                        <a:t>DB01026</a:t>
                      </a:r>
                      <a:endParaRPr sz="80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rPr>
                        <a:t>3,034</a:t>
                      </a:r>
                      <a:endParaRPr sz="80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rPr>
                        <a:t>14</a:t>
                      </a:r>
                      <a:endParaRPr sz="80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rPr>
                        <a:t>15.02</a:t>
                      </a:r>
                      <a:endParaRPr sz="80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r>
              <a:tr h="219450">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rPr>
                        <a:t>Phenytoin</a:t>
                      </a:r>
                      <a:endParaRPr sz="80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rPr>
                        <a:t>DB00252</a:t>
                      </a:r>
                      <a:endParaRPr sz="80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rPr>
                        <a:t>4,073</a:t>
                      </a:r>
                      <a:endParaRPr sz="80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rPr>
                        <a:t>13</a:t>
                      </a:r>
                      <a:endParaRPr sz="80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rPr>
                        <a:t>14.81</a:t>
                      </a:r>
                      <a:endParaRPr sz="80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r>
              <a:tr h="219450">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rPr>
                        <a:t>Phenobarbital</a:t>
                      </a:r>
                      <a:endParaRPr sz="80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rPr>
                        <a:t>DB01174</a:t>
                      </a:r>
                      <a:endParaRPr sz="80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rPr>
                        <a:t>3,884</a:t>
                      </a:r>
                      <a:endParaRPr sz="80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rPr>
                        <a:t>13</a:t>
                      </a:r>
                      <a:endParaRPr sz="80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rPr>
                        <a:t>14.76</a:t>
                      </a:r>
                      <a:endParaRPr sz="80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r>
              <a:tr h="219450">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rPr>
                        <a:t>Tamoxifen</a:t>
                      </a:r>
                      <a:endParaRPr sz="80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rPr>
                        <a:t>DB00675</a:t>
                      </a:r>
                      <a:endParaRPr sz="80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rPr>
                        <a:t>3,004</a:t>
                      </a:r>
                      <a:endParaRPr sz="80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rPr>
                        <a:t>13</a:t>
                      </a:r>
                      <a:endParaRPr sz="80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800"/>
                        <a:buFont typeface="Calibri"/>
                        <a:buNone/>
                      </a:pPr>
                      <a:r>
                        <a:rPr lang="en-US" sz="800" u="none" cap="none" strike="noStrike">
                          <a:solidFill>
                            <a:srgbClr val="000000"/>
                          </a:solidFill>
                        </a:rPr>
                        <a:t>14.51</a:t>
                      </a:r>
                      <a:endParaRPr sz="800" u="none" cap="none" strike="noStrike"/>
                    </a:p>
                  </a:txBody>
                  <a:tcPr marT="45725" marB="45725" marR="91450" marL="91450">
                    <a:lnL cap="flat" cmpd="sng" w="9525">
                      <a:solidFill>
                        <a:srgbClr val="D1E8F0"/>
                      </a:solidFill>
                      <a:prstDash val="solid"/>
                      <a:round/>
                      <a:headEnd len="sm" w="sm" type="none"/>
                      <a:tailEnd len="sm" w="sm" type="none"/>
                    </a:lnL>
                    <a:lnR cap="flat" cmpd="sng" w="9525">
                      <a:solidFill>
                        <a:srgbClr val="D1E8F0"/>
                      </a:solidFill>
                      <a:prstDash val="solid"/>
                      <a:round/>
                      <a:headEnd len="sm" w="sm" type="none"/>
                      <a:tailEnd len="sm" w="sm" type="none"/>
                    </a:lnR>
                    <a:lnT cap="flat" cmpd="sng" w="9525">
                      <a:solidFill>
                        <a:srgbClr val="D1E8F0"/>
                      </a:solidFill>
                      <a:prstDash val="solid"/>
                      <a:round/>
                      <a:headEnd len="sm" w="sm" type="none"/>
                      <a:tailEnd len="sm" w="sm" type="none"/>
                    </a:lnT>
                    <a:lnB cap="flat" cmpd="sng" w="9525">
                      <a:solidFill>
                        <a:srgbClr val="D1E8F0"/>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AFB"/>
        </a:solidFill>
      </p:bgPr>
    </p:bg>
    <p:spTree>
      <p:nvGrpSpPr>
        <p:cNvPr id="217" name="Shape 217"/>
        <p:cNvGrpSpPr/>
        <p:nvPr/>
      </p:nvGrpSpPr>
      <p:grpSpPr>
        <a:xfrm>
          <a:off x="0" y="0"/>
          <a:ext cx="0" cy="0"/>
          <a:chOff x="0" y="0"/>
          <a:chExt cx="0" cy="0"/>
        </a:xfrm>
      </p:grpSpPr>
      <p:sp>
        <p:nvSpPr>
          <p:cNvPr id="218" name="Google Shape;218;p13"/>
          <p:cNvSpPr/>
          <p:nvPr/>
        </p:nvSpPr>
        <p:spPr>
          <a:xfrm>
            <a:off x="0" y="0"/>
            <a:ext cx="9144000" cy="65836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3"/>
          <p:cNvSpPr/>
          <p:nvPr/>
        </p:nvSpPr>
        <p:spPr>
          <a:xfrm>
            <a:off x="365760" y="0"/>
            <a:ext cx="822960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Data Characteristics: Sparsity &amp; Long-Tail Behavior</a:t>
            </a:r>
            <a:endParaRPr b="0" i="0" sz="2000" u="none" cap="none" strike="noStrike">
              <a:solidFill>
                <a:schemeClr val="dk1"/>
              </a:solidFill>
              <a:latin typeface="Calibri"/>
              <a:ea typeface="Calibri"/>
              <a:cs typeface="Calibri"/>
              <a:sym typeface="Calibri"/>
            </a:endParaRPr>
          </a:p>
        </p:txBody>
      </p:sp>
      <p:sp>
        <p:nvSpPr>
          <p:cNvPr id="220" name="Google Shape;220;p13"/>
          <p:cNvSpPr/>
          <p:nvPr/>
        </p:nvSpPr>
        <p:spPr>
          <a:xfrm>
            <a:off x="228600" y="804672"/>
            <a:ext cx="4206240" cy="4114800"/>
          </a:xfrm>
          <a:prstGeom prst="rect">
            <a:avLst/>
          </a:prstGeom>
          <a:solidFill>
            <a:srgbClr val="FFFFFF"/>
          </a:solidFill>
          <a:ln cap="flat" cmpd="sng" w="12700">
            <a:solidFill>
              <a:srgbClr val="D1E8F0"/>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3"/>
          <p:cNvSpPr/>
          <p:nvPr/>
        </p:nvSpPr>
        <p:spPr>
          <a:xfrm>
            <a:off x="228600" y="804672"/>
            <a:ext cx="64008" cy="4114800"/>
          </a:xfrm>
          <a:prstGeom prst="rect">
            <a:avLst/>
          </a:prstGeom>
          <a:solidFill>
            <a:srgbClr val="1A6A8C"/>
          </a:solidFill>
          <a:ln cap="flat" cmpd="sng" w="12700">
            <a:solidFill>
              <a:srgbClr val="1A6A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3"/>
          <p:cNvSpPr/>
          <p:nvPr/>
        </p:nvSpPr>
        <p:spPr>
          <a:xfrm>
            <a:off x="411480" y="877824"/>
            <a:ext cx="38862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6A8C"/>
              </a:buClr>
              <a:buSzPts val="1500"/>
              <a:buFont typeface="Calibri"/>
              <a:buNone/>
            </a:pPr>
            <a:r>
              <a:rPr b="1" i="0" lang="en-US" sz="1500" u="none" cap="none" strike="noStrike">
                <a:solidFill>
                  <a:srgbClr val="1A6A8C"/>
                </a:solidFill>
                <a:latin typeface="Calibri"/>
                <a:ea typeface="Calibri"/>
                <a:cs typeface="Calibri"/>
                <a:sym typeface="Calibri"/>
              </a:rPr>
              <a:t>Sparsity</a:t>
            </a:r>
            <a:endParaRPr b="0" i="0" sz="1500" u="none" cap="none" strike="noStrike">
              <a:solidFill>
                <a:schemeClr val="dk1"/>
              </a:solidFill>
              <a:latin typeface="Calibri"/>
              <a:ea typeface="Calibri"/>
              <a:cs typeface="Calibri"/>
              <a:sym typeface="Calibri"/>
            </a:endParaRPr>
          </a:p>
        </p:txBody>
      </p:sp>
      <p:sp>
        <p:nvSpPr>
          <p:cNvPr id="223" name="Google Shape;223;p13"/>
          <p:cNvSpPr/>
          <p:nvPr/>
        </p:nvSpPr>
        <p:spPr>
          <a:xfrm>
            <a:off x="411480" y="1261872"/>
            <a:ext cx="38862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50"/>
              <a:buFont typeface="Calibri"/>
              <a:buNone/>
            </a:pPr>
            <a:r>
              <a:rPr b="0" i="1" lang="en-US" sz="950" u="none" cap="none" strike="noStrike">
                <a:solidFill>
                  <a:srgbClr val="64748B"/>
                </a:solidFill>
                <a:latin typeface="Calibri"/>
                <a:ea typeface="Calibri"/>
                <a:cs typeface="Calibri"/>
                <a:sym typeface="Calibri"/>
              </a:rPr>
              <a:t>Large number of drugs with zero or near-zero recorded interaction/metabolism data.</a:t>
            </a:r>
            <a:endParaRPr b="0" i="0" sz="950" u="none" cap="none" strike="noStrike">
              <a:solidFill>
                <a:schemeClr val="dk1"/>
              </a:solidFill>
              <a:latin typeface="Calibri"/>
              <a:ea typeface="Calibri"/>
              <a:cs typeface="Calibri"/>
              <a:sym typeface="Calibri"/>
            </a:endParaRPr>
          </a:p>
        </p:txBody>
      </p:sp>
      <p:sp>
        <p:nvSpPr>
          <p:cNvPr id="224" name="Google Shape;224;p13"/>
          <p:cNvSpPr/>
          <p:nvPr/>
        </p:nvSpPr>
        <p:spPr>
          <a:xfrm>
            <a:off x="411480" y="1874520"/>
            <a:ext cx="3886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100"/>
              <a:buFont typeface="Calibri"/>
              <a:buNone/>
            </a:pPr>
            <a:r>
              <a:rPr b="1" i="0" lang="en-US" sz="1100" u="none" cap="none" strike="noStrike">
                <a:solidFill>
                  <a:srgbClr val="0D1B2A"/>
                </a:solidFill>
                <a:latin typeface="Calibri"/>
                <a:ea typeface="Calibri"/>
                <a:cs typeface="Calibri"/>
                <a:sym typeface="Calibri"/>
              </a:rPr>
              <a:t>Why Sparsity Occurs</a:t>
            </a:r>
            <a:endParaRPr b="0" i="0" sz="1100" u="none" cap="none" strike="noStrike">
              <a:solidFill>
                <a:schemeClr val="dk1"/>
              </a:solidFill>
              <a:latin typeface="Calibri"/>
              <a:ea typeface="Calibri"/>
              <a:cs typeface="Calibri"/>
              <a:sym typeface="Calibri"/>
            </a:endParaRPr>
          </a:p>
        </p:txBody>
      </p:sp>
      <p:sp>
        <p:nvSpPr>
          <p:cNvPr id="225" name="Google Shape;225;p13"/>
          <p:cNvSpPr/>
          <p:nvPr/>
        </p:nvSpPr>
        <p:spPr>
          <a:xfrm>
            <a:off x="411480" y="2176272"/>
            <a:ext cx="3886200" cy="13716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Experimental &amp; newly studied compounds</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Rare or discontinued drugs</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Niche therapeutics with limited research</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Insufficient annotation coverage</a:t>
            </a:r>
            <a:endParaRPr b="0" i="0" sz="950" u="none" cap="none" strike="noStrike">
              <a:solidFill>
                <a:schemeClr val="dk1"/>
              </a:solidFill>
              <a:latin typeface="Calibri"/>
              <a:ea typeface="Calibri"/>
              <a:cs typeface="Calibri"/>
              <a:sym typeface="Calibri"/>
            </a:endParaRPr>
          </a:p>
        </p:txBody>
      </p:sp>
      <p:sp>
        <p:nvSpPr>
          <p:cNvPr id="226" name="Google Shape;226;p13"/>
          <p:cNvSpPr/>
          <p:nvPr/>
        </p:nvSpPr>
        <p:spPr>
          <a:xfrm>
            <a:off x="393192" y="3566160"/>
            <a:ext cx="3886200" cy="1170432"/>
          </a:xfrm>
          <a:prstGeom prst="rect">
            <a:avLst/>
          </a:prstGeom>
          <a:solidFill>
            <a:srgbClr val="C8EFF7"/>
          </a:solidFill>
          <a:ln cap="flat" cmpd="sng" w="12700">
            <a:solidFill>
              <a:srgbClr val="A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3"/>
          <p:cNvSpPr/>
          <p:nvPr/>
        </p:nvSpPr>
        <p:spPr>
          <a:xfrm>
            <a:off x="521208" y="3657600"/>
            <a:ext cx="3657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7EA4"/>
              </a:buClr>
              <a:buSzPts val="950"/>
              <a:buFont typeface="Calibri"/>
              <a:buNone/>
            </a:pPr>
            <a:r>
              <a:rPr b="1" i="0" lang="en-US" sz="950" u="none" cap="none" strike="noStrike">
                <a:solidFill>
                  <a:srgbClr val="0A7EA4"/>
                </a:solidFill>
                <a:latin typeface="Calibri"/>
                <a:ea typeface="Calibri"/>
                <a:cs typeface="Calibri"/>
                <a:sym typeface="Calibri"/>
              </a:rPr>
              <a:t>Implication for CompoundIQ</a:t>
            </a:r>
            <a:endParaRPr b="0" i="0" sz="950" u="none" cap="none" strike="noStrike">
              <a:solidFill>
                <a:schemeClr val="dk1"/>
              </a:solidFill>
              <a:latin typeface="Calibri"/>
              <a:ea typeface="Calibri"/>
              <a:cs typeface="Calibri"/>
              <a:sym typeface="Calibri"/>
            </a:endParaRPr>
          </a:p>
        </p:txBody>
      </p:sp>
      <p:sp>
        <p:nvSpPr>
          <p:cNvPr id="228" name="Google Shape;228;p13"/>
          <p:cNvSpPr/>
          <p:nvPr/>
        </p:nvSpPr>
        <p:spPr>
          <a:xfrm>
            <a:off x="521208" y="3931920"/>
            <a:ext cx="3657600" cy="713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900"/>
              <a:buFont typeface="Calibri"/>
              <a:buNone/>
            </a:pPr>
            <a:r>
              <a:rPr b="0" i="0" lang="en-US" sz="900" u="none" cap="none" strike="noStrike">
                <a:solidFill>
                  <a:srgbClr val="0D1B2A"/>
                </a:solidFill>
                <a:latin typeface="Calibri"/>
                <a:ea typeface="Calibri"/>
                <a:cs typeface="Calibri"/>
                <a:sym typeface="Calibri"/>
              </a:rPr>
              <a:t>Zero-imputation and active-drug subsetting (4,657 of 19,830) were applied to preserve signal quality.</a:t>
            </a:r>
            <a:endParaRPr b="0" i="0" sz="900" u="none" cap="none" strike="noStrike">
              <a:solidFill>
                <a:schemeClr val="dk1"/>
              </a:solidFill>
              <a:latin typeface="Calibri"/>
              <a:ea typeface="Calibri"/>
              <a:cs typeface="Calibri"/>
              <a:sym typeface="Calibri"/>
            </a:endParaRPr>
          </a:p>
        </p:txBody>
      </p:sp>
      <p:sp>
        <p:nvSpPr>
          <p:cNvPr id="229" name="Google Shape;229;p13"/>
          <p:cNvSpPr/>
          <p:nvPr/>
        </p:nvSpPr>
        <p:spPr>
          <a:xfrm>
            <a:off x="4663440" y="804672"/>
            <a:ext cx="4206240" cy="4114800"/>
          </a:xfrm>
          <a:prstGeom prst="rect">
            <a:avLst/>
          </a:prstGeom>
          <a:solidFill>
            <a:srgbClr val="FFFFFF"/>
          </a:solidFill>
          <a:ln cap="flat" cmpd="sng" w="12700">
            <a:solidFill>
              <a:srgbClr val="D1E8F0"/>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3"/>
          <p:cNvSpPr/>
          <p:nvPr/>
        </p:nvSpPr>
        <p:spPr>
          <a:xfrm>
            <a:off x="4663440" y="804672"/>
            <a:ext cx="64008" cy="4114800"/>
          </a:xfrm>
          <a:prstGeom prst="rect">
            <a:avLst/>
          </a:prstGeom>
          <a:solidFill>
            <a:srgbClr val="145E4E"/>
          </a:solidFill>
          <a:ln cap="flat" cmpd="sng" w="12700">
            <a:solidFill>
              <a:srgbClr val="145E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3"/>
          <p:cNvSpPr/>
          <p:nvPr/>
        </p:nvSpPr>
        <p:spPr>
          <a:xfrm>
            <a:off x="4846320" y="877824"/>
            <a:ext cx="38862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45E4E"/>
              </a:buClr>
              <a:buSzPts val="1500"/>
              <a:buFont typeface="Calibri"/>
              <a:buNone/>
            </a:pPr>
            <a:r>
              <a:rPr b="1" i="0" lang="en-US" sz="1500" u="none" cap="none" strike="noStrike">
                <a:solidFill>
                  <a:srgbClr val="145E4E"/>
                </a:solidFill>
                <a:latin typeface="Calibri"/>
                <a:ea typeface="Calibri"/>
                <a:cs typeface="Calibri"/>
                <a:sym typeface="Calibri"/>
              </a:rPr>
              <a:t>Long-Tail Distribution</a:t>
            </a:r>
            <a:endParaRPr b="0" i="0" sz="1500" u="none" cap="none" strike="noStrike">
              <a:solidFill>
                <a:schemeClr val="dk1"/>
              </a:solidFill>
              <a:latin typeface="Calibri"/>
              <a:ea typeface="Calibri"/>
              <a:cs typeface="Calibri"/>
              <a:sym typeface="Calibri"/>
            </a:endParaRPr>
          </a:p>
        </p:txBody>
      </p:sp>
      <p:sp>
        <p:nvSpPr>
          <p:cNvPr id="232" name="Google Shape;232;p13"/>
          <p:cNvSpPr/>
          <p:nvPr/>
        </p:nvSpPr>
        <p:spPr>
          <a:xfrm>
            <a:off x="4846320" y="1261872"/>
            <a:ext cx="38862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50"/>
              <a:buFont typeface="Calibri"/>
              <a:buNone/>
            </a:pPr>
            <a:r>
              <a:rPr b="0" i="1" lang="en-US" sz="950" u="none" cap="none" strike="noStrike">
                <a:solidFill>
                  <a:srgbClr val="64748B"/>
                </a:solidFill>
                <a:latin typeface="Calibri"/>
                <a:ea typeface="Calibri"/>
                <a:cs typeface="Calibri"/>
                <a:sym typeface="Calibri"/>
              </a:rPr>
              <a:t>A small subset of highly studied drugs accounts for most documented interactions and annotations.</a:t>
            </a:r>
            <a:endParaRPr b="0" i="0" sz="950" u="none" cap="none" strike="noStrike">
              <a:solidFill>
                <a:schemeClr val="dk1"/>
              </a:solidFill>
              <a:latin typeface="Calibri"/>
              <a:ea typeface="Calibri"/>
              <a:cs typeface="Calibri"/>
              <a:sym typeface="Calibri"/>
            </a:endParaRPr>
          </a:p>
        </p:txBody>
      </p:sp>
      <p:sp>
        <p:nvSpPr>
          <p:cNvPr id="233" name="Google Shape;233;p13"/>
          <p:cNvSpPr/>
          <p:nvPr/>
        </p:nvSpPr>
        <p:spPr>
          <a:xfrm>
            <a:off x="4846320" y="1874520"/>
            <a:ext cx="3886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100"/>
              <a:buFont typeface="Calibri"/>
              <a:buNone/>
            </a:pPr>
            <a:r>
              <a:rPr b="1" i="0" lang="en-US" sz="1100" u="none" cap="none" strike="noStrike">
                <a:solidFill>
                  <a:srgbClr val="0D1B2A"/>
                </a:solidFill>
                <a:latin typeface="Calibri"/>
                <a:ea typeface="Calibri"/>
                <a:cs typeface="Calibri"/>
                <a:sym typeface="Calibri"/>
              </a:rPr>
              <a:t>Why Long-Tail Occurs</a:t>
            </a:r>
            <a:endParaRPr b="0" i="0" sz="1100" u="none" cap="none" strike="noStrike">
              <a:solidFill>
                <a:schemeClr val="dk1"/>
              </a:solidFill>
              <a:latin typeface="Calibri"/>
              <a:ea typeface="Calibri"/>
              <a:cs typeface="Calibri"/>
              <a:sym typeface="Calibri"/>
            </a:endParaRPr>
          </a:p>
        </p:txBody>
      </p:sp>
      <p:sp>
        <p:nvSpPr>
          <p:cNvPr id="234" name="Google Shape;234;p13"/>
          <p:cNvSpPr/>
          <p:nvPr/>
        </p:nvSpPr>
        <p:spPr>
          <a:xfrm>
            <a:off x="4846320" y="2176272"/>
            <a:ext cx="3886200" cy="13716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Research focuses on common &amp; older drugs</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Clinically important drugs accumulate citations</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More reported interactions over decades</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Regulatory attention drives annotation depth</a:t>
            </a:r>
            <a:endParaRPr b="0" i="0" sz="950" u="none" cap="none" strike="noStrike">
              <a:solidFill>
                <a:schemeClr val="dk1"/>
              </a:solidFill>
              <a:latin typeface="Calibri"/>
              <a:ea typeface="Calibri"/>
              <a:cs typeface="Calibri"/>
              <a:sym typeface="Calibri"/>
            </a:endParaRPr>
          </a:p>
        </p:txBody>
      </p:sp>
      <p:sp>
        <p:nvSpPr>
          <p:cNvPr id="235" name="Google Shape;235;p13"/>
          <p:cNvSpPr/>
          <p:nvPr/>
        </p:nvSpPr>
        <p:spPr>
          <a:xfrm>
            <a:off x="4828032" y="3566160"/>
            <a:ext cx="3886200" cy="1170432"/>
          </a:xfrm>
          <a:prstGeom prst="rect">
            <a:avLst/>
          </a:prstGeom>
          <a:solidFill>
            <a:srgbClr val="C8EFF7"/>
          </a:solidFill>
          <a:ln cap="flat" cmpd="sng" w="12700">
            <a:solidFill>
              <a:srgbClr val="A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3"/>
          <p:cNvSpPr/>
          <p:nvPr/>
        </p:nvSpPr>
        <p:spPr>
          <a:xfrm>
            <a:off x="4956048" y="3657600"/>
            <a:ext cx="3657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7EA4"/>
              </a:buClr>
              <a:buSzPts val="950"/>
              <a:buFont typeface="Calibri"/>
              <a:buNone/>
            </a:pPr>
            <a:r>
              <a:rPr b="1" i="0" lang="en-US" sz="950" u="none" cap="none" strike="noStrike">
                <a:solidFill>
                  <a:srgbClr val="0A7EA4"/>
                </a:solidFill>
                <a:latin typeface="Calibri"/>
                <a:ea typeface="Calibri"/>
                <a:cs typeface="Calibri"/>
                <a:sym typeface="Calibri"/>
              </a:rPr>
              <a:t>Implication for CompoundIQ</a:t>
            </a:r>
            <a:endParaRPr b="0" i="0" sz="950" u="none" cap="none" strike="noStrike">
              <a:solidFill>
                <a:schemeClr val="dk1"/>
              </a:solidFill>
              <a:latin typeface="Calibri"/>
              <a:ea typeface="Calibri"/>
              <a:cs typeface="Calibri"/>
              <a:sym typeface="Calibri"/>
            </a:endParaRPr>
          </a:p>
        </p:txBody>
      </p:sp>
      <p:sp>
        <p:nvSpPr>
          <p:cNvPr id="237" name="Google Shape;237;p13"/>
          <p:cNvSpPr/>
          <p:nvPr/>
        </p:nvSpPr>
        <p:spPr>
          <a:xfrm>
            <a:off x="4956048" y="3931920"/>
            <a:ext cx="3657600" cy="7132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900"/>
              <a:buFont typeface="Calibri"/>
              <a:buNone/>
            </a:pPr>
            <a:r>
              <a:rPr b="0" i="0" lang="en-US" sz="900" u="none" cap="none" strike="noStrike">
                <a:solidFill>
                  <a:srgbClr val="0D1B2A"/>
                </a:solidFill>
                <a:latin typeface="Calibri"/>
                <a:ea typeface="Calibri"/>
                <a:cs typeface="Calibri"/>
                <a:sym typeface="Calibri"/>
              </a:rPr>
              <a:t>Model training leverages well-annotated drugs while the pipeline remains extensible as annotations grow.</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242" name="Shape 242"/>
        <p:cNvGrpSpPr/>
        <p:nvPr/>
      </p:nvGrpSpPr>
      <p:grpSpPr>
        <a:xfrm>
          <a:off x="0" y="0"/>
          <a:ext cx="0" cy="0"/>
          <a:chOff x="0" y="0"/>
          <a:chExt cx="0" cy="0"/>
        </a:xfrm>
      </p:grpSpPr>
      <p:sp>
        <p:nvSpPr>
          <p:cNvPr id="243" name="Google Shape;243;p14"/>
          <p:cNvSpPr/>
          <p:nvPr/>
        </p:nvSpPr>
        <p:spPr>
          <a:xfrm>
            <a:off x="0" y="0"/>
            <a:ext cx="9144000" cy="658368"/>
          </a:xfrm>
          <a:prstGeom prst="rect">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4"/>
          <p:cNvSpPr/>
          <p:nvPr/>
        </p:nvSpPr>
        <p:spPr>
          <a:xfrm>
            <a:off x="365760" y="0"/>
            <a:ext cx="822960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Code Deep-Dive  |  Key Implementation Snippets</a:t>
            </a:r>
            <a:endParaRPr b="0" i="0" sz="2000" u="none" cap="none" strike="noStrike">
              <a:solidFill>
                <a:schemeClr val="dk1"/>
              </a:solidFill>
              <a:latin typeface="Calibri"/>
              <a:ea typeface="Calibri"/>
              <a:cs typeface="Calibri"/>
              <a:sym typeface="Calibri"/>
            </a:endParaRPr>
          </a:p>
        </p:txBody>
      </p:sp>
      <p:sp>
        <p:nvSpPr>
          <p:cNvPr id="245" name="Google Shape;245;p14"/>
          <p:cNvSpPr/>
          <p:nvPr/>
        </p:nvSpPr>
        <p:spPr>
          <a:xfrm>
            <a:off x="228600" y="804672"/>
            <a:ext cx="4224528"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EFF7"/>
              </a:buClr>
              <a:buSzPts val="1000"/>
              <a:buFont typeface="Calibri"/>
              <a:buNone/>
            </a:pPr>
            <a:r>
              <a:rPr b="1" i="0" lang="en-US" sz="1000" u="none" cap="none" strike="noStrike">
                <a:solidFill>
                  <a:srgbClr val="C8EFF7"/>
                </a:solidFill>
                <a:latin typeface="Calibri"/>
                <a:ea typeface="Calibri"/>
                <a:cs typeface="Calibri"/>
                <a:sym typeface="Calibri"/>
              </a:rPr>
              <a:t>TWOSIDES Streaming Download (738 MB)</a:t>
            </a:r>
            <a:endParaRPr b="0" i="0" sz="1000" u="none" cap="none" strike="noStrike">
              <a:solidFill>
                <a:schemeClr val="dk1"/>
              </a:solidFill>
              <a:latin typeface="Calibri"/>
              <a:ea typeface="Calibri"/>
              <a:cs typeface="Calibri"/>
              <a:sym typeface="Calibri"/>
            </a:endParaRPr>
          </a:p>
        </p:txBody>
      </p:sp>
      <p:sp>
        <p:nvSpPr>
          <p:cNvPr id="246" name="Google Shape;246;p14"/>
          <p:cNvSpPr/>
          <p:nvPr/>
        </p:nvSpPr>
        <p:spPr>
          <a:xfrm>
            <a:off x="228600" y="1097280"/>
            <a:ext cx="4224528" cy="2240280"/>
          </a:xfrm>
          <a:prstGeom prst="rect">
            <a:avLst/>
          </a:prstGeom>
          <a:solidFill>
            <a:srgbClr val="1E2D3D"/>
          </a:solidFill>
          <a:ln cap="flat" cmpd="sng" w="12700">
            <a:solidFill>
              <a:srgbClr val="0A40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4"/>
          <p:cNvSpPr/>
          <p:nvPr/>
        </p:nvSpPr>
        <p:spPr>
          <a:xfrm>
            <a:off x="228600" y="1097280"/>
            <a:ext cx="54864" cy="2240280"/>
          </a:xfrm>
          <a:prstGeom prst="rect">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4"/>
          <p:cNvSpPr/>
          <p:nvPr/>
        </p:nvSpPr>
        <p:spPr>
          <a:xfrm>
            <a:off x="338328" y="1170432"/>
            <a:ext cx="4059936" cy="213055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url = "https://tatonettilab-resources.s3.amazonaws.com/nsides/TWOSIDES.csv.gz"</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response = requests.get(url, stream=True)</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total = int(response.headers.get('content-length', 0))</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750"/>
              <a:buFont typeface="Calibri"/>
              <a:buNone/>
            </a:pPr>
            <a:r>
              <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with open('data/raw/TWOSIDES.csv.gz', 'wb') as f:</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with tqdm(total=total, unit='B', unit_scale=True) as pbar:</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for chunk in response.iter_content(8192):</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f.write(chunk)</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pbar.update(len(chunk))</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750"/>
              <a:buFont typeface="Calibri"/>
              <a:buNone/>
            </a:pPr>
            <a:r>
              <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Decompress to CSV</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with gzip.open('data/raw/TWOSIDES.csv.gz', 'rt') as f:</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df = pd.read_csv(f)</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df.to_csv('data/raw/twosides.csv', index=False)</a:t>
            </a:r>
            <a:endParaRPr b="0" i="0" sz="750" u="none" cap="none" strike="noStrike">
              <a:solidFill>
                <a:schemeClr val="dk1"/>
              </a:solidFill>
              <a:latin typeface="Calibri"/>
              <a:ea typeface="Calibri"/>
              <a:cs typeface="Calibri"/>
              <a:sym typeface="Calibri"/>
            </a:endParaRPr>
          </a:p>
        </p:txBody>
      </p:sp>
      <p:sp>
        <p:nvSpPr>
          <p:cNvPr id="249" name="Google Shape;249;p14"/>
          <p:cNvSpPr/>
          <p:nvPr/>
        </p:nvSpPr>
        <p:spPr>
          <a:xfrm>
            <a:off x="4681728" y="804672"/>
            <a:ext cx="4224528"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EFF7"/>
              </a:buClr>
              <a:buSzPts val="1000"/>
              <a:buFont typeface="Calibri"/>
              <a:buNone/>
            </a:pPr>
            <a:r>
              <a:rPr b="1" i="0" lang="en-US" sz="1000" u="none" cap="none" strike="noStrike">
                <a:solidFill>
                  <a:srgbClr val="C8EFF7"/>
                </a:solidFill>
                <a:latin typeface="Calibri"/>
                <a:ea typeface="Calibri"/>
                <a:cs typeface="Calibri"/>
                <a:sym typeface="Calibri"/>
              </a:rPr>
              <a:t>Feature Engineering Pipeline</a:t>
            </a:r>
            <a:endParaRPr b="0" i="0" sz="1000" u="none" cap="none" strike="noStrike">
              <a:solidFill>
                <a:schemeClr val="dk1"/>
              </a:solidFill>
              <a:latin typeface="Calibri"/>
              <a:ea typeface="Calibri"/>
              <a:cs typeface="Calibri"/>
              <a:sym typeface="Calibri"/>
            </a:endParaRPr>
          </a:p>
        </p:txBody>
      </p:sp>
      <p:sp>
        <p:nvSpPr>
          <p:cNvPr id="250" name="Google Shape;250;p14"/>
          <p:cNvSpPr/>
          <p:nvPr/>
        </p:nvSpPr>
        <p:spPr>
          <a:xfrm>
            <a:off x="4681728" y="1097280"/>
            <a:ext cx="4224528" cy="2240280"/>
          </a:xfrm>
          <a:prstGeom prst="rect">
            <a:avLst/>
          </a:prstGeom>
          <a:solidFill>
            <a:srgbClr val="1E2D3D"/>
          </a:solidFill>
          <a:ln cap="flat" cmpd="sng" w="12700">
            <a:solidFill>
              <a:srgbClr val="0A40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4"/>
          <p:cNvSpPr/>
          <p:nvPr/>
        </p:nvSpPr>
        <p:spPr>
          <a:xfrm>
            <a:off x="4681728" y="1097280"/>
            <a:ext cx="54864" cy="2240280"/>
          </a:xfrm>
          <a:prstGeom prst="rect">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4"/>
          <p:cNvSpPr/>
          <p:nvPr/>
        </p:nvSpPr>
        <p:spPr>
          <a:xfrm>
            <a:off x="4791456" y="1170432"/>
            <a:ext cx="4059936" cy="213055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Merge interaction counts from both directions</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df_feats = (</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df_interactions</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.groupby('drugbank_id_subject')['drugbank_id_affected']</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.count()</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.reset_index()</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.rename(columns={'drugbank_id_affected': 'n_as_subject'})</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750"/>
              <a:buFont typeface="Calibri"/>
              <a:buNone/>
            </a:pPr>
            <a:r>
              <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Merge CYP enzyme counts</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df_cyp = (</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df_enzymes[df_enzymes['enzyme'].str.startswith('CYP')]</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.groupby('drugbank_id')['enzyme']</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.nunique()</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.reset_index()</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.rename(columns={'enzyme': 'n_unique_cyp'})</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750"/>
              <a:buFont typeface="Calibri"/>
              <a:buNone/>
            </a:pPr>
            <a:r>
              <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Composite safety score</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df['safety_complexity_score'] = (</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np.log1p(df['total_interactions']) + df['n_unique_cyp']</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a:t>
            </a:r>
            <a:endParaRPr b="0" i="0" sz="750" u="none" cap="none" strike="noStrike">
              <a:solidFill>
                <a:schemeClr val="dk1"/>
              </a:solidFill>
              <a:latin typeface="Calibri"/>
              <a:ea typeface="Calibri"/>
              <a:cs typeface="Calibri"/>
              <a:sym typeface="Calibri"/>
            </a:endParaRPr>
          </a:p>
        </p:txBody>
      </p:sp>
      <p:sp>
        <p:nvSpPr>
          <p:cNvPr id="253" name="Google Shape;253;p14"/>
          <p:cNvSpPr/>
          <p:nvPr/>
        </p:nvSpPr>
        <p:spPr>
          <a:xfrm>
            <a:off x="228600" y="3246120"/>
            <a:ext cx="8686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EFF7"/>
              </a:buClr>
              <a:buSzPts val="1000"/>
              <a:buFont typeface="Calibri"/>
              <a:buNone/>
            </a:pPr>
            <a:r>
              <a:rPr b="1" i="0" lang="en-US" sz="1000" u="none" cap="none" strike="noStrike">
                <a:solidFill>
                  <a:srgbClr val="C8EFF7"/>
                </a:solidFill>
                <a:latin typeface="Calibri"/>
                <a:ea typeface="Calibri"/>
                <a:cs typeface="Calibri"/>
                <a:sym typeface="Calibri"/>
              </a:rPr>
              <a:t>Verification Output</a:t>
            </a:r>
            <a:endParaRPr b="0" i="0" sz="1000" u="none" cap="none" strike="noStrike">
              <a:solidFill>
                <a:schemeClr val="dk1"/>
              </a:solidFill>
              <a:latin typeface="Calibri"/>
              <a:ea typeface="Calibri"/>
              <a:cs typeface="Calibri"/>
              <a:sym typeface="Calibri"/>
            </a:endParaRPr>
          </a:p>
        </p:txBody>
      </p:sp>
      <p:sp>
        <p:nvSpPr>
          <p:cNvPr id="254" name="Google Shape;254;p14"/>
          <p:cNvSpPr/>
          <p:nvPr/>
        </p:nvSpPr>
        <p:spPr>
          <a:xfrm>
            <a:off x="228600" y="3520440"/>
            <a:ext cx="8686800" cy="1417320"/>
          </a:xfrm>
          <a:prstGeom prst="rect">
            <a:avLst/>
          </a:prstGeom>
          <a:solidFill>
            <a:srgbClr val="1E2D3D"/>
          </a:solidFill>
          <a:ln cap="flat" cmpd="sng" w="12700">
            <a:solidFill>
              <a:srgbClr val="0A40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4"/>
          <p:cNvSpPr/>
          <p:nvPr/>
        </p:nvSpPr>
        <p:spPr>
          <a:xfrm>
            <a:off x="228600" y="3520440"/>
            <a:ext cx="54864" cy="1417320"/>
          </a:xfrm>
          <a:prstGeom prst="rect">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4"/>
          <p:cNvSpPr/>
          <p:nvPr/>
        </p:nvSpPr>
        <p:spPr>
          <a:xfrm>
            <a:off x="338328" y="3593592"/>
            <a:ext cx="8522208" cy="130759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WEEK 4: DATA COLLECTION COMPLETE</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ChEMBL      |  144.9 MB | 50,000 records</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SIDER       |   14.7 MB | 309,849 records</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ZINC        |    0.0 MB | 7 molecules</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Week 4 Complete – 3 Datasets Ready!</a:t>
            </a:r>
            <a:endParaRPr b="0" i="0" sz="7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261" name="Shape 261"/>
        <p:cNvGrpSpPr/>
        <p:nvPr/>
      </p:nvGrpSpPr>
      <p:grpSpPr>
        <a:xfrm>
          <a:off x="0" y="0"/>
          <a:ext cx="0" cy="0"/>
          <a:chOff x="0" y="0"/>
          <a:chExt cx="0" cy="0"/>
        </a:xfrm>
      </p:grpSpPr>
      <p:sp>
        <p:nvSpPr>
          <p:cNvPr id="262" name="Google Shape;262;p15"/>
          <p:cNvSpPr/>
          <p:nvPr/>
        </p:nvSpPr>
        <p:spPr>
          <a:xfrm>
            <a:off x="0" y="0"/>
            <a:ext cx="164592" cy="5143500"/>
          </a:xfrm>
          <a:prstGeom prst="rect">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5"/>
          <p:cNvSpPr/>
          <p:nvPr/>
        </p:nvSpPr>
        <p:spPr>
          <a:xfrm>
            <a:off x="6400800" y="3200400"/>
            <a:ext cx="4114800" cy="4114800"/>
          </a:xfrm>
          <a:prstGeom prst="ellipse">
            <a:avLst/>
          </a:prstGeom>
          <a:solidFill>
            <a:srgbClr val="0A2E42"/>
          </a:solidFill>
          <a:ln cap="flat" cmpd="sng" w="12700">
            <a:solidFill>
              <a:srgbClr val="0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5"/>
          <p:cNvSpPr/>
          <p:nvPr/>
        </p:nvSpPr>
        <p:spPr>
          <a:xfrm>
            <a:off x="411480" y="914400"/>
            <a:ext cx="73152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200"/>
              <a:buFont typeface="Calibri"/>
              <a:buNone/>
            </a:pPr>
            <a:r>
              <a:rPr b="1" i="0" lang="en-US" sz="3200" u="none" cap="none" strike="noStrike">
                <a:solidFill>
                  <a:srgbClr val="FFFFFF"/>
                </a:solidFill>
                <a:latin typeface="Calibri"/>
                <a:ea typeface="Calibri"/>
                <a:cs typeface="Calibri"/>
                <a:sym typeface="Calibri"/>
              </a:rPr>
              <a:t>Phase 2 Summary</a:t>
            </a:r>
            <a:endParaRPr b="0" i="0" sz="3200" u="none" cap="none" strike="noStrike">
              <a:solidFill>
                <a:schemeClr val="dk1"/>
              </a:solidFill>
              <a:latin typeface="Calibri"/>
              <a:ea typeface="Calibri"/>
              <a:cs typeface="Calibri"/>
              <a:sym typeface="Calibri"/>
            </a:endParaRPr>
          </a:p>
        </p:txBody>
      </p:sp>
      <p:sp>
        <p:nvSpPr>
          <p:cNvPr id="265" name="Google Shape;265;p15"/>
          <p:cNvSpPr/>
          <p:nvPr/>
        </p:nvSpPr>
        <p:spPr>
          <a:xfrm>
            <a:off x="411480" y="1508760"/>
            <a:ext cx="73152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EFF7"/>
              </a:buClr>
              <a:buSzPts val="1500"/>
              <a:buFont typeface="Calibri"/>
              <a:buNone/>
            </a:pPr>
            <a:r>
              <a:rPr b="0" i="1" lang="en-US" sz="1500" u="none" cap="none" strike="noStrike">
                <a:solidFill>
                  <a:srgbClr val="C8EFF7"/>
                </a:solidFill>
                <a:latin typeface="Calibri"/>
                <a:ea typeface="Calibri"/>
                <a:cs typeface="Calibri"/>
                <a:sym typeface="Calibri"/>
              </a:rPr>
              <a:t>Data Pipeline &amp; Exploratory Analysis Complete</a:t>
            </a:r>
            <a:endParaRPr b="0" i="0" sz="1500" u="none" cap="none" strike="noStrike">
              <a:solidFill>
                <a:schemeClr val="dk1"/>
              </a:solidFill>
              <a:latin typeface="Calibri"/>
              <a:ea typeface="Calibri"/>
              <a:cs typeface="Calibri"/>
              <a:sym typeface="Calibri"/>
            </a:endParaRPr>
          </a:p>
        </p:txBody>
      </p:sp>
      <p:sp>
        <p:nvSpPr>
          <p:cNvPr id="266" name="Google Shape;266;p15"/>
          <p:cNvSpPr/>
          <p:nvPr/>
        </p:nvSpPr>
        <p:spPr>
          <a:xfrm>
            <a:off x="411480" y="2148840"/>
            <a:ext cx="914400" cy="411480"/>
          </a:xfrm>
          <a:prstGeom prst="rect">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5"/>
          <p:cNvSpPr/>
          <p:nvPr/>
        </p:nvSpPr>
        <p:spPr>
          <a:xfrm>
            <a:off x="411480" y="2148840"/>
            <a:ext cx="9144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Week 4</a:t>
            </a:r>
            <a:endParaRPr b="0" i="0" sz="900" u="none" cap="none" strike="noStrike">
              <a:solidFill>
                <a:schemeClr val="dk1"/>
              </a:solidFill>
              <a:latin typeface="Calibri"/>
              <a:ea typeface="Calibri"/>
              <a:cs typeface="Calibri"/>
              <a:sym typeface="Calibri"/>
            </a:endParaRPr>
          </a:p>
        </p:txBody>
      </p:sp>
      <p:sp>
        <p:nvSpPr>
          <p:cNvPr id="268" name="Google Shape;268;p15"/>
          <p:cNvSpPr/>
          <p:nvPr/>
        </p:nvSpPr>
        <p:spPr>
          <a:xfrm>
            <a:off x="1463040" y="2148840"/>
            <a:ext cx="59436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EFF7"/>
              </a:buClr>
              <a:buSzPts val="1100"/>
              <a:buFont typeface="Calibri"/>
              <a:buNone/>
            </a:pPr>
            <a:r>
              <a:rPr b="0" i="0" lang="en-US" sz="1100" u="none" cap="none" strike="noStrike">
                <a:solidFill>
                  <a:srgbClr val="C8EFF7"/>
                </a:solidFill>
                <a:latin typeface="Calibri"/>
                <a:ea typeface="Calibri"/>
                <a:cs typeface="Calibri"/>
                <a:sym typeface="Calibri"/>
              </a:rPr>
              <a:t>3 primary datasets collected &amp; organized (DrugBank, SIDER, ChEMBL)</a:t>
            </a:r>
            <a:endParaRPr b="0" i="0" sz="1100" u="none" cap="none" strike="noStrike">
              <a:solidFill>
                <a:schemeClr val="dk1"/>
              </a:solidFill>
              <a:latin typeface="Calibri"/>
              <a:ea typeface="Calibri"/>
              <a:cs typeface="Calibri"/>
              <a:sym typeface="Calibri"/>
            </a:endParaRPr>
          </a:p>
        </p:txBody>
      </p:sp>
      <p:sp>
        <p:nvSpPr>
          <p:cNvPr id="269" name="Google Shape;269;p15"/>
          <p:cNvSpPr/>
          <p:nvPr/>
        </p:nvSpPr>
        <p:spPr>
          <a:xfrm>
            <a:off x="411480" y="2807208"/>
            <a:ext cx="914400" cy="411480"/>
          </a:xfrm>
          <a:prstGeom prst="rect">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5"/>
          <p:cNvSpPr/>
          <p:nvPr/>
        </p:nvSpPr>
        <p:spPr>
          <a:xfrm>
            <a:off x="411480" y="2807208"/>
            <a:ext cx="9144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Week 5</a:t>
            </a:r>
            <a:endParaRPr b="0" i="0" sz="900" u="none" cap="none" strike="noStrike">
              <a:solidFill>
                <a:schemeClr val="dk1"/>
              </a:solidFill>
              <a:latin typeface="Calibri"/>
              <a:ea typeface="Calibri"/>
              <a:cs typeface="Calibri"/>
              <a:sym typeface="Calibri"/>
            </a:endParaRPr>
          </a:p>
        </p:txBody>
      </p:sp>
      <p:sp>
        <p:nvSpPr>
          <p:cNvPr id="271" name="Google Shape;271;p15"/>
          <p:cNvSpPr/>
          <p:nvPr/>
        </p:nvSpPr>
        <p:spPr>
          <a:xfrm>
            <a:off x="1463040" y="2807208"/>
            <a:ext cx="59436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EFF7"/>
              </a:buClr>
              <a:buSzPts val="1100"/>
              <a:buFont typeface="Calibri"/>
              <a:buNone/>
            </a:pPr>
            <a:r>
              <a:rPr b="0" i="0" lang="en-US" sz="1100" u="none" cap="none" strike="noStrike">
                <a:solidFill>
                  <a:srgbClr val="C8EFF7"/>
                </a:solidFill>
                <a:latin typeface="Calibri"/>
                <a:ea typeface="Calibri"/>
                <a:cs typeface="Calibri"/>
                <a:sym typeface="Calibri"/>
              </a:rPr>
              <a:t>19,830 drugs cleaned; safety complexity score engineered; 70/15/15 split applied</a:t>
            </a:r>
            <a:endParaRPr b="0" i="0" sz="1100" u="none" cap="none" strike="noStrike">
              <a:solidFill>
                <a:schemeClr val="dk1"/>
              </a:solidFill>
              <a:latin typeface="Calibri"/>
              <a:ea typeface="Calibri"/>
              <a:cs typeface="Calibri"/>
              <a:sym typeface="Calibri"/>
            </a:endParaRPr>
          </a:p>
        </p:txBody>
      </p:sp>
      <p:sp>
        <p:nvSpPr>
          <p:cNvPr id="272" name="Google Shape;272;p15"/>
          <p:cNvSpPr/>
          <p:nvPr/>
        </p:nvSpPr>
        <p:spPr>
          <a:xfrm>
            <a:off x="411480" y="3465576"/>
            <a:ext cx="914400" cy="411480"/>
          </a:xfrm>
          <a:prstGeom prst="rect">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5"/>
          <p:cNvSpPr/>
          <p:nvPr/>
        </p:nvSpPr>
        <p:spPr>
          <a:xfrm>
            <a:off x="411480" y="3465576"/>
            <a:ext cx="9144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Week 6</a:t>
            </a:r>
            <a:endParaRPr b="0" i="0" sz="900" u="none" cap="none" strike="noStrike">
              <a:solidFill>
                <a:schemeClr val="dk1"/>
              </a:solidFill>
              <a:latin typeface="Calibri"/>
              <a:ea typeface="Calibri"/>
              <a:cs typeface="Calibri"/>
              <a:sym typeface="Calibri"/>
            </a:endParaRPr>
          </a:p>
        </p:txBody>
      </p:sp>
      <p:sp>
        <p:nvSpPr>
          <p:cNvPr id="274" name="Google Shape;274;p15"/>
          <p:cNvSpPr/>
          <p:nvPr/>
        </p:nvSpPr>
        <p:spPr>
          <a:xfrm>
            <a:off x="1463040" y="3465576"/>
            <a:ext cx="59436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EFF7"/>
              </a:buClr>
              <a:buSzPts val="1100"/>
              <a:buFont typeface="Calibri"/>
              <a:buNone/>
            </a:pPr>
            <a:r>
              <a:rPr b="0" i="0" lang="en-US" sz="1100" u="none" cap="none" strike="noStrike">
                <a:solidFill>
                  <a:srgbClr val="C8EFF7"/>
                </a:solidFill>
                <a:latin typeface="Calibri"/>
                <a:ea typeface="Calibri"/>
                <a:cs typeface="Calibri"/>
                <a:sym typeface="Calibri"/>
              </a:rPr>
              <a:t>EDA confirms long-tail distributions; top complexity drugs validated against pharmacology</a:t>
            </a:r>
            <a:endParaRPr b="0" i="0" sz="1100" u="none" cap="none" strike="noStrike">
              <a:solidFill>
                <a:schemeClr val="dk1"/>
              </a:solidFill>
              <a:latin typeface="Calibri"/>
              <a:ea typeface="Calibri"/>
              <a:cs typeface="Calibri"/>
              <a:sym typeface="Calibri"/>
            </a:endParaRPr>
          </a:p>
        </p:txBody>
      </p:sp>
      <p:sp>
        <p:nvSpPr>
          <p:cNvPr id="275" name="Google Shape;275;p15"/>
          <p:cNvSpPr/>
          <p:nvPr/>
        </p:nvSpPr>
        <p:spPr>
          <a:xfrm>
            <a:off x="411480" y="4526280"/>
            <a:ext cx="8229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8FA8"/>
              </a:buClr>
              <a:buSzPts val="1000"/>
              <a:buFont typeface="Calibri"/>
              <a:buNone/>
            </a:pPr>
            <a:r>
              <a:rPr b="0" i="1" lang="en-US" sz="1000" u="none" cap="none" strike="noStrike">
                <a:solidFill>
                  <a:srgbClr val="4A8FA8"/>
                </a:solidFill>
                <a:latin typeface="Calibri"/>
                <a:ea typeface="Calibri"/>
                <a:cs typeface="Calibri"/>
                <a:sym typeface="Calibri"/>
              </a:rPr>
              <a:t>Next: Phase 3 – Model Development &amp; Training</a:t>
            </a:r>
            <a:endParaRPr b="0" i="0" sz="1000" u="none" cap="none" strike="noStrike">
              <a:solidFill>
                <a:schemeClr val="dk1"/>
              </a:solidFill>
              <a:latin typeface="Calibri"/>
              <a:ea typeface="Calibri"/>
              <a:cs typeface="Calibri"/>
              <a:sym typeface="Calibri"/>
            </a:endParaRPr>
          </a:p>
        </p:txBody>
      </p:sp>
      <p:sp>
        <p:nvSpPr>
          <p:cNvPr id="276" name="Google Shape;276;p15"/>
          <p:cNvSpPr/>
          <p:nvPr/>
        </p:nvSpPr>
        <p:spPr>
          <a:xfrm>
            <a:off x="411480" y="4754880"/>
            <a:ext cx="841248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6A80"/>
              </a:buClr>
              <a:buSzPts val="800"/>
              <a:buFont typeface="Calibri"/>
              <a:buNone/>
            </a:pPr>
            <a:r>
              <a:rPr b="0" i="0" lang="en-US" sz="800" u="none" cap="none" strike="noStrike">
                <a:solidFill>
                  <a:srgbClr val="3A6A80"/>
                </a:solidFill>
                <a:latin typeface="Calibri"/>
                <a:ea typeface="Calibri"/>
                <a:cs typeface="Calibri"/>
                <a:sym typeface="Calibri"/>
              </a:rPr>
              <a:t>Nicole Marcial  ·  Oluchi Obinna  ·  Oyinade Balogun  ·  Sharise Griggs  |  ITAI 2277 Spring 2026</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281" name="Shape 281"/>
        <p:cNvGrpSpPr/>
        <p:nvPr/>
      </p:nvGrpSpPr>
      <p:grpSpPr>
        <a:xfrm>
          <a:off x="0" y="0"/>
          <a:ext cx="0" cy="0"/>
          <a:chOff x="0" y="0"/>
          <a:chExt cx="0" cy="0"/>
        </a:xfrm>
      </p:grpSpPr>
      <p:sp>
        <p:nvSpPr>
          <p:cNvPr id="282" name="Google Shape;282;p16"/>
          <p:cNvSpPr/>
          <p:nvPr/>
        </p:nvSpPr>
        <p:spPr>
          <a:xfrm>
            <a:off x="0" y="0"/>
            <a:ext cx="164700" cy="5143500"/>
          </a:xfrm>
          <a:prstGeom prst="rect">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6"/>
          <p:cNvSpPr/>
          <p:nvPr/>
        </p:nvSpPr>
        <p:spPr>
          <a:xfrm>
            <a:off x="6400800" y="3200400"/>
            <a:ext cx="4114800" cy="4114800"/>
          </a:xfrm>
          <a:prstGeom prst="ellipse">
            <a:avLst/>
          </a:prstGeom>
          <a:solidFill>
            <a:srgbClr val="0A2E42"/>
          </a:solidFill>
          <a:ln cap="flat" cmpd="sng" w="12700">
            <a:solidFill>
              <a:srgbClr val="0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6"/>
          <p:cNvSpPr/>
          <p:nvPr/>
        </p:nvSpPr>
        <p:spPr>
          <a:xfrm>
            <a:off x="411480" y="410125"/>
            <a:ext cx="73152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200"/>
              <a:buFont typeface="Calibri"/>
              <a:buNone/>
            </a:pPr>
            <a:r>
              <a:rPr b="1" lang="en-US" sz="3200">
                <a:solidFill>
                  <a:srgbClr val="FFFFFF"/>
                </a:solidFill>
                <a:latin typeface="Calibri"/>
                <a:ea typeface="Calibri"/>
                <a:cs typeface="Calibri"/>
                <a:sym typeface="Calibri"/>
              </a:rPr>
              <a:t>Sources - </a:t>
            </a:r>
            <a:r>
              <a:rPr lang="en-US" sz="1100" u="sng">
                <a:solidFill>
                  <a:schemeClr val="hlink"/>
                </a:solidFill>
                <a:hlinkClick r:id="rId3"/>
              </a:rPr>
              <a:t>https://dev.drugbank.com/guides/drugbank/citing</a:t>
            </a:r>
            <a:endParaRPr b="0" i="0" sz="3200" u="none" cap="none" strike="noStrike">
              <a:solidFill>
                <a:schemeClr val="dk1"/>
              </a:solidFill>
              <a:latin typeface="Calibri"/>
              <a:ea typeface="Calibri"/>
              <a:cs typeface="Calibri"/>
              <a:sym typeface="Calibri"/>
            </a:endParaRPr>
          </a:p>
        </p:txBody>
      </p:sp>
      <p:sp>
        <p:nvSpPr>
          <p:cNvPr id="285" name="Google Shape;285;p16"/>
          <p:cNvSpPr/>
          <p:nvPr/>
        </p:nvSpPr>
        <p:spPr>
          <a:xfrm>
            <a:off x="371125" y="1422024"/>
            <a:ext cx="5943600" cy="3167100"/>
          </a:xfrm>
          <a:prstGeom prst="rect">
            <a:avLst/>
          </a:prstGeom>
          <a:noFill/>
          <a:ln>
            <a:noFill/>
          </a:ln>
        </p:spPr>
        <p:txBody>
          <a:bodyPr anchorCtr="0" anchor="ctr" bIns="45700" lIns="91425" spcFirstLastPara="1" rIns="91425" wrap="square" tIns="45700">
            <a:noAutofit/>
          </a:bodyPr>
          <a:lstStyle/>
          <a:p>
            <a:pPr indent="0" lvl="0" marL="139700" marR="139700" rtl="0" algn="l">
              <a:lnSpc>
                <a:spcPct val="150000"/>
              </a:lnSpc>
              <a:spcBef>
                <a:spcPts val="1500"/>
              </a:spcBef>
              <a:spcAft>
                <a:spcPts val="0"/>
              </a:spcAft>
              <a:buClr>
                <a:schemeClr val="dk1"/>
              </a:buClr>
              <a:buSzPts val="688"/>
              <a:buFont typeface="Arial"/>
              <a:buNone/>
            </a:pPr>
            <a:r>
              <a:rPr lang="en-US" sz="650">
                <a:solidFill>
                  <a:srgbClr val="263063"/>
                </a:solidFill>
                <a:highlight>
                  <a:srgbClr val="F3F3FB"/>
                </a:highlight>
              </a:rPr>
              <a:t>Knox C, Wilson M, Klinger CM, et al. </a:t>
            </a:r>
            <a:r>
              <a:rPr i="1" lang="en-US" sz="650">
                <a:solidFill>
                  <a:srgbClr val="263063"/>
                </a:solidFill>
                <a:highlight>
                  <a:srgbClr val="F3F3FB"/>
                </a:highlight>
              </a:rPr>
              <a:t>DrugBank 6.0: the DrugBank Knowledgebase for 2024.</a:t>
            </a:r>
            <a:r>
              <a:rPr lang="en-US" sz="650">
                <a:solidFill>
                  <a:srgbClr val="263063"/>
                </a:solidFill>
                <a:highlight>
                  <a:srgbClr val="F3F3FB"/>
                </a:highlight>
              </a:rPr>
              <a:t> Nucleic Acids Res. 2024 Jan 5;52(D1):D1265-D1275. doi: 10.1093/nar/gkad976.</a:t>
            </a:r>
            <a:endParaRPr sz="650">
              <a:solidFill>
                <a:srgbClr val="727DD4"/>
              </a:solidFill>
              <a:highlight>
                <a:srgbClr val="F3F3FB"/>
              </a:highlight>
            </a:endParaRPr>
          </a:p>
          <a:p>
            <a:pPr indent="0" lvl="0" marL="139700" marR="139700" rtl="0" algn="l">
              <a:lnSpc>
                <a:spcPct val="150000"/>
              </a:lnSpc>
              <a:spcBef>
                <a:spcPts val="1500"/>
              </a:spcBef>
              <a:spcAft>
                <a:spcPts val="0"/>
              </a:spcAft>
              <a:buClr>
                <a:schemeClr val="dk1"/>
              </a:buClr>
              <a:buSzPts val="688"/>
              <a:buFont typeface="Arial"/>
              <a:buNone/>
            </a:pPr>
            <a:r>
              <a:rPr lang="en-US" sz="650">
                <a:solidFill>
                  <a:srgbClr val="263063"/>
                </a:solidFill>
                <a:highlight>
                  <a:srgbClr val="F3F3FB"/>
                </a:highlight>
              </a:rPr>
              <a:t>Wishart DS, Feunang YD, Guo AC, Lo EJ, Marcu A, Grant JR, Sajed T, Johnson D, Li C, Sayeeda Z, Assempour N, Iynkkaran I, Liu Y, Maciejewski A, Gale N, Wilson A, Chin L, Cummings R, Le D, Pon A, Knox C, Wilson M. DrugBank 5.0: a major update to the DrugBank database for 2018. Nucleic Acids Res. 2017 Nov 8. doi: 10.1093/nar/gkx1037.</a:t>
            </a:r>
            <a:endParaRPr sz="650">
              <a:solidFill>
                <a:srgbClr val="727DD4"/>
              </a:solidFill>
              <a:highlight>
                <a:srgbClr val="F3F3FB"/>
              </a:highlight>
            </a:endParaRPr>
          </a:p>
          <a:p>
            <a:pPr indent="0" lvl="0" marL="139700" marR="139700" rtl="0" algn="l">
              <a:lnSpc>
                <a:spcPct val="150000"/>
              </a:lnSpc>
              <a:spcBef>
                <a:spcPts val="1500"/>
              </a:spcBef>
              <a:spcAft>
                <a:spcPts val="0"/>
              </a:spcAft>
              <a:buClr>
                <a:schemeClr val="dk1"/>
              </a:buClr>
              <a:buSzPts val="688"/>
              <a:buFont typeface="Arial"/>
              <a:buNone/>
            </a:pPr>
            <a:r>
              <a:rPr lang="en-US" sz="650">
                <a:solidFill>
                  <a:srgbClr val="263063"/>
                </a:solidFill>
                <a:highlight>
                  <a:srgbClr val="F3F3FB"/>
                </a:highlight>
              </a:rPr>
              <a:t>Law V, Knox C, Djoumbou Y, Jewison T, Guo AC, Liu Y, Maciejewski A, Arndt D, Wilson M, Neveu V, Tang A, Gabriel G, Ly C, Adamjee S, Dame ZT, Han B, Zhou Y, Wishart DS. DrugBank 4.0: shedding new light on drug metabolism. Nucleic Acids Res. 2014 Jan 1;42(1):D1091-7.</a:t>
            </a:r>
            <a:endParaRPr sz="650">
              <a:solidFill>
                <a:srgbClr val="727DD4"/>
              </a:solidFill>
              <a:highlight>
                <a:srgbClr val="F3F3FB"/>
              </a:highlight>
            </a:endParaRPr>
          </a:p>
          <a:p>
            <a:pPr indent="0" lvl="0" marL="139700" marR="139700" rtl="0" algn="l">
              <a:lnSpc>
                <a:spcPct val="150000"/>
              </a:lnSpc>
              <a:spcBef>
                <a:spcPts val="1500"/>
              </a:spcBef>
              <a:spcAft>
                <a:spcPts val="0"/>
              </a:spcAft>
              <a:buClr>
                <a:schemeClr val="dk1"/>
              </a:buClr>
              <a:buSzPts val="688"/>
              <a:buFont typeface="Arial"/>
              <a:buNone/>
            </a:pPr>
            <a:r>
              <a:rPr lang="en-US" sz="650">
                <a:solidFill>
                  <a:srgbClr val="263063"/>
                </a:solidFill>
                <a:highlight>
                  <a:srgbClr val="F3F3FB"/>
                </a:highlight>
              </a:rPr>
              <a:t>Knox C, Law V, Jewison T, Liu P, Ly S, Frolkis A, Pon A, Banco K, Mak C, Neveu V, Djoumbou Y, Eisner R, Guo AC, Wishart DS. DrugBank 3.0: a comprehensive resource for 'omics' research on drugs. Nucleic Acids Res. 2011 Jan;39(Database issue):D1035-41.</a:t>
            </a:r>
            <a:endParaRPr sz="650">
              <a:solidFill>
                <a:srgbClr val="727DD4"/>
              </a:solidFill>
              <a:highlight>
                <a:srgbClr val="F3F3FB"/>
              </a:highlight>
            </a:endParaRPr>
          </a:p>
          <a:p>
            <a:pPr indent="0" lvl="0" marL="139700" marR="139700" rtl="0" algn="l">
              <a:lnSpc>
                <a:spcPct val="150000"/>
              </a:lnSpc>
              <a:spcBef>
                <a:spcPts val="1500"/>
              </a:spcBef>
              <a:spcAft>
                <a:spcPts val="0"/>
              </a:spcAft>
              <a:buClr>
                <a:schemeClr val="dk1"/>
              </a:buClr>
              <a:buSzPts val="688"/>
              <a:buFont typeface="Arial"/>
              <a:buNone/>
            </a:pPr>
            <a:r>
              <a:rPr lang="en-US" sz="650">
                <a:solidFill>
                  <a:srgbClr val="263063"/>
                </a:solidFill>
                <a:highlight>
                  <a:srgbClr val="F3F3FB"/>
                </a:highlight>
              </a:rPr>
              <a:t>Wishart DS, Knox C, Guo AC, Cheng D, Shrivastava S, Tzur D, Gautam B, Hassanali M. DrugBank: a knowledgebase for drugs, drug actions and drug targets. Nucleic Acids Res. 2008 Jan;36(Database issue):D901-6.</a:t>
            </a:r>
            <a:endParaRPr sz="650">
              <a:solidFill>
                <a:srgbClr val="727DD4"/>
              </a:solidFill>
              <a:highlight>
                <a:srgbClr val="F3F3FB"/>
              </a:highlight>
            </a:endParaRPr>
          </a:p>
          <a:p>
            <a:pPr indent="0" lvl="0" marL="139700" marR="139700" rtl="0" algn="l">
              <a:lnSpc>
                <a:spcPct val="150000"/>
              </a:lnSpc>
              <a:spcBef>
                <a:spcPts val="1500"/>
              </a:spcBef>
              <a:spcAft>
                <a:spcPts val="0"/>
              </a:spcAft>
              <a:buClr>
                <a:schemeClr val="dk1"/>
              </a:buClr>
              <a:buSzPts val="688"/>
              <a:buFont typeface="Arial"/>
              <a:buNone/>
            </a:pPr>
            <a:r>
              <a:rPr lang="en-US" sz="650">
                <a:solidFill>
                  <a:srgbClr val="263063"/>
                </a:solidFill>
                <a:highlight>
                  <a:srgbClr val="F3F3FB"/>
                </a:highlight>
              </a:rPr>
              <a:t>Wishart DS, Knox C, Guo AC, Shrivastava S, Hassanali M, Stothard P, Chang Z, Woolsey J. DrugBank: a comprehensive resource for in silico drug discovery and exploration. Nucleic Acids Res. 2006 Jan 1;34(Database issue):D668-72.</a:t>
            </a:r>
            <a:endParaRPr sz="650">
              <a:solidFill>
                <a:srgbClr val="727DD4"/>
              </a:solidFill>
              <a:highlight>
                <a:srgbClr val="F3F3FB"/>
              </a:highlight>
            </a:endParaRPr>
          </a:p>
          <a:p>
            <a:pPr indent="0" lvl="0" marL="0" rtl="0" algn="l">
              <a:lnSpc>
                <a:spcPct val="115000"/>
              </a:lnSpc>
              <a:spcBef>
                <a:spcPts val="1500"/>
              </a:spcBef>
              <a:spcAft>
                <a:spcPts val="0"/>
              </a:spcAft>
              <a:buClr>
                <a:schemeClr val="dk1"/>
              </a:buClr>
              <a:buSzPts val="688"/>
              <a:buFont typeface="Arial"/>
              <a:buNone/>
            </a:pPr>
            <a:r>
              <a:t/>
            </a:r>
            <a:endParaRPr sz="1025">
              <a:solidFill>
                <a:srgbClr val="595959"/>
              </a:solidFill>
            </a:endParaRPr>
          </a:p>
          <a:p>
            <a:pPr indent="0" lvl="0" marL="0" marR="0" rtl="0" algn="l">
              <a:spcBef>
                <a:spcPts val="1200"/>
              </a:spcBef>
              <a:spcAft>
                <a:spcPts val="0"/>
              </a:spcAft>
              <a:buClr>
                <a:srgbClr val="C8EFF7"/>
              </a:buClr>
              <a:buSzPts val="1100"/>
              <a:buFont typeface="Calibri"/>
              <a:buNone/>
            </a:pPr>
            <a:r>
              <a:t/>
            </a:r>
            <a:endParaRPr sz="900">
              <a:solidFill>
                <a:srgbClr val="C8EFF7"/>
              </a:solidFill>
              <a:latin typeface="Calibri"/>
              <a:ea typeface="Calibri"/>
              <a:cs typeface="Calibri"/>
              <a:sym typeface="Calibri"/>
            </a:endParaRPr>
          </a:p>
        </p:txBody>
      </p:sp>
      <p:sp>
        <p:nvSpPr>
          <p:cNvPr id="286" name="Google Shape;286;p16"/>
          <p:cNvSpPr/>
          <p:nvPr/>
        </p:nvSpPr>
        <p:spPr>
          <a:xfrm>
            <a:off x="411480" y="4754880"/>
            <a:ext cx="8412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6A80"/>
              </a:buClr>
              <a:buSzPts val="800"/>
              <a:buFont typeface="Calibri"/>
              <a:buNone/>
            </a:pPr>
            <a:r>
              <a:rPr b="0" i="0" lang="en-US" sz="800" u="none" cap="none" strike="noStrike">
                <a:solidFill>
                  <a:srgbClr val="3A6A80"/>
                </a:solidFill>
                <a:latin typeface="Calibri"/>
                <a:ea typeface="Calibri"/>
                <a:cs typeface="Calibri"/>
                <a:sym typeface="Calibri"/>
              </a:rPr>
              <a:t>Nicole Marcial  ·  Oluchi Obinna  ·  Oyinade Balogun  ·  Sharise Griggs  |  ITAI 2277 Spring 2026</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